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FA60C96-6CC5-44CA-B53D-1E5252E7293D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828"/>
    <a:srgbClr val="FFF3E0"/>
    <a:srgbClr val="BD582C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27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2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6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9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38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85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51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05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76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6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70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59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51F05A-A149-91D9-F06E-BE9FD1261F7A}"/>
              </a:ext>
            </a:extLst>
          </p:cNvPr>
          <p:cNvSpPr/>
          <p:nvPr/>
        </p:nvSpPr>
        <p:spPr>
          <a:xfrm>
            <a:off x="1170432" y="4251960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371600" y="46402"/>
            <a:ext cx="9485375" cy="1312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Bookman Old Style" panose="02050604050505020204" pitchFamily="18" charset="0"/>
                <a:cs typeface="Arial" pitchFamily="34" charset="0"/>
              </a:rPr>
              <a:t>Государственное бюджетное общеобразовательное учреждение </a:t>
            </a:r>
            <a:endParaRPr lang="en-US" sz="2000" dirty="0">
              <a:latin typeface="Bookman Old Style" panose="02050604050505020204" pitchFamily="18" charset="0"/>
              <a:cs typeface="Arial" pitchFamily="34" charset="0"/>
            </a:endParaRPr>
          </a:p>
          <a:p>
            <a:r>
              <a:rPr lang="ru-RU" sz="2000" dirty="0">
                <a:latin typeface="Bookman Old Style" panose="02050604050505020204" pitchFamily="18" charset="0"/>
                <a:cs typeface="Arial" pitchFamily="34" charset="0"/>
              </a:rPr>
              <a:t>города Москвы «Школа № 1103 имени Героя Российской Федерации А.В. Соломатина»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644139" y="2077504"/>
            <a:ext cx="6783325" cy="112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tx1"/>
                </a:solidFill>
                <a:latin typeface="Bookman Old Style" panose="02050604050505020204" pitchFamily="18" charset="0"/>
                <a:cs typeface="Arial" pitchFamily="34" charset="0"/>
              </a:rPr>
              <a:t>Манипулятор для людей с ограниченной моторикой рук</a:t>
            </a:r>
          </a:p>
          <a:p>
            <a:endParaRPr lang="ru-RU" sz="6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90829" y="3654214"/>
            <a:ext cx="4401171" cy="253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Участник</a:t>
            </a:r>
            <a:r>
              <a:rPr lang="en-US" dirty="0">
                <a:latin typeface="Bookman Old Style" panose="02050604050505020204" pitchFamily="18" charset="0"/>
                <a:cs typeface="Arial" pitchFamily="34" charset="0"/>
              </a:rPr>
              <a:t>:</a:t>
            </a:r>
            <a:endParaRPr lang="ru-RU" dirty="0">
              <a:latin typeface="Bookman Old Style" panose="02050604050505020204" pitchFamily="18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ученик 9 «И» класса ГБОУ 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Школа № 1103  Пивоваров Андрей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Руководитель</a:t>
            </a:r>
            <a:r>
              <a:rPr lang="en-US" dirty="0">
                <a:latin typeface="Bookman Old Style" panose="02050604050505020204" pitchFamily="18" charset="0"/>
                <a:cs typeface="Arial" pitchFamily="34" charset="0"/>
              </a:rPr>
              <a:t>: </a:t>
            </a:r>
            <a:endParaRPr lang="ru-RU" dirty="0">
              <a:latin typeface="Bookman Old Style" panose="02050604050505020204" pitchFamily="18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учитель ГБОУ Школа № 1103 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Bookman Old Style" panose="02050604050505020204" pitchFamily="18" charset="0"/>
                <a:cs typeface="Arial" pitchFamily="34" charset="0"/>
              </a:rPr>
              <a:t>Сокур Мария Евгеньевна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2844" y="6413611"/>
            <a:ext cx="1962888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chemeClr val="bg1"/>
                </a:solidFill>
                <a:latin typeface="Bookman Old Style" panose="02050604050505020204" pitchFamily="18" charset="0"/>
                <a:cs typeface="Arial" pitchFamily="34" charset="0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237531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73F2AC-1D3E-65DE-AB0A-C212A62651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AFEF3F-4705-EBBF-BBFE-4A46FC6D3C7C}"/>
              </a:ext>
            </a:extLst>
          </p:cNvPr>
          <p:cNvSpPr/>
          <p:nvPr/>
        </p:nvSpPr>
        <p:spPr>
          <a:xfrm rot="242104">
            <a:off x="-267851" y="-599084"/>
            <a:ext cx="4523020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96CF4-C7D4-192D-CC89-BD4DC730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Причины создания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B027-C67A-3043-F81B-6FE3D0413332}"/>
              </a:ext>
            </a:extLst>
          </p:cNvPr>
          <p:cNvSpPr/>
          <p:nvPr/>
        </p:nvSpPr>
        <p:spPr>
          <a:xfrm>
            <a:off x="3730752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B092F-18C6-58A7-64AA-417BF4857BD2}"/>
              </a:ext>
            </a:extLst>
          </p:cNvPr>
          <p:cNvSpPr txBox="1"/>
          <p:nvPr/>
        </p:nvSpPr>
        <p:spPr>
          <a:xfrm>
            <a:off x="382676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2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F98E384-3FA1-D8A4-DF46-FDC741AFF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36" y="1187319"/>
            <a:ext cx="3569232" cy="23761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39E313-2974-13F9-0F78-AE4EEE51E8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34" y="3774482"/>
            <a:ext cx="3565134" cy="2376174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CA20AE0-8EF3-C3FF-FCB9-288D5E19BCF6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8D54D-CE18-D886-E409-CC353FBDB53A}"/>
              </a:ext>
            </a:extLst>
          </p:cNvPr>
          <p:cNvSpPr txBox="1"/>
          <p:nvPr/>
        </p:nvSpPr>
        <p:spPr>
          <a:xfrm>
            <a:off x="4378629" y="1099850"/>
            <a:ext cx="70059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2000" dirty="0" smtClean="0">
                <a:latin typeface="Bookman Old Style" panose="02050604050505020204" pitchFamily="18" charset="0"/>
              </a:rPr>
              <a:t>Цифровая среда недоступна для людей с ограниченной моторикой, ведь существующие решения имеют: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31789" y="2577178"/>
            <a:ext cx="54546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ookman Old Style" panose="02050604050505020204" pitchFamily="18" charset="0"/>
              </a:rPr>
              <a:t>Высоку</a:t>
            </a:r>
            <a:r>
              <a:rPr lang="ru-RU" sz="2000" dirty="0">
                <a:latin typeface="Bookman Old Style" panose="02050604050505020204" pitchFamily="18" charset="0"/>
              </a:rPr>
              <a:t>ю</a:t>
            </a:r>
            <a:r>
              <a:rPr lang="ru-RU" sz="2000" dirty="0" smtClean="0">
                <a:latin typeface="Bookman Old Style" panose="02050604050505020204" pitchFamily="18" charset="0"/>
              </a:rPr>
              <a:t> стоимость(от 5 тыс. рублей)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ookman Old Style" panose="02050604050505020204" pitchFamily="18" charset="0"/>
              </a:rPr>
              <a:t>Сложну</a:t>
            </a:r>
            <a:r>
              <a:rPr lang="ru-RU" sz="2000" dirty="0">
                <a:latin typeface="Bookman Old Style" panose="02050604050505020204" pitchFamily="18" charset="0"/>
              </a:rPr>
              <a:t>ю</a:t>
            </a:r>
            <a:r>
              <a:rPr lang="ru-RU" sz="2000" dirty="0" smtClean="0">
                <a:latin typeface="Bookman Old Style" panose="02050604050505020204" pitchFamily="18" charset="0"/>
              </a:rPr>
              <a:t> настройку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ookman Old Style" panose="02050604050505020204" pitchFamily="18" charset="0"/>
              </a:rPr>
              <a:t>Минимальную эффективность при треморе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C43A-2B39-8512-A888-74E974DD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1C7C3-9F88-3FC4-B00E-651E1E9EA536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CC642A-1BAD-F187-0319-90BEBA77461E}"/>
              </a:ext>
            </a:extLst>
          </p:cNvPr>
          <p:cNvSpPr/>
          <p:nvPr/>
        </p:nvSpPr>
        <p:spPr>
          <a:xfrm rot="16200000">
            <a:off x="4188779" y="-518593"/>
            <a:ext cx="3710809" cy="12362691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CAE8C-08D8-46FB-96DE-D4106AA8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Анализ аналогов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633C90-DCB0-83B2-1834-E27909E87AD0}"/>
              </a:ext>
            </a:extLst>
          </p:cNvPr>
          <p:cNvSpPr/>
          <p:nvPr/>
        </p:nvSpPr>
        <p:spPr>
          <a:xfrm>
            <a:off x="2395728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6C620-90DC-AACF-5250-754AC97750F5}"/>
              </a:ext>
            </a:extLst>
          </p:cNvPr>
          <p:cNvSpPr txBox="1"/>
          <p:nvPr/>
        </p:nvSpPr>
        <p:spPr>
          <a:xfrm>
            <a:off x="2486758" y="193378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4045203-6221-1B1E-6C6C-E1EE0B032D31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7017A5-9C63-F306-C2B8-260D27A6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2" t="3256" r="9392" b="6779"/>
          <a:stretch>
            <a:fillRect/>
          </a:stretch>
        </p:blipFill>
        <p:spPr>
          <a:xfrm>
            <a:off x="751611" y="1022551"/>
            <a:ext cx="3034281" cy="2452122"/>
          </a:xfrm>
          <a:prstGeom prst="rect">
            <a:avLst/>
          </a:prstGeom>
        </p:spPr>
      </p:pic>
      <p:pic>
        <p:nvPicPr>
          <p:cNvPr id="1028" name="Picture 4" descr="Logitech Marble Trackball Mouse (910-000808) | 250000072601">
            <a:extLst>
              <a:ext uri="{FF2B5EF4-FFF2-40B4-BE49-F238E27FC236}">
                <a16:creationId xmlns:a16="http://schemas.microsoft.com/office/drawing/2014/main" id="{8813296E-A5AA-7C05-2EB8-E4320A46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920" y="1110381"/>
            <a:ext cx="2573616" cy="207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4AEA7E9-027E-7F21-B7B6-097167874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42" y="556225"/>
            <a:ext cx="3034281" cy="30342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70A8C6-8A43-E305-795D-80B804D6CEB5}"/>
              </a:ext>
            </a:extLst>
          </p:cNvPr>
          <p:cNvSpPr txBox="1"/>
          <p:nvPr/>
        </p:nvSpPr>
        <p:spPr>
          <a:xfrm>
            <a:off x="516819" y="4758025"/>
            <a:ext cx="3458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Головной указатель «</a:t>
            </a: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Eye Gaze</a:t>
            </a:r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  <a:b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ru-RU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E38CE-892F-CE29-37E0-DB0CB6EBEDBB}"/>
              </a:ext>
            </a:extLst>
          </p:cNvPr>
          <p:cNvSpPr txBox="1"/>
          <p:nvPr/>
        </p:nvSpPr>
        <p:spPr>
          <a:xfrm>
            <a:off x="4527042" y="4547460"/>
            <a:ext cx="3699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Голосовой указатель</a:t>
            </a:r>
            <a:b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«</a:t>
            </a: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Dragon Naturally Speaking</a:t>
            </a:r>
            <a:r>
              <a:rPr lang="ru-RU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(</a:t>
            </a:r>
            <a:r>
              <a:rPr lang="ru-RU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ПО</a:t>
            </a:r>
            <a:r>
              <a:rPr lang="en-US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)</a:t>
            </a:r>
            <a:endParaRPr lang="en-US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FA5C41-551D-B803-6288-5D747657F30F}"/>
              </a:ext>
            </a:extLst>
          </p:cNvPr>
          <p:cNvSpPr txBox="1"/>
          <p:nvPr/>
        </p:nvSpPr>
        <p:spPr>
          <a:xfrm>
            <a:off x="8803008" y="4732125"/>
            <a:ext cx="29489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Trackball </a:t>
            </a:r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«</a:t>
            </a: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Logitech Marble</a:t>
            </a:r>
            <a:r>
              <a:rPr lang="ru-RU" sz="24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  <a:endParaRPr lang="ru-RU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65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F465-CAB7-9663-BEE2-BD3E5BB1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7DAB3B-2AE3-DE9F-503B-957F6888CEAE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CE2B1-3303-945F-7107-B77E91F5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300" dirty="0">
                <a:solidFill>
                  <a:schemeClr val="tx1"/>
                </a:solidFill>
                <a:latin typeface="Bookman Old Style" panose="02050604050505020204" pitchFamily="18" charset="0"/>
              </a:rPr>
              <a:t>Цели и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EE563A-335C-712A-9FB5-1557574909DB}"/>
              </a:ext>
            </a:extLst>
          </p:cNvPr>
          <p:cNvSpPr/>
          <p:nvPr/>
        </p:nvSpPr>
        <p:spPr>
          <a:xfrm>
            <a:off x="2535936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62A24-9C7F-1118-985F-7B49F4C35241}"/>
              </a:ext>
            </a:extLst>
          </p:cNvPr>
          <p:cNvSpPr txBox="1"/>
          <p:nvPr/>
        </p:nvSpPr>
        <p:spPr>
          <a:xfrm>
            <a:off x="2708557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E6AE28F-6826-E577-6D2F-42C00070F626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C43B6-2D3A-404E-09D9-CA6B25DFB271}"/>
              </a:ext>
            </a:extLst>
          </p:cNvPr>
          <p:cNvSpPr txBox="1"/>
          <p:nvPr/>
        </p:nvSpPr>
        <p:spPr>
          <a:xfrm>
            <a:off x="478535" y="863408"/>
            <a:ext cx="604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E2DC2-3836-5899-ED03-9909FF0FCEC9}"/>
              </a:ext>
            </a:extLst>
          </p:cNvPr>
          <p:cNvSpPr txBox="1"/>
          <p:nvPr/>
        </p:nvSpPr>
        <p:spPr>
          <a:xfrm>
            <a:off x="832513" y="1402733"/>
            <a:ext cx="583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 rot="17251257">
            <a:off x="8887494" y="-5332016"/>
            <a:ext cx="4523020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3C43B6-2D3A-404E-09D9-CA6B25DFB271}"/>
              </a:ext>
            </a:extLst>
          </p:cNvPr>
          <p:cNvSpPr txBox="1"/>
          <p:nvPr/>
        </p:nvSpPr>
        <p:spPr>
          <a:xfrm>
            <a:off x="193562" y="648172"/>
            <a:ext cx="91935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>
                <a:latin typeface="Bahnschrift SemiLight" panose="020B0502040204020203" pitchFamily="34" charset="0"/>
              </a:rPr>
              <a:t>Целью </a:t>
            </a:r>
            <a:r>
              <a:rPr lang="ru-RU" sz="2000" dirty="0">
                <a:latin typeface="Bahnschrift SemiLight" panose="020B0502040204020203" pitchFamily="34" charset="0"/>
              </a:rPr>
              <a:t>работы</a:t>
            </a:r>
            <a:r>
              <a:rPr lang="ru-RU" sz="2000" b="1" dirty="0">
                <a:latin typeface="Bahnschrift SemiLight" panose="020B0502040204020203" pitchFamily="34" charset="0"/>
              </a:rPr>
              <a:t> </a:t>
            </a:r>
            <a:r>
              <a:rPr lang="ru-RU" sz="2000" dirty="0">
                <a:latin typeface="Bahnschrift SemiLight" panose="020B0502040204020203" pitchFamily="34" charset="0"/>
              </a:rPr>
              <a:t>является</a:t>
            </a:r>
            <a:r>
              <a:rPr lang="ru-RU" sz="2000" b="1" dirty="0">
                <a:latin typeface="Bahnschrift SemiLight" panose="020B0502040204020203" pitchFamily="34" charset="0"/>
              </a:rPr>
              <a:t> </a:t>
            </a:r>
            <a:r>
              <a:rPr lang="ru-RU" sz="2000" dirty="0">
                <a:latin typeface="Bahnschrift SemiLight" panose="020B0502040204020203" pitchFamily="34" charset="0"/>
              </a:rPr>
              <a:t>создание механического манипулятора, обеспечивающего: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E2DC2-3836-5899-ED03-9909FF0FCEC9}"/>
              </a:ext>
            </a:extLst>
          </p:cNvPr>
          <p:cNvSpPr txBox="1"/>
          <p:nvPr/>
        </p:nvSpPr>
        <p:spPr>
          <a:xfrm>
            <a:off x="777723" y="1560994"/>
            <a:ext cx="67198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Стабильное и точное управление курсором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Пассивную физическую стабилизацию руки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Отсутствие сложной калибровки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Работа в любой среде, с плохим освещением или в шумных местах по типу офиса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15037D-6E4B-250A-65BF-15C055A81B35}"/>
              </a:ext>
            </a:extLst>
          </p:cNvPr>
          <p:cNvSpPr txBox="1"/>
          <p:nvPr/>
        </p:nvSpPr>
        <p:spPr>
          <a:xfrm>
            <a:off x="3838838" y="3990448"/>
            <a:ext cx="5655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Light" panose="020B0502040204020203" pitchFamily="34" charset="0"/>
              </a:rPr>
              <a:t>Задачи проекта</a:t>
            </a:r>
            <a:r>
              <a:rPr lang="ru-RU" sz="2000" b="1" dirty="0">
                <a:latin typeface="Bahnschrift SemiLight" panose="020B0502040204020203" pitchFamily="34" charset="0"/>
              </a:rPr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D84668-9A87-FB8E-C844-42909B460AE2}"/>
              </a:ext>
            </a:extLst>
          </p:cNvPr>
          <p:cNvSpPr txBox="1"/>
          <p:nvPr/>
        </p:nvSpPr>
        <p:spPr>
          <a:xfrm>
            <a:off x="4439263" y="3853173"/>
            <a:ext cx="77527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ru-RU" sz="2000" dirty="0">
              <a:latin typeface="Bahnschrift Semi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Подобрать материалы и электрические компоненты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Разработать 3D-модель корпуса с учетом эргономики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Распечатать и запрограммировать устройство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Протестировать функциональность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26045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>
            <a:off x="10954327" y="-672235"/>
            <a:ext cx="1237672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dirty="0">
                <a:solidFill>
                  <a:schemeClr val="tx1"/>
                </a:solidFill>
                <a:latin typeface="Bookman Old Style" panose="02050604050505020204" pitchFamily="18" charset="0"/>
              </a:rPr>
              <a:t>Ценообразование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615184" y="-812723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2766059" y="193378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E5DE26-4D9B-5C26-9E1A-51DE74FCA589}"/>
              </a:ext>
            </a:extLst>
          </p:cNvPr>
          <p:cNvSpPr/>
          <p:nvPr/>
        </p:nvSpPr>
        <p:spPr>
          <a:xfrm>
            <a:off x="10454637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174884"/>
              </p:ext>
            </p:extLst>
          </p:nvPr>
        </p:nvGraphicFramePr>
        <p:xfrm>
          <a:off x="354515" y="980471"/>
          <a:ext cx="3062373" cy="50171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5459">
                  <a:extLst>
                    <a:ext uri="{9D8B030D-6E8A-4147-A177-3AD203B41FA5}">
                      <a16:colId xmlns:a16="http://schemas.microsoft.com/office/drawing/2014/main" val="3099359889"/>
                    </a:ext>
                  </a:extLst>
                </a:gridCol>
                <a:gridCol w="706914">
                  <a:extLst>
                    <a:ext uri="{9D8B030D-6E8A-4147-A177-3AD203B41FA5}">
                      <a16:colId xmlns:a16="http://schemas.microsoft.com/office/drawing/2014/main" val="2146182567"/>
                    </a:ext>
                  </a:extLst>
                </a:gridCol>
              </a:tblGrid>
              <a:tr h="1079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b="0" kern="100" dirty="0"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Стоимость, рубли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213522644"/>
                  </a:ext>
                </a:extLst>
              </a:tr>
              <a:tr h="12028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Пластик </a:t>
                      </a:r>
                      <a:r>
                        <a:rPr lang="en-US" sz="1200" b="0" kern="100" dirty="0">
                          <a:effectLst/>
                          <a:latin typeface="Bookman Old Style" panose="02050604050505020204" pitchFamily="18" charset="0"/>
                        </a:rPr>
                        <a:t>PETG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 (330 г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.),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пружины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550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434116937"/>
                  </a:ext>
                </a:extLst>
              </a:tr>
              <a:tr h="22174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Электрические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компоненты(гироскоп,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кнопки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, энкодер инкрементальный, </a:t>
                      </a:r>
                      <a:r>
                        <a:rPr lang="en-US" sz="1200" b="0" kern="100" dirty="0">
                          <a:effectLst/>
                          <a:latin typeface="Bookman Old Style" panose="02050604050505020204" pitchFamily="18" charset="0"/>
                        </a:rPr>
                        <a:t>Arduino Pro Micro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780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729372049"/>
                  </a:ext>
                </a:extLst>
              </a:tr>
              <a:tr h="433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Итого розничная себестоимость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1330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040222044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278281"/>
              </p:ext>
            </p:extLst>
          </p:nvPr>
        </p:nvGraphicFramePr>
        <p:xfrm>
          <a:off x="3832848" y="378044"/>
          <a:ext cx="6574755" cy="57919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8983">
                  <a:extLst>
                    <a:ext uri="{9D8B030D-6E8A-4147-A177-3AD203B41FA5}">
                      <a16:colId xmlns:a16="http://schemas.microsoft.com/office/drawing/2014/main" val="1747071466"/>
                    </a:ext>
                  </a:extLst>
                </a:gridCol>
                <a:gridCol w="1153466">
                  <a:extLst>
                    <a:ext uri="{9D8B030D-6E8A-4147-A177-3AD203B41FA5}">
                      <a16:colId xmlns:a16="http://schemas.microsoft.com/office/drawing/2014/main" val="492268831"/>
                    </a:ext>
                  </a:extLst>
                </a:gridCol>
                <a:gridCol w="2932306">
                  <a:extLst>
                    <a:ext uri="{9D8B030D-6E8A-4147-A177-3AD203B41FA5}">
                      <a16:colId xmlns:a16="http://schemas.microsoft.com/office/drawing/2014/main" val="3041403376"/>
                    </a:ext>
                  </a:extLst>
                </a:gridCol>
              </a:tblGrid>
              <a:tr h="6194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Стоимость, рубли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Примечания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97529198"/>
                  </a:ext>
                </a:extLst>
              </a:tr>
              <a:tr h="940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Пластик </a:t>
                      </a:r>
                      <a:r>
                        <a:rPr lang="en-US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ABS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(330 г.),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пружины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340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Для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литья используем </a:t>
                      </a:r>
                      <a:r>
                        <a:rPr lang="en-US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ABS.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Оптовая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закупка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(400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р., Снижение цены 15% при покупке оптом &gt;10 кг пластика или &gt;500 шт. пружин)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141505239"/>
                  </a:ext>
                </a:extLst>
              </a:tr>
              <a:tr h="10344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Электрические компоненты(гироскоп,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кнопки, энкодер инкрементальный, </a:t>
                      </a:r>
                      <a:r>
                        <a:rPr lang="en-US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Arduino Pro Micro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660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Оптовая закупка (780 р.,  Снижение на 15% при покупке оптом, &gt;250 штук каждого)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769889045"/>
                  </a:ext>
                </a:extLst>
              </a:tr>
              <a:tr h="11590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Литьё из пластмассы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и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сборка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250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Использование литья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 пластмасс вместо 3</a:t>
                      </a:r>
                      <a:r>
                        <a:rPr lang="en-US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D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-печати</a:t>
                      </a:r>
                      <a:endParaRPr lang="ru-RU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67093221"/>
                  </a:ext>
                </a:extLst>
              </a:tr>
              <a:tr h="9219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Упаковка, логистика и маржинальные расходы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200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Включает цену упаковки, транспортировки, хранения и т.д. 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648659560"/>
                  </a:ext>
                </a:extLst>
              </a:tr>
              <a:tr h="6847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Итого промышленная</a:t>
                      </a:r>
                      <a:r>
                        <a:rPr lang="ru-RU" sz="1200" b="0" kern="100" baseline="0" dirty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baseline="0" dirty="0" smtClean="0">
                          <a:effectLst/>
                          <a:latin typeface="Bookman Old Style" panose="02050604050505020204" pitchFamily="18" charset="0"/>
                        </a:rPr>
                        <a:t>себе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стоимость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1620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23796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89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>
            <a:off x="11631168" y="-672235"/>
            <a:ext cx="560831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Выбор материалов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BE68A6-3732-8153-C302-89AC6A57F416}"/>
              </a:ext>
            </a:extLst>
          </p:cNvPr>
          <p:cNvSpPr/>
          <p:nvPr/>
        </p:nvSpPr>
        <p:spPr>
          <a:xfrm>
            <a:off x="2720340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286664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6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10922503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7897-E7DA-2F3A-8F2F-6DF556D90307}"/>
              </a:ext>
            </a:extLst>
          </p:cNvPr>
          <p:cNvSpPr txBox="1"/>
          <p:nvPr/>
        </p:nvSpPr>
        <p:spPr>
          <a:xfrm>
            <a:off x="165089" y="1055664"/>
            <a:ext cx="8196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Для 3</a:t>
            </a:r>
            <a:r>
              <a:rPr lang="en-US" sz="2000" dirty="0">
                <a:latin typeface="Bookman Old Style" panose="02050604050505020204" pitchFamily="18" charset="0"/>
              </a:rPr>
              <a:t>D</a:t>
            </a:r>
            <a:r>
              <a:rPr lang="ru-RU" sz="2000" dirty="0">
                <a:latin typeface="Bookman Old Style" panose="02050604050505020204" pitchFamily="18" charset="0"/>
              </a:rPr>
              <a:t>-печати рассматривались следующие термопластики: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E0792-A0D1-8CA8-F159-C2272754789A}"/>
              </a:ext>
            </a:extLst>
          </p:cNvPr>
          <p:cNvSpPr txBox="1"/>
          <p:nvPr/>
        </p:nvSpPr>
        <p:spPr>
          <a:xfrm>
            <a:off x="1169927" y="1610610"/>
            <a:ext cx="7379574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PLA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ABS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PETG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F16C-194B-FD52-3E37-442614CC597A}"/>
              </a:ext>
            </a:extLst>
          </p:cNvPr>
          <p:cNvSpPr txBox="1"/>
          <p:nvPr/>
        </p:nvSpPr>
        <p:spPr>
          <a:xfrm>
            <a:off x="581856" y="4336055"/>
            <a:ext cx="6816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Был выбран </a:t>
            </a:r>
            <a:r>
              <a:rPr lang="en-US" sz="2000" dirty="0">
                <a:latin typeface="Bookman Old Style" panose="02050604050505020204" pitchFamily="18" charset="0"/>
              </a:rPr>
              <a:t>PETG </a:t>
            </a:r>
            <a:r>
              <a:rPr lang="ru-RU" sz="2000" dirty="0">
                <a:latin typeface="Bookman Old Style" panose="02050604050505020204" pitchFamily="18" charset="0"/>
              </a:rPr>
              <a:t>пластик(</a:t>
            </a:r>
            <a:r>
              <a:rPr lang="ru-RU" sz="2000" i="1" dirty="0">
                <a:latin typeface="Bookman Old Style" panose="02050604050505020204" pitchFamily="18" charset="0"/>
              </a:rPr>
              <a:t>Полиэтилентерефталат гликоль</a:t>
            </a:r>
            <a:r>
              <a:rPr lang="ru-RU" sz="2000" dirty="0">
                <a:latin typeface="Bookman Old Style" panose="02050604050505020204" pitchFamily="18" charset="0"/>
              </a:rPr>
              <a:t>), ведь он совмещает лучшие стороны своих конкурентов.</a:t>
            </a:r>
          </a:p>
        </p:txBody>
      </p:sp>
      <p:pic>
        <p:nvPicPr>
          <p:cNvPr id="13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097" y="2228719"/>
            <a:ext cx="2107335" cy="210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s://avatars.mds.yandex.net/i?id=7a4480ee1849cf3113c852b398967ca1ffc880d7-587850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347" y="566929"/>
            <a:ext cx="1472837" cy="14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Picture background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627" y="4421898"/>
            <a:ext cx="1258357" cy="16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43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>
            <a:off x="10515600" y="3700905"/>
            <a:ext cx="3484514" cy="3872415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 rot="21104435">
            <a:off x="-680755" y="-501244"/>
            <a:ext cx="4963983" cy="8113974"/>
          </a:xfrm>
          <a:custGeom>
            <a:avLst/>
            <a:gdLst>
              <a:gd name="connsiteX0" fmla="*/ 4865268 w 4865268"/>
              <a:gd name="connsiteY0" fmla="*/ 0 h 8113974"/>
              <a:gd name="connsiteX1" fmla="*/ 4865268 w 4865268"/>
              <a:gd name="connsiteY1" fmla="*/ 8113974 h 8113974"/>
              <a:gd name="connsiteX2" fmla="*/ 0 w 4865268"/>
              <a:gd name="connsiteY2" fmla="*/ 8113974 h 8113974"/>
              <a:gd name="connsiteX3" fmla="*/ 0 w 4865268"/>
              <a:gd name="connsiteY3" fmla="*/ 7052045 h 8113974"/>
              <a:gd name="connsiteX4" fmla="*/ 97750 w 4865268"/>
              <a:gd name="connsiteY4" fmla="*/ 7066234 h 8113974"/>
              <a:gd name="connsiteX5" fmla="*/ 1082938 w 4865268"/>
              <a:gd name="connsiteY5" fmla="*/ 279367 h 8113974"/>
              <a:gd name="connsiteX6" fmla="*/ 0 w 4865268"/>
              <a:gd name="connsiteY6" fmla="*/ 122167 h 8113974"/>
              <a:gd name="connsiteX7" fmla="*/ 0 w 4865268"/>
              <a:gd name="connsiteY7" fmla="*/ 0 h 811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5268" h="8113974">
                <a:moveTo>
                  <a:pt x="4865268" y="0"/>
                </a:moveTo>
                <a:lnTo>
                  <a:pt x="4865268" y="8113974"/>
                </a:lnTo>
                <a:lnTo>
                  <a:pt x="0" y="8113974"/>
                </a:lnTo>
                <a:lnTo>
                  <a:pt x="0" y="7052045"/>
                </a:lnTo>
                <a:lnTo>
                  <a:pt x="97750" y="7066234"/>
                </a:lnTo>
                <a:lnTo>
                  <a:pt x="1082938" y="279367"/>
                </a:lnTo>
                <a:lnTo>
                  <a:pt x="0" y="122167"/>
                </a:lnTo>
                <a:lnTo>
                  <a:pt x="0" y="0"/>
                </a:lnTo>
                <a:close/>
              </a:path>
            </a:pathLst>
          </a:cu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Процесс изготовления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BE68A6-3732-8153-C302-89AC6A57F416}"/>
              </a:ext>
            </a:extLst>
          </p:cNvPr>
          <p:cNvSpPr/>
          <p:nvPr/>
        </p:nvSpPr>
        <p:spPr>
          <a:xfrm>
            <a:off x="3163685" y="-725379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3337698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7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4183911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2" y="819820"/>
            <a:ext cx="2902706" cy="196518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7" y="2785006"/>
            <a:ext cx="2863367" cy="186588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8" b="22463"/>
          <a:stretch/>
        </p:blipFill>
        <p:spPr>
          <a:xfrm>
            <a:off x="1263198" y="4650889"/>
            <a:ext cx="2587691" cy="2039512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 rot="1139157">
            <a:off x="9807594" y="4121353"/>
            <a:ext cx="3177309" cy="3820043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8654702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10541470" y="3737684"/>
            <a:ext cx="1954332" cy="812405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02" b="2669"/>
          <a:stretch/>
        </p:blipFill>
        <p:spPr>
          <a:xfrm>
            <a:off x="10122408" y="3799648"/>
            <a:ext cx="1980202" cy="2833324"/>
          </a:xfrm>
          <a:custGeom>
            <a:avLst/>
            <a:gdLst>
              <a:gd name="connsiteX0" fmla="*/ 475085 w 1980202"/>
              <a:gd name="connsiteY0" fmla="*/ 0 h 2833324"/>
              <a:gd name="connsiteX1" fmla="*/ 1980202 w 1980202"/>
              <a:gd name="connsiteY1" fmla="*/ 0 h 2833324"/>
              <a:gd name="connsiteX2" fmla="*/ 1980202 w 1980202"/>
              <a:gd name="connsiteY2" fmla="*/ 2833324 h 2833324"/>
              <a:gd name="connsiteX3" fmla="*/ 0 w 1980202"/>
              <a:gd name="connsiteY3" fmla="*/ 2833324 h 2833324"/>
              <a:gd name="connsiteX4" fmla="*/ 0 w 1980202"/>
              <a:gd name="connsiteY4" fmla="*/ 1366746 h 283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202" h="2833324">
                <a:moveTo>
                  <a:pt x="475085" y="0"/>
                </a:moveTo>
                <a:lnTo>
                  <a:pt x="1980202" y="0"/>
                </a:lnTo>
                <a:lnTo>
                  <a:pt x="1980202" y="2833324"/>
                </a:lnTo>
                <a:lnTo>
                  <a:pt x="0" y="2833324"/>
                </a:lnTo>
                <a:lnTo>
                  <a:pt x="0" y="1366746"/>
                </a:lnTo>
                <a:close/>
              </a:path>
            </a:pathLst>
          </a:custGeom>
        </p:spPr>
      </p:pic>
      <p:sp>
        <p:nvSpPr>
          <p:cNvPr id="35" name="TextBox 34"/>
          <p:cNvSpPr txBox="1"/>
          <p:nvPr/>
        </p:nvSpPr>
        <p:spPr>
          <a:xfrm>
            <a:off x="4121420" y="109626"/>
            <a:ext cx="798119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sz="1700" dirty="0">
                <a:latin typeface="Bookman Old Style" panose="02050604050505020204" pitchFamily="18" charset="0"/>
              </a:rPr>
              <a:t>Было решено что будут использоваться следующие электрические компоненты: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3720" y="3650552"/>
            <a:ext cx="478972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700" dirty="0">
                <a:latin typeface="Bookman Old Style" panose="02050604050505020204" pitchFamily="18" charset="0"/>
              </a:rPr>
              <a:t>После определения эл. компонентов началось моделирование деталей манипулятора. </a:t>
            </a:r>
            <a:r>
              <a:rPr lang="ru-RU" sz="1700" dirty="0" smtClean="0">
                <a:latin typeface="Bookman Old Style" panose="02050604050505020204" pitchFamily="18" charset="0"/>
              </a:rPr>
              <a:t>Потом </a:t>
            </a:r>
            <a:r>
              <a:rPr lang="ru-RU" sz="1700" dirty="0">
                <a:latin typeface="Bookman Old Style" panose="02050604050505020204" pitchFamily="18" charset="0"/>
              </a:rPr>
              <a:t>последовала 3</a:t>
            </a:r>
            <a:r>
              <a:rPr lang="en-US" sz="1700" dirty="0">
                <a:latin typeface="Bookman Old Style" panose="02050604050505020204" pitchFamily="18" charset="0"/>
              </a:rPr>
              <a:t>D</a:t>
            </a:r>
            <a:r>
              <a:rPr lang="ru-RU" sz="1700" dirty="0">
                <a:latin typeface="Bookman Old Style" panose="02050604050505020204" pitchFamily="18" charset="0"/>
              </a:rPr>
              <a:t> печать и зачистка </a:t>
            </a:r>
            <a:r>
              <a:rPr lang="ru-RU" sz="1700" dirty="0" smtClean="0">
                <a:latin typeface="Bookman Old Style" panose="02050604050505020204" pitchFamily="18" charset="0"/>
              </a:rPr>
              <a:t>деталей.</a:t>
            </a:r>
            <a:endParaRPr lang="ru-RU" sz="1700" dirty="0">
              <a:latin typeface="Bookman Old Style" panose="020506040505050202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63883" y="849182"/>
            <a:ext cx="55470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Bookman Old Style" panose="02050604050505020204" pitchFamily="18" charset="0"/>
              </a:rPr>
              <a:t>MPU-6050 </a:t>
            </a:r>
            <a:r>
              <a:rPr lang="ru-RU" sz="1700" dirty="0">
                <a:latin typeface="Bookman Old Style" panose="02050604050505020204" pitchFamily="18" charset="0"/>
              </a:rPr>
              <a:t>для преобразования наклона манипулятора в сигнал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Bookman Old Style" panose="02050604050505020204" pitchFamily="18" charset="0"/>
              </a:rPr>
              <a:t>Arduino Pro Micro </a:t>
            </a:r>
            <a:r>
              <a:rPr lang="ru-RU" sz="1700" dirty="0">
                <a:latin typeface="Bookman Old Style" panose="02050604050505020204" pitchFamily="18" charset="0"/>
              </a:rPr>
              <a:t>для управления компьютером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latin typeface="Bookman Old Style" panose="02050604050505020204" pitchFamily="18" charset="0"/>
              </a:rPr>
              <a:t>Инкрементальный энкодер </a:t>
            </a:r>
            <a:r>
              <a:rPr lang="en-US" sz="1700" dirty="0">
                <a:latin typeface="Bookman Old Style" panose="02050604050505020204" pitchFamily="18" charset="0"/>
              </a:rPr>
              <a:t>EC11</a:t>
            </a:r>
            <a:r>
              <a:rPr lang="ru-RU" sz="1700" dirty="0">
                <a:latin typeface="Bookman Old Style" panose="02050604050505020204" pitchFamily="18" charset="0"/>
              </a:rPr>
              <a:t> для имитации прокрутки колесика мыши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latin typeface="Bookman Old Style" panose="02050604050505020204" pitchFamily="18" charset="0"/>
              </a:rPr>
              <a:t>Тактовые кнопки для выбора чувствительности и имитации левого/правого клика мыши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860" y="1327950"/>
            <a:ext cx="1188407" cy="118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0" t="24789" r="15648" b="20972"/>
          <a:stretch/>
        </p:blipFill>
        <p:spPr>
          <a:xfrm>
            <a:off x="10305881" y="599809"/>
            <a:ext cx="1090367" cy="891601"/>
          </a:xfrm>
          <a:prstGeom prst="rect">
            <a:avLst/>
          </a:prstGeom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822">
            <a:off x="10904241" y="2299441"/>
            <a:ext cx="1117587" cy="111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avatars.mds.yandex.net/get-goods_pic/14045641/hat2c249d07c31a47bc42936a31d51ea9f8/orig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952" y="2376949"/>
            <a:ext cx="637024" cy="55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23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dirty="0">
                <a:solidFill>
                  <a:schemeClr val="tx1"/>
                </a:solidFill>
                <a:latin typeface="Bookman Old Style" panose="02050604050505020204" pitchFamily="18" charset="0"/>
              </a:rPr>
              <a:t>Взрыв - схема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186559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2315062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8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719" y="197597"/>
            <a:ext cx="8069580" cy="595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 rot="313685">
            <a:off x="7646174" y="-642333"/>
            <a:ext cx="5200789" cy="8137980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Итоги и самооценка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839700" y="-725379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303428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9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E5DE26-4D9B-5C26-9E1A-51DE74FCA589}"/>
              </a:ext>
            </a:extLst>
          </p:cNvPr>
          <p:cNvSpPr/>
          <p:nvPr/>
        </p:nvSpPr>
        <p:spPr>
          <a:xfrm>
            <a:off x="7260335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430" y="725378"/>
            <a:ext cx="3957955" cy="5112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8263" y="668706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Итоги работы: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263" y="4674337"/>
            <a:ext cx="5876925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dirty="0">
                <a:latin typeface="Bookman Old Style" panose="02050604050505020204" pitchFamily="18" charset="0"/>
              </a:rPr>
              <a:t>Предполагается развитие проекта в будущем: интеграция</a:t>
            </a:r>
            <a:r>
              <a:rPr lang="en-US" dirty="0">
                <a:latin typeface="Bookman Old Style" panose="02050604050505020204" pitchFamily="18" charset="0"/>
              </a:rPr>
              <a:t> c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en-US" dirty="0">
                <a:latin typeface="Bookman Old Style" panose="02050604050505020204" pitchFamily="18" charset="0"/>
              </a:rPr>
              <a:t>Bluetooth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en-US" dirty="0">
                <a:latin typeface="Bookman Old Style" panose="02050604050505020204" pitchFamily="18" charset="0"/>
              </a:rPr>
              <a:t>5.3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263" y="3359528"/>
            <a:ext cx="6623592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dirty="0">
                <a:latin typeface="Bookman Old Style" panose="02050604050505020204" pitchFamily="18" charset="0"/>
              </a:rPr>
              <a:t>Я считаю, что все поставленные задачи выполнены и устройство можно считать завершенным.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454" y="1137230"/>
            <a:ext cx="6943112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Создан работающий </a:t>
            </a:r>
            <a:r>
              <a:rPr lang="ru-RU" sz="2000" dirty="0" smtClean="0">
                <a:latin typeface="Bookman Old Style" panose="02050604050505020204" pitchFamily="18" charset="0"/>
              </a:rPr>
              <a:t>прототип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ookman Old Style" panose="02050604050505020204" pitchFamily="18" charset="0"/>
              </a:rPr>
              <a:t>Устройство </a:t>
            </a:r>
            <a:r>
              <a:rPr lang="ru-RU" sz="2000" dirty="0">
                <a:latin typeface="Bookman Old Style" panose="02050604050505020204" pitchFamily="18" charset="0"/>
              </a:rPr>
              <a:t>не имеет колоссальной </a:t>
            </a:r>
            <a:r>
              <a:rPr lang="ru-RU" sz="2000" dirty="0" smtClean="0">
                <a:latin typeface="Bookman Old Style" panose="02050604050505020204" pitchFamily="18" charset="0"/>
              </a:rPr>
              <a:t>цены.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ru-RU" sz="2000" dirty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Учтены ключевые эргономические требования.</a:t>
            </a:r>
          </a:p>
        </p:txBody>
      </p:sp>
    </p:spTree>
    <p:extLst>
      <p:ext uri="{BB962C8B-B14F-4D97-AF65-F5344CB8AC3E}">
        <p14:creationId xmlns:p14="http://schemas.microsoft.com/office/powerpoint/2010/main" val="77519852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</TotalTime>
  <Words>428</Words>
  <Application>Microsoft Office PowerPoint</Application>
  <PresentationFormat>Широкоэкранный</PresentationFormat>
  <Paragraphs>93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Bahnschrift SemiLight</vt:lpstr>
      <vt:lpstr>Bookman Old Style</vt:lpstr>
      <vt:lpstr>Calibri</vt:lpstr>
      <vt:lpstr>Calibri Light</vt:lpstr>
      <vt:lpstr>Times New Roman</vt:lpstr>
      <vt:lpstr>Ретро</vt:lpstr>
      <vt:lpstr>Презентация PowerPoint</vt:lpstr>
      <vt:lpstr>Причины создания проекта</vt:lpstr>
      <vt:lpstr>Анализ аналогов</vt:lpstr>
      <vt:lpstr>Цели и задачи</vt:lpstr>
      <vt:lpstr>Ценообразование</vt:lpstr>
      <vt:lpstr>Выбор материалов</vt:lpstr>
      <vt:lpstr>Процесс изготовления</vt:lpstr>
      <vt:lpstr>Взрыв - схема</vt:lpstr>
      <vt:lpstr>Итоги и самооценка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Манипулятор для людей с  ограниченной моторикой рук</dc:title>
  <dc:creator>Андрей Пивоваров</dc:creator>
  <cp:lastModifiedBy>Пользователь Windows</cp:lastModifiedBy>
  <cp:revision>32</cp:revision>
  <dcterms:created xsi:type="dcterms:W3CDTF">2026-02-08T13:02:55Z</dcterms:created>
  <dcterms:modified xsi:type="dcterms:W3CDTF">2026-04-23T12:30:08Z</dcterms:modified>
</cp:coreProperties>
</file>