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5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DFA60C96-6CC5-44CA-B53D-1E5252E7293D}">
          <p14:sldIdLst>
            <p14:sldId id="265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Пользователь Windows" initials="ПW" lastIdx="1" clrIdx="0">
    <p:extLst>
      <p:ext uri="{19B8F6BF-5375-455C-9EA6-DF929625EA0E}">
        <p15:presenceInfo xmlns:p15="http://schemas.microsoft.com/office/powerpoint/2012/main" userId="Пользователь Window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2828"/>
    <a:srgbClr val="FFF3E0"/>
    <a:srgbClr val="BD582C"/>
    <a:srgbClr val="E4831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2274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12888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866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912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1384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85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651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0518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67614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4660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17063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B72D5D3-D9D5-4A9C-867E-F13F5DA2FF7F}" type="datetimeFigureOut">
              <a:rPr lang="ru-RU" smtClean="0"/>
              <a:t>23.04.2026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422EAA5-9F4C-404F-A3E0-557344B71894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9590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jpeg"/><Relationship Id="rId3" Type="http://schemas.openxmlformats.org/officeDocument/2006/relationships/image" Target="../media/image11.PNG"/><Relationship Id="rId7" Type="http://schemas.openxmlformats.org/officeDocument/2006/relationships/image" Target="../media/image15.jpe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jpeg"/><Relationship Id="rId5" Type="http://schemas.openxmlformats.org/officeDocument/2006/relationships/image" Target="../media/image13.jpg"/><Relationship Id="rId4" Type="http://schemas.openxmlformats.org/officeDocument/2006/relationships/image" Target="../media/image12.jpg"/><Relationship Id="rId9" Type="http://schemas.openxmlformats.org/officeDocument/2006/relationships/image" Target="../media/image17.jpe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8351F05A-A149-91D9-F06E-BE9FD1261F7A}"/>
              </a:ext>
            </a:extLst>
          </p:cNvPr>
          <p:cNvSpPr/>
          <p:nvPr/>
        </p:nvSpPr>
        <p:spPr>
          <a:xfrm>
            <a:off x="1170432" y="4251960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1"/>
          <p:cNvSpPr txBox="1">
            <a:spLocks/>
          </p:cNvSpPr>
          <p:nvPr/>
        </p:nvSpPr>
        <p:spPr>
          <a:xfrm>
            <a:off x="1371600" y="46402"/>
            <a:ext cx="9485375" cy="13127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Государственное бюджетное общеобразовательное учреждение </a:t>
            </a:r>
            <a:endParaRPr lang="en-US" sz="2000" dirty="0">
              <a:latin typeface="Bookman Old Style" panose="02050604050505020204" pitchFamily="18" charset="0"/>
              <a:cs typeface="Arial" pitchFamily="34" charset="0"/>
            </a:endParaRPr>
          </a:p>
          <a:p>
            <a:r>
              <a:rPr lang="ru-RU" sz="2000" dirty="0">
                <a:latin typeface="Bookman Old Style" panose="02050604050505020204" pitchFamily="18" charset="0"/>
                <a:cs typeface="Arial" pitchFamily="34" charset="0"/>
              </a:rPr>
              <a:t>города Москвы «Школа № 1103 имени Героя Российской Федерации А.В. Соломатина»</a:t>
            </a: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>
          <a:xfrm>
            <a:off x="2644139" y="2077504"/>
            <a:ext cx="6783325" cy="1126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2400" dirty="0">
                <a:solidFill>
                  <a:schemeClr val="tx1"/>
                </a:solidFill>
                <a:latin typeface="Bookman Old Style" panose="02050604050505020204" pitchFamily="18" charset="0"/>
                <a:cs typeface="Arial" pitchFamily="34" charset="0"/>
              </a:rPr>
              <a:t>Манипулятор для людей с ограниченной моторикой рук</a:t>
            </a:r>
          </a:p>
          <a:p>
            <a:endParaRPr lang="ru-RU" sz="6600" dirty="0">
              <a:latin typeface="Bookman Old Style" panose="020506040505050202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911479" y="3724064"/>
            <a:ext cx="4401171" cy="25382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Участник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ученик 9 «И» класса ГБОУ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Школа № 1103  Пивоваров Андрей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Руководитель</a:t>
            </a:r>
            <a:r>
              <a:rPr lang="en-US" dirty="0">
                <a:latin typeface="Bookman Old Style" panose="02050604050505020204" pitchFamily="18" charset="0"/>
                <a:cs typeface="Arial" pitchFamily="34" charset="0"/>
              </a:rPr>
              <a:t>: </a:t>
            </a:r>
            <a:endParaRPr lang="ru-RU" dirty="0">
              <a:latin typeface="Bookman Old Style" panose="02050604050505020204" pitchFamily="18" charset="0"/>
              <a:cs typeface="Arial" pitchFamily="34" charset="0"/>
            </a:endParaRP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учитель ГБОУ Школа № 1103 </a:t>
            </a:r>
          </a:p>
          <a:p>
            <a:pPr>
              <a:lnSpc>
                <a:spcPct val="150000"/>
              </a:lnSpc>
            </a:pPr>
            <a:r>
              <a:rPr lang="ru-RU" dirty="0">
                <a:latin typeface="Bookman Old Style" panose="02050604050505020204" pitchFamily="18" charset="0"/>
                <a:cs typeface="Arial" pitchFamily="34" charset="0"/>
              </a:rPr>
              <a:t>Сокур Мария Евгеньевна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32844" y="6413611"/>
            <a:ext cx="1962888" cy="456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b="1" dirty="0">
                <a:solidFill>
                  <a:schemeClr val="bg1"/>
                </a:solidFill>
                <a:latin typeface="Bookman Old Style" panose="02050604050505020204" pitchFamily="18" charset="0"/>
                <a:cs typeface="Arial" pitchFamily="34" charset="0"/>
              </a:rPr>
              <a:t>Москва, 2026</a:t>
            </a:r>
          </a:p>
        </p:txBody>
      </p:sp>
    </p:spTree>
    <p:extLst>
      <p:ext uri="{BB962C8B-B14F-4D97-AF65-F5344CB8AC3E}">
        <p14:creationId xmlns:p14="http://schemas.microsoft.com/office/powerpoint/2010/main" val="2375317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C073F2AC-1D3E-65DE-AB0A-C212A62651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CAFEF3F-4705-EBBF-BBFE-4A46FC6D3C7C}"/>
              </a:ext>
            </a:extLst>
          </p:cNvPr>
          <p:cNvSpPr/>
          <p:nvPr/>
        </p:nvSpPr>
        <p:spPr>
          <a:xfrm rot="242104">
            <a:off x="-267851" y="-599084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396CF4-C7D4-192D-CC89-BD4DC730C1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Причины создания проекта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744B027-C67A-3043-F81B-6FE3D0413332}"/>
              </a:ext>
            </a:extLst>
          </p:cNvPr>
          <p:cNvSpPr/>
          <p:nvPr/>
        </p:nvSpPr>
        <p:spPr>
          <a:xfrm>
            <a:off x="3730752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DB092F-18C6-58A7-64AA-417BF4857BD2}"/>
              </a:ext>
            </a:extLst>
          </p:cNvPr>
          <p:cNvSpPr txBox="1"/>
          <p:nvPr/>
        </p:nvSpPr>
        <p:spPr>
          <a:xfrm>
            <a:off x="382676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solidFill>
                  <a:schemeClr val="bg1"/>
                </a:solidFill>
                <a:latin typeface="Bookman Old Style" panose="02050604050505020204" pitchFamily="18" charset="0"/>
              </a:rPr>
              <a:t>2</a:t>
            </a:r>
          </a:p>
        </p:txBody>
      </p:sp>
      <p:pic>
        <p:nvPicPr>
          <p:cNvPr id="9" name="Объект 8">
            <a:extLst>
              <a:ext uri="{FF2B5EF4-FFF2-40B4-BE49-F238E27FC236}">
                <a16:creationId xmlns:a16="http://schemas.microsoft.com/office/drawing/2014/main" id="{8F98E384-3FA1-D8A4-DF46-FDC741AFF23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736" y="1187319"/>
            <a:ext cx="3569232" cy="23761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9E313-2974-13F9-0F78-AE4EEE51E802}"/>
              </a:ext>
            </a:extLst>
          </p:cNvPr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834" y="3774482"/>
            <a:ext cx="3565134" cy="2376174"/>
          </a:xfrm>
          <a:prstGeom prst="rect">
            <a:avLst/>
          </a:prstGeom>
        </p:spPr>
      </p:pic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CA20AE0-8EF3-C3FF-FCB9-288D5E19BCF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688D54D-CE18-D886-E409-CC353FBDB53A}"/>
              </a:ext>
            </a:extLst>
          </p:cNvPr>
          <p:cNvSpPr txBox="1"/>
          <p:nvPr/>
        </p:nvSpPr>
        <p:spPr>
          <a:xfrm>
            <a:off x="4378629" y="1099850"/>
            <a:ext cx="70059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just">
              <a:lnSpc>
                <a:spcPct val="150000"/>
              </a:lnSpc>
            </a:pPr>
            <a:r>
              <a:rPr lang="ru-RU" sz="2000" dirty="0">
                <a:latin typeface="Bookman Old Style" panose="02050604050505020204" pitchFamily="18" charset="0"/>
              </a:rPr>
              <a:t>Цифровая среда недоступна для людей с ограниченной моторикой, ведь существующие решения имеют: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1789" y="2577178"/>
            <a:ext cx="545468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Высокую стоимость(от 5 тыс. рублей)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Сложную настройку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Минимальную эффективность при треморе</a:t>
            </a:r>
          </a:p>
        </p:txBody>
      </p:sp>
    </p:spTree>
    <p:extLst>
      <p:ext uri="{BB962C8B-B14F-4D97-AF65-F5344CB8AC3E}">
        <p14:creationId xmlns:p14="http://schemas.microsoft.com/office/powerpoint/2010/main" val="10485022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22C43A-2B39-8512-A888-74E974DD8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40F1C7C3-9F88-3FC4-B00E-651E1E9EA536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66CC642A-1BAD-F187-0319-90BEBA77461E}"/>
              </a:ext>
            </a:extLst>
          </p:cNvPr>
          <p:cNvSpPr/>
          <p:nvPr/>
        </p:nvSpPr>
        <p:spPr>
          <a:xfrm rot="16200000">
            <a:off x="4188779" y="-518593"/>
            <a:ext cx="3710809" cy="12362691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5ECAE8C-08D8-46FB-96DE-D4106AA87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Анализ аналогов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EB633C90-DCB0-83B2-1834-E27909E87AD0}"/>
              </a:ext>
            </a:extLst>
          </p:cNvPr>
          <p:cNvSpPr/>
          <p:nvPr/>
        </p:nvSpPr>
        <p:spPr>
          <a:xfrm>
            <a:off x="2395728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876C620-90DC-AACF-5250-754AC97750F5}"/>
              </a:ext>
            </a:extLst>
          </p:cNvPr>
          <p:cNvSpPr txBox="1"/>
          <p:nvPr/>
        </p:nvSpPr>
        <p:spPr>
          <a:xfrm>
            <a:off x="2486758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3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F4045203-6221-1B1E-6C6C-E1EE0B032D31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717017A5-9C63-F306-C2B8-260D27A607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762" t="3256" r="9392" b="6779"/>
          <a:stretch>
            <a:fillRect/>
          </a:stretch>
        </p:blipFill>
        <p:spPr>
          <a:xfrm>
            <a:off x="751611" y="1022551"/>
            <a:ext cx="3034281" cy="2452122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A4AEA7E9-027E-7F21-B7B6-0971678743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7042" y="556225"/>
            <a:ext cx="3034281" cy="303428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FE70A8C6-8A43-E305-795D-80B804D6CEB5}"/>
              </a:ext>
            </a:extLst>
          </p:cNvPr>
          <p:cNvSpPr txBox="1"/>
          <p:nvPr/>
        </p:nvSpPr>
        <p:spPr>
          <a:xfrm>
            <a:off x="516819" y="4758025"/>
            <a:ext cx="34587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Головной указатель «</a:t>
            </a:r>
            <a:r>
              <a:rPr lang="en-US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Eye Gaze</a:t>
            </a:r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»</a:t>
            </a:r>
            <a:b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endParaRPr lang="ru-RU" sz="2400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3DE38CE-892F-CE29-37E0-DB0CB6EBEDBB}"/>
              </a:ext>
            </a:extLst>
          </p:cNvPr>
          <p:cNvSpPr txBox="1"/>
          <p:nvPr/>
        </p:nvSpPr>
        <p:spPr>
          <a:xfrm>
            <a:off x="4527042" y="4547460"/>
            <a:ext cx="369984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Голосовой указатель</a:t>
            </a:r>
            <a:b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</a:br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«</a:t>
            </a:r>
            <a:r>
              <a:rPr lang="en-US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Dragon Naturally Speaking</a:t>
            </a:r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» </a:t>
            </a:r>
            <a:r>
              <a:rPr lang="en-US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(</a:t>
            </a:r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ПО</a:t>
            </a:r>
            <a:r>
              <a:rPr lang="en-US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BFA5C41-551D-B803-6288-5D747657F30F}"/>
              </a:ext>
            </a:extLst>
          </p:cNvPr>
          <p:cNvSpPr txBox="1"/>
          <p:nvPr/>
        </p:nvSpPr>
        <p:spPr>
          <a:xfrm>
            <a:off x="8660687" y="4575339"/>
            <a:ext cx="292344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Сенсорные планшеты «</a:t>
            </a:r>
            <a:r>
              <a:rPr lang="en-US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Wacom Bamboo</a:t>
            </a:r>
            <a:r>
              <a:rPr lang="ru-RU" sz="2400" dirty="0">
                <a:solidFill>
                  <a:schemeClr val="bg1"/>
                </a:solidFill>
                <a:latin typeface="Bookman Old Style" panose="02050604050505020204" pitchFamily="18" charset="0"/>
              </a:rPr>
              <a:t>»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3C7892F-11C2-B29E-237D-F13D6B767E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3235" y="470790"/>
            <a:ext cx="3119716" cy="3119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654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8F465-CAB7-9663-BEE2-BD3E5BB13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57DAB3B-2AE3-DE9F-503B-957F6888CEAE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9CE2B1-3303-945F-7107-B77E91F51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3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Цели и задачи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D9EE563A-335C-712A-9FB5-1557574909DB}"/>
              </a:ext>
            </a:extLst>
          </p:cNvPr>
          <p:cNvSpPr/>
          <p:nvPr/>
        </p:nvSpPr>
        <p:spPr>
          <a:xfrm>
            <a:off x="2535936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E62A24-9C7F-1118-985F-7B49F4C35241}"/>
              </a:ext>
            </a:extLst>
          </p:cNvPr>
          <p:cNvSpPr txBox="1"/>
          <p:nvPr/>
        </p:nvSpPr>
        <p:spPr>
          <a:xfrm>
            <a:off x="2708557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7E6AE28F-6826-E577-6D2F-42C00070F626}"/>
              </a:ext>
            </a:extLst>
          </p:cNvPr>
          <p:cNvSpPr/>
          <p:nvPr/>
        </p:nvSpPr>
        <p:spPr>
          <a:xfrm>
            <a:off x="3657599" y="6407945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478535" y="863408"/>
            <a:ext cx="60411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832513" y="1402733"/>
            <a:ext cx="58338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17251257">
            <a:off x="8887494" y="-5332016"/>
            <a:ext cx="4523020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3C43B6-2D3A-404E-09D9-CA6B25DFB271}"/>
              </a:ext>
            </a:extLst>
          </p:cNvPr>
          <p:cNvSpPr txBox="1"/>
          <p:nvPr/>
        </p:nvSpPr>
        <p:spPr>
          <a:xfrm>
            <a:off x="193562" y="648172"/>
            <a:ext cx="9193557" cy="9634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b="1" dirty="0">
                <a:latin typeface="Bookman Old Style" panose="02050604050505020204" pitchFamily="18" charset="0"/>
              </a:rPr>
              <a:t>Целью </a:t>
            </a:r>
            <a:r>
              <a:rPr lang="ru-RU" sz="2000" dirty="0">
                <a:latin typeface="Bookman Old Style" panose="02050604050505020204" pitchFamily="18" charset="0"/>
              </a:rPr>
              <a:t>работы</a:t>
            </a:r>
            <a:r>
              <a:rPr lang="ru-RU" sz="2000" b="1" dirty="0">
                <a:latin typeface="Bookman Old Style" panose="02050604050505020204" pitchFamily="18" charset="0"/>
              </a:rPr>
              <a:t> </a:t>
            </a:r>
            <a:r>
              <a:rPr lang="ru-RU" sz="2000" dirty="0">
                <a:latin typeface="Bookman Old Style" panose="02050604050505020204" pitchFamily="18" charset="0"/>
              </a:rPr>
              <a:t>является</a:t>
            </a:r>
            <a:r>
              <a:rPr lang="ru-RU" sz="2000" b="1" dirty="0">
                <a:latin typeface="Bookman Old Style" panose="02050604050505020204" pitchFamily="18" charset="0"/>
              </a:rPr>
              <a:t> </a:t>
            </a:r>
            <a:r>
              <a:rPr lang="ru-RU" sz="2000" dirty="0">
                <a:latin typeface="Bookman Old Style" panose="02050604050505020204" pitchFamily="18" charset="0"/>
              </a:rPr>
              <a:t>создание механического манипулятора, обеспечивающего: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00E2DC2-3836-5899-ED03-9909FF0FCEC9}"/>
              </a:ext>
            </a:extLst>
          </p:cNvPr>
          <p:cNvSpPr txBox="1"/>
          <p:nvPr/>
        </p:nvSpPr>
        <p:spPr>
          <a:xfrm>
            <a:off x="777723" y="1503373"/>
            <a:ext cx="6719872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Стабильное и точное управление курсором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Пассивную физическую стабилизацию руки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Отсутствие сложной калибровки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Работа в любой среде, с плохим освещением или в шумных местах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E15037D-6E4B-250A-65BF-15C055A81B35}"/>
              </a:ext>
            </a:extLst>
          </p:cNvPr>
          <p:cNvSpPr txBox="1"/>
          <p:nvPr/>
        </p:nvSpPr>
        <p:spPr>
          <a:xfrm>
            <a:off x="4244522" y="3946446"/>
            <a:ext cx="565509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Задачи проекта</a:t>
            </a:r>
            <a:r>
              <a:rPr lang="ru-RU" sz="2000" b="1" dirty="0">
                <a:latin typeface="Bookman Old Style" panose="02050604050505020204" pitchFamily="18" charset="0"/>
              </a:rPr>
              <a:t>: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D84668-9A87-FB8E-C844-42909B460AE2}"/>
              </a:ext>
            </a:extLst>
          </p:cNvPr>
          <p:cNvSpPr txBox="1"/>
          <p:nvPr/>
        </p:nvSpPr>
        <p:spPr>
          <a:xfrm>
            <a:off x="4844947" y="3809171"/>
            <a:ext cx="7752737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endParaRPr lang="ru-RU" sz="2000" dirty="0">
              <a:latin typeface="Bookman Old Style" panose="02050604050505020204" pitchFamily="18" charset="0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Подобрать материалы и электрические компоненты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Разработать 3D-модель корпуса с учетом эргономики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Распечатать и запрограммировать устройство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ru-RU" sz="2000" dirty="0">
                <a:latin typeface="Bookman Old Style" panose="02050604050505020204" pitchFamily="18" charset="0"/>
              </a:rPr>
              <a:t>Протестировать функциональность</a:t>
            </a:r>
          </a:p>
        </p:txBody>
      </p:sp>
    </p:spTree>
    <p:extLst>
      <p:ext uri="{BB962C8B-B14F-4D97-AF65-F5344CB8AC3E}">
        <p14:creationId xmlns:p14="http://schemas.microsoft.com/office/powerpoint/2010/main" val="12604568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>
            <a:off x="10954327" y="-672235"/>
            <a:ext cx="1237672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Ценообразование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615184" y="-812723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766059" y="193378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5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10454637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aphicFrame>
        <p:nvGraphicFramePr>
          <p:cNvPr id="6" name="Таблица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1308025"/>
              </p:ext>
            </p:extLst>
          </p:nvPr>
        </p:nvGraphicFramePr>
        <p:xfrm>
          <a:off x="354515" y="980471"/>
          <a:ext cx="3062373" cy="489016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55459">
                  <a:extLst>
                    <a:ext uri="{9D8B030D-6E8A-4147-A177-3AD203B41FA5}">
                      <a16:colId xmlns:a16="http://schemas.microsoft.com/office/drawing/2014/main" val="3099359889"/>
                    </a:ext>
                  </a:extLst>
                </a:gridCol>
                <a:gridCol w="706914">
                  <a:extLst>
                    <a:ext uri="{9D8B030D-6E8A-4147-A177-3AD203B41FA5}">
                      <a16:colId xmlns:a16="http://schemas.microsoft.com/office/drawing/2014/main" val="2146182567"/>
                    </a:ext>
                  </a:extLst>
                </a:gridCol>
              </a:tblGrid>
              <a:tr h="1079238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endParaRPr lang="ru-RU" sz="1200" b="0" kern="100" dirty="0">
                        <a:effectLst/>
                        <a:latin typeface="Bookman Old Style" panose="02050604050505020204" pitchFamily="18" charset="0"/>
                      </a:endParaRPr>
                    </a:p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213522644"/>
                  </a:ext>
                </a:extLst>
              </a:tr>
              <a:tr h="120283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PETG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  <a:ea typeface="+mn-ea"/>
                          <a:cs typeface="+mn-cs"/>
                        </a:rPr>
                        <a:t>550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434116937"/>
                  </a:ext>
                </a:extLst>
              </a:tr>
              <a:tr h="2090507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компоненты(гироскоп,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кнопки, энкодер инкрементальный,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780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729372049"/>
                  </a:ext>
                </a:extLst>
              </a:tr>
              <a:tr h="43305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розничная себестоимость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1330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3040222044"/>
                  </a:ext>
                </a:extLst>
              </a:tr>
            </a:tbl>
          </a:graphicData>
        </a:graphic>
      </p:graphicFrame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630079"/>
              </p:ext>
            </p:extLst>
          </p:nvPr>
        </p:nvGraphicFramePr>
        <p:xfrm>
          <a:off x="3832848" y="378044"/>
          <a:ext cx="6574755" cy="579198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488983">
                  <a:extLst>
                    <a:ext uri="{9D8B030D-6E8A-4147-A177-3AD203B41FA5}">
                      <a16:colId xmlns:a16="http://schemas.microsoft.com/office/drawing/2014/main" val="1747071466"/>
                    </a:ext>
                  </a:extLst>
                </a:gridCol>
                <a:gridCol w="1153466">
                  <a:extLst>
                    <a:ext uri="{9D8B030D-6E8A-4147-A177-3AD203B41FA5}">
                      <a16:colId xmlns:a16="http://schemas.microsoft.com/office/drawing/2014/main" val="492268831"/>
                    </a:ext>
                  </a:extLst>
                </a:gridCol>
                <a:gridCol w="2932306">
                  <a:extLst>
                    <a:ext uri="{9D8B030D-6E8A-4147-A177-3AD203B41FA5}">
                      <a16:colId xmlns:a16="http://schemas.microsoft.com/office/drawing/2014/main" val="3041403376"/>
                    </a:ext>
                  </a:extLst>
                </a:gridCol>
              </a:tblGrid>
              <a:tr h="61948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Позиция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>
                          <a:effectLst/>
                          <a:latin typeface="Bookman Old Style" panose="02050604050505020204" pitchFamily="18" charset="0"/>
                        </a:rPr>
                        <a:t>Стоимость, рубли</a:t>
                      </a:r>
                      <a:endParaRPr lang="ru-RU" sz="1200" b="0" kern="10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Примечания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97529198"/>
                  </a:ext>
                </a:extLst>
              </a:tr>
              <a:tr h="94087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Пластик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ABS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 (330 г.), пружины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340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Для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литья используем </a:t>
                      </a:r>
                      <a:r>
                        <a:rPr lang="en-US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ABS.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(400 р., Снижение цены 15% при покупке оптом &gt;10 кг пластика или &gt;500 шт. пружин)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141505239"/>
                  </a:ext>
                </a:extLst>
              </a:tr>
              <a:tr h="1034473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Электрические компоненты(гироскоп,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кнопки, энкодер инкрементальный, </a:t>
                      </a:r>
                      <a:r>
                        <a:rPr lang="en-US" sz="1200" b="0" kern="100" dirty="0">
                          <a:effectLst/>
                          <a:latin typeface="Bookman Old Style" panose="02050604050505020204" pitchFamily="18" charset="0"/>
                        </a:rPr>
                        <a:t>Arduino Pro Micro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660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Оптовая закупка (780 р.,  Снижение на 15% при покупке оптом, &gt;250 штук каждого)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769889045"/>
                  </a:ext>
                </a:extLst>
              </a:tr>
              <a:tr h="1159092"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Литьё из пластмассы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 сборка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250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Использование литья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пластмассы вместо 3</a:t>
                      </a:r>
                      <a:r>
                        <a:rPr lang="en-US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D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-печати, что более эффективно при серийном производстве</a:t>
                      </a:r>
                      <a:endParaRPr lang="ru-RU" sz="1800" b="1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2767093221"/>
                  </a:ext>
                </a:extLst>
              </a:tr>
              <a:tr h="92190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Упаковка, логистика и маржинальные расходы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200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Включает цену упаковки, транспортировки, хранения и т.д. 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648659560"/>
                  </a:ext>
                </a:extLst>
              </a:tr>
              <a:tr h="684725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Итого промышленная</a:t>
                      </a:r>
                      <a:r>
                        <a:rPr lang="ru-RU" sz="1200" b="0" kern="100" baseline="0" dirty="0">
                          <a:effectLst/>
                          <a:latin typeface="Bookman Old Style" panose="02050604050505020204" pitchFamily="18" charset="0"/>
                        </a:rPr>
                        <a:t> себе</a:t>
                      </a: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стоимость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1450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ru-RU" sz="1200" b="0" kern="100" dirty="0">
                          <a:effectLst/>
                          <a:latin typeface="Bookman Old Style" panose="02050604050505020204" pitchFamily="18" charset="0"/>
                        </a:rPr>
                        <a:t> </a:t>
                      </a:r>
                      <a:endParaRPr lang="ru-RU" sz="1200" b="0" kern="100" dirty="0">
                        <a:effectLst/>
                        <a:latin typeface="Bookman Old Style" panose="020506040505050202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0284" marR="50284" marT="0" marB="0"/>
                </a:tc>
                <a:extLst>
                  <a:ext uri="{0D108BD9-81ED-4DB2-BD59-A6C34878D82A}">
                    <a16:rowId xmlns:a16="http://schemas.microsoft.com/office/drawing/2014/main" val="12379605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1898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1631168" y="-672235"/>
            <a:ext cx="560831" cy="7668347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Выбор материалов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2720340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286664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Bookman Old Style" panose="02050604050505020204" pitchFamily="18" charset="0"/>
              </a:rPr>
              <a:t>6</a:t>
            </a:r>
            <a:endParaRPr lang="ru-RU" dirty="0"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922503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B57897-E7DA-2F3A-8F2F-6DF556D90307}"/>
              </a:ext>
            </a:extLst>
          </p:cNvPr>
          <p:cNvSpPr txBox="1"/>
          <p:nvPr/>
        </p:nvSpPr>
        <p:spPr>
          <a:xfrm>
            <a:off x="165089" y="1055664"/>
            <a:ext cx="819646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Для 3</a:t>
            </a:r>
            <a:r>
              <a:rPr lang="en-US" sz="2000" dirty="0">
                <a:latin typeface="Bookman Old Style" panose="02050604050505020204" pitchFamily="18" charset="0"/>
              </a:rPr>
              <a:t>D</a:t>
            </a:r>
            <a:r>
              <a:rPr lang="ru-RU" sz="2000" dirty="0">
                <a:latin typeface="Bookman Old Style" panose="02050604050505020204" pitchFamily="18" charset="0"/>
              </a:rPr>
              <a:t>-печати рассматривались следующие термопластики: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9E0792-A0D1-8CA8-F159-C2272754789A}"/>
              </a:ext>
            </a:extLst>
          </p:cNvPr>
          <p:cNvSpPr txBox="1"/>
          <p:nvPr/>
        </p:nvSpPr>
        <p:spPr>
          <a:xfrm>
            <a:off x="365211" y="1747770"/>
            <a:ext cx="7379574" cy="18876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PLA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endParaRPr lang="ru-RU" sz="2400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ABS</a:t>
            </a: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endParaRPr lang="ru-RU" sz="2400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latin typeface="Bookman Old Style" panose="02050604050505020204" pitchFamily="18" charset="0"/>
              </a:rPr>
              <a:t>PETG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F16C-194B-FD52-3E37-442614CC597A}"/>
              </a:ext>
            </a:extLst>
          </p:cNvPr>
          <p:cNvSpPr txBox="1"/>
          <p:nvPr/>
        </p:nvSpPr>
        <p:spPr>
          <a:xfrm>
            <a:off x="109726" y="4264240"/>
            <a:ext cx="6816472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latin typeface="Bookman Old Style" panose="02050604050505020204" pitchFamily="18" charset="0"/>
              </a:rPr>
              <a:t>Был выбран </a:t>
            </a:r>
            <a:r>
              <a:rPr lang="en-US" sz="2000" dirty="0">
                <a:latin typeface="Bookman Old Style" panose="02050604050505020204" pitchFamily="18" charset="0"/>
              </a:rPr>
              <a:t>PETG </a:t>
            </a:r>
            <a:r>
              <a:rPr lang="ru-RU" sz="2000" dirty="0">
                <a:latin typeface="Bookman Old Style" panose="02050604050505020204" pitchFamily="18" charset="0"/>
              </a:rPr>
              <a:t>пластик(</a:t>
            </a:r>
            <a:r>
              <a:rPr lang="ru-RU" sz="2000" i="1" dirty="0">
                <a:latin typeface="Bookman Old Style" panose="02050604050505020204" pitchFamily="18" charset="0"/>
              </a:rPr>
              <a:t>Полиэтилентерефталат гликоль</a:t>
            </a:r>
            <a:r>
              <a:rPr lang="ru-RU" sz="2000" dirty="0">
                <a:latin typeface="Bookman Old Style" panose="02050604050505020204" pitchFamily="18" charset="0"/>
              </a:rPr>
              <a:t>), ведь он совмещает лучшие стороны своих конкурентов.</a:t>
            </a:r>
          </a:p>
        </p:txBody>
      </p:sp>
      <p:pic>
        <p:nvPicPr>
          <p:cNvPr id="13" name="Picture 4" descr="Picture backgroun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46097" y="2228719"/>
            <a:ext cx="2107335" cy="2107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 descr="https://avatars.mds.yandex.net/i?id=7a4480ee1849cf3113c852b398967ca1ffc880d7-5878500-images-thumbs&amp;n=1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63347" y="566929"/>
            <a:ext cx="1472837" cy="1472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6" descr="Picture background"/>
          <p:cNvPicPr>
            <a:picLocks noChangeAspect="1" noChangeArrowheads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6627" y="4421898"/>
            <a:ext cx="1258357" cy="1615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34379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972ED4-718C-8381-4407-942B35E94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Прямоугольник 27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>
            <a:off x="10515600" y="3700905"/>
            <a:ext cx="3484514" cy="3872415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3BBFE12A-36AB-BDD3-0938-05896BBD1337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олилиния 14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21104435">
            <a:off x="-680755" y="-501244"/>
            <a:ext cx="4963983" cy="8113974"/>
          </a:xfrm>
          <a:custGeom>
            <a:avLst/>
            <a:gdLst>
              <a:gd name="connsiteX0" fmla="*/ 4865268 w 4865268"/>
              <a:gd name="connsiteY0" fmla="*/ 0 h 8113974"/>
              <a:gd name="connsiteX1" fmla="*/ 4865268 w 4865268"/>
              <a:gd name="connsiteY1" fmla="*/ 8113974 h 8113974"/>
              <a:gd name="connsiteX2" fmla="*/ 0 w 4865268"/>
              <a:gd name="connsiteY2" fmla="*/ 8113974 h 8113974"/>
              <a:gd name="connsiteX3" fmla="*/ 0 w 4865268"/>
              <a:gd name="connsiteY3" fmla="*/ 7052045 h 8113974"/>
              <a:gd name="connsiteX4" fmla="*/ 97750 w 4865268"/>
              <a:gd name="connsiteY4" fmla="*/ 7066234 h 8113974"/>
              <a:gd name="connsiteX5" fmla="*/ 1082938 w 4865268"/>
              <a:gd name="connsiteY5" fmla="*/ 279367 h 8113974"/>
              <a:gd name="connsiteX6" fmla="*/ 0 w 4865268"/>
              <a:gd name="connsiteY6" fmla="*/ 122167 h 8113974"/>
              <a:gd name="connsiteX7" fmla="*/ 0 w 4865268"/>
              <a:gd name="connsiteY7" fmla="*/ 0 h 81139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865268" h="8113974">
                <a:moveTo>
                  <a:pt x="4865268" y="0"/>
                </a:moveTo>
                <a:lnTo>
                  <a:pt x="4865268" y="8113974"/>
                </a:lnTo>
                <a:lnTo>
                  <a:pt x="0" y="8113974"/>
                </a:lnTo>
                <a:lnTo>
                  <a:pt x="0" y="7052045"/>
                </a:lnTo>
                <a:lnTo>
                  <a:pt x="97750" y="7066234"/>
                </a:lnTo>
                <a:lnTo>
                  <a:pt x="1082938" y="279367"/>
                </a:lnTo>
                <a:lnTo>
                  <a:pt x="0" y="122167"/>
                </a:lnTo>
                <a:lnTo>
                  <a:pt x="0" y="0"/>
                </a:lnTo>
                <a:close/>
              </a:path>
            </a:pathLst>
          </a:cu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5F089AC-BC09-1BDE-0391-737BEE66C3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bg1"/>
                </a:solidFill>
                <a:latin typeface="Bookman Old Style" panose="02050604050505020204" pitchFamily="18" charset="0"/>
              </a:rPr>
              <a:t>Процесс изготовления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BBE68A6-3732-8153-C302-89AC6A57F416}"/>
              </a:ext>
            </a:extLst>
          </p:cNvPr>
          <p:cNvSpPr/>
          <p:nvPr/>
        </p:nvSpPr>
        <p:spPr>
          <a:xfrm>
            <a:off x="3163685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8D6350-1169-7BEF-E8BA-89ACBAE1D771}"/>
              </a:ext>
            </a:extLst>
          </p:cNvPr>
          <p:cNvSpPr txBox="1"/>
          <p:nvPr/>
        </p:nvSpPr>
        <p:spPr>
          <a:xfrm>
            <a:off x="3337698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Bookman Old Style" panose="02050604050505020204" pitchFamily="18" charset="0"/>
              </a:rPr>
              <a:t>7</a:t>
            </a:r>
            <a:endParaRPr lang="ru-RU" dirty="0">
              <a:solidFill>
                <a:schemeClr val="bg1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4183911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992" y="819820"/>
            <a:ext cx="2902706" cy="1965186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257" y="2785006"/>
            <a:ext cx="2863367" cy="1865883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058" b="22463"/>
          <a:stretch/>
        </p:blipFill>
        <p:spPr>
          <a:xfrm>
            <a:off x="1263199" y="4650889"/>
            <a:ext cx="2494854" cy="2039512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A3B0F9DC-F45B-847A-9FB2-2F9200F5DCE5}"/>
              </a:ext>
            </a:extLst>
          </p:cNvPr>
          <p:cNvSpPr/>
          <p:nvPr/>
        </p:nvSpPr>
        <p:spPr>
          <a:xfrm rot="1139157">
            <a:off x="9807594" y="4121353"/>
            <a:ext cx="3177309" cy="3820043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8654702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9" name="Прямоугольник 28">
            <a:extLst>
              <a:ext uri="{FF2B5EF4-FFF2-40B4-BE49-F238E27FC236}">
                <a16:creationId xmlns:a16="http://schemas.microsoft.com/office/drawing/2014/main" id="{AAC992A4-0248-5A10-DB5C-F5CD42A5CD9F}"/>
              </a:ext>
            </a:extLst>
          </p:cNvPr>
          <p:cNvSpPr/>
          <p:nvPr/>
        </p:nvSpPr>
        <p:spPr>
          <a:xfrm>
            <a:off x="10541470" y="3737684"/>
            <a:ext cx="1954332" cy="812405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pic>
        <p:nvPicPr>
          <p:cNvPr id="33" name="Рисунок 32"/>
          <p:cNvPicPr>
            <a:picLocks noChangeAspect="1"/>
          </p:cNvPicPr>
          <p:nvPr/>
        </p:nvPicPr>
        <p:blipFill rotWithShape="1">
          <a:blip r:embed="rId5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302" b="2669"/>
          <a:stretch/>
        </p:blipFill>
        <p:spPr>
          <a:xfrm>
            <a:off x="10122408" y="3799648"/>
            <a:ext cx="1980202" cy="2833324"/>
          </a:xfrm>
          <a:custGeom>
            <a:avLst/>
            <a:gdLst>
              <a:gd name="connsiteX0" fmla="*/ 475085 w 1980202"/>
              <a:gd name="connsiteY0" fmla="*/ 0 h 2833324"/>
              <a:gd name="connsiteX1" fmla="*/ 1980202 w 1980202"/>
              <a:gd name="connsiteY1" fmla="*/ 0 h 2833324"/>
              <a:gd name="connsiteX2" fmla="*/ 1980202 w 1980202"/>
              <a:gd name="connsiteY2" fmla="*/ 2833324 h 2833324"/>
              <a:gd name="connsiteX3" fmla="*/ 0 w 1980202"/>
              <a:gd name="connsiteY3" fmla="*/ 2833324 h 2833324"/>
              <a:gd name="connsiteX4" fmla="*/ 0 w 1980202"/>
              <a:gd name="connsiteY4" fmla="*/ 1366746 h 28333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80202" h="2833324">
                <a:moveTo>
                  <a:pt x="475085" y="0"/>
                </a:moveTo>
                <a:lnTo>
                  <a:pt x="1980202" y="0"/>
                </a:lnTo>
                <a:lnTo>
                  <a:pt x="1980202" y="2833324"/>
                </a:lnTo>
                <a:lnTo>
                  <a:pt x="0" y="2833324"/>
                </a:lnTo>
                <a:lnTo>
                  <a:pt x="0" y="1366746"/>
                </a:lnTo>
                <a:close/>
              </a:path>
            </a:pathLst>
          </a:custGeom>
        </p:spPr>
      </p:pic>
      <p:sp>
        <p:nvSpPr>
          <p:cNvPr id="35" name="TextBox 34"/>
          <p:cNvSpPr txBox="1"/>
          <p:nvPr/>
        </p:nvSpPr>
        <p:spPr>
          <a:xfrm>
            <a:off x="4121420" y="109626"/>
            <a:ext cx="7981190" cy="7335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5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Было решено что будут использоваться следующие электрические компоненты: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3720" y="3650552"/>
            <a:ext cx="4789729" cy="20099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1700" dirty="0">
                <a:latin typeface="Bookman Old Style" panose="02050604050505020204" pitchFamily="18" charset="0"/>
              </a:rPr>
              <a:t>После определения электрических компонентов началось моделирование деталей манипулятора. Потом последовала 3</a:t>
            </a:r>
            <a:r>
              <a:rPr lang="en-US" sz="1700" dirty="0">
                <a:latin typeface="Bookman Old Style" panose="02050604050505020204" pitchFamily="18" charset="0"/>
              </a:rPr>
              <a:t>D</a:t>
            </a:r>
            <a:r>
              <a:rPr lang="ru-RU" sz="1700" dirty="0">
                <a:latin typeface="Bookman Old Style" panose="02050604050505020204" pitchFamily="18" charset="0"/>
              </a:rPr>
              <a:t> печать и зачистка деталей.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63883" y="849182"/>
            <a:ext cx="5547014" cy="24468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700" i="1" dirty="0">
                <a:latin typeface="Bookman Old Style" panose="02050604050505020204" pitchFamily="18" charset="0"/>
              </a:rPr>
              <a:t>MPU-6050</a:t>
            </a:r>
            <a:r>
              <a:rPr lang="en-US" sz="1700" dirty="0">
                <a:latin typeface="Bookman Old Style" panose="02050604050505020204" pitchFamily="18" charset="0"/>
              </a:rPr>
              <a:t> </a:t>
            </a:r>
            <a:r>
              <a:rPr lang="ru-RU" sz="1700" dirty="0">
                <a:latin typeface="Bookman Old Style" panose="02050604050505020204" pitchFamily="18" charset="0"/>
              </a:rPr>
              <a:t>для преобразования наклона манипулятора в сигнал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700" i="1" dirty="0">
                <a:latin typeface="Bookman Old Style" panose="02050604050505020204" pitchFamily="18" charset="0"/>
              </a:rPr>
              <a:t>Arduino Pro Micro </a:t>
            </a:r>
            <a:r>
              <a:rPr lang="ru-RU" sz="1700" dirty="0">
                <a:latin typeface="Bookman Old Style" panose="02050604050505020204" pitchFamily="18" charset="0"/>
              </a:rPr>
              <a:t>для управления компьютером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i="1" dirty="0">
                <a:latin typeface="Bookman Old Style" panose="02050604050505020204" pitchFamily="18" charset="0"/>
              </a:rPr>
              <a:t>Инкрементальный энкодер </a:t>
            </a:r>
            <a:r>
              <a:rPr lang="en-US" sz="1700" i="1" dirty="0">
                <a:latin typeface="Bookman Old Style" panose="02050604050505020204" pitchFamily="18" charset="0"/>
              </a:rPr>
              <a:t>EC11</a:t>
            </a:r>
            <a:r>
              <a:rPr lang="ru-RU" sz="1700" i="1" dirty="0">
                <a:latin typeface="Bookman Old Style" panose="02050604050505020204" pitchFamily="18" charset="0"/>
              </a:rPr>
              <a:t> </a:t>
            </a:r>
            <a:r>
              <a:rPr lang="ru-RU" sz="1700" dirty="0">
                <a:latin typeface="Bookman Old Style" panose="02050604050505020204" pitchFamily="18" charset="0"/>
              </a:rPr>
              <a:t>для имитации прокрутки колесика мыши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1700" i="1" dirty="0">
                <a:latin typeface="Bookman Old Style" panose="02050604050505020204" pitchFamily="18" charset="0"/>
              </a:rPr>
              <a:t>Тактовые кнопки </a:t>
            </a:r>
            <a:r>
              <a:rPr lang="ru-RU" sz="1700" dirty="0">
                <a:latin typeface="Bookman Old Style" panose="02050604050505020204" pitchFamily="18" charset="0"/>
              </a:rPr>
              <a:t>для выбора чувствительности и имитации левого/правого клика мыши</a:t>
            </a:r>
          </a:p>
        </p:txBody>
      </p:sp>
      <p:pic>
        <p:nvPicPr>
          <p:cNvPr id="2050" name="Picture 2" descr="Picture background"/>
          <p:cNvPicPr>
            <a:picLocks noChangeAspect="1" noChangeArrowheads="1"/>
          </p:cNvPicPr>
          <p:nvPr/>
        </p:nvPicPr>
        <p:blipFill>
          <a:blip r:embed="rId6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6860" y="1327950"/>
            <a:ext cx="1188407" cy="11884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7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20" t="24789" r="15648" b="20972"/>
          <a:stretch/>
        </p:blipFill>
        <p:spPr>
          <a:xfrm>
            <a:off x="10305881" y="599809"/>
            <a:ext cx="1090367" cy="891601"/>
          </a:xfrm>
          <a:prstGeom prst="rect">
            <a:avLst/>
          </a:prstGeom>
        </p:spPr>
      </p:pic>
      <p:pic>
        <p:nvPicPr>
          <p:cNvPr id="2052" name="Picture 4" descr="Picture background"/>
          <p:cNvPicPr>
            <a:picLocks noChangeAspect="1" noChangeArrowheads="1"/>
          </p:cNvPicPr>
          <p:nvPr/>
        </p:nvPicPr>
        <p:blipFill>
          <a:blip r:embed="rId8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062822">
            <a:off x="10904241" y="2299441"/>
            <a:ext cx="1117587" cy="11175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https://avatars.mds.yandex.net/get-goods_pic/14045641/hat2c249d07c31a47bc42936a31d51ea9f8/orig"/>
          <p:cNvPicPr>
            <a:picLocks noChangeAspect="1" noChangeArrowheads="1"/>
          </p:cNvPicPr>
          <p:nvPr/>
        </p:nvPicPr>
        <p:blipFill>
          <a:blip r:embed="rId9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6952" y="2376949"/>
            <a:ext cx="637024" cy="551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062342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100" dirty="0">
                <a:solidFill>
                  <a:schemeClr val="tx1"/>
                </a:solidFill>
                <a:latin typeface="Bookman Old Style" panose="02050604050505020204" pitchFamily="18" charset="0"/>
              </a:rPr>
              <a:t>Взрыв - схема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186559" y="-819821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2315062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8</a:t>
            </a: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1719" y="197597"/>
            <a:ext cx="8069580" cy="5951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5866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9D043-962F-1E64-5885-DCC65DFC1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5AB4948E-403F-8BD1-4F45-E39646424114}"/>
              </a:ext>
            </a:extLst>
          </p:cNvPr>
          <p:cNvSpPr/>
          <p:nvPr/>
        </p:nvSpPr>
        <p:spPr>
          <a:xfrm>
            <a:off x="1124712" y="1682496"/>
            <a:ext cx="10113264" cy="13054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AA5BDCBD-3ED4-5058-EC0B-E05F263AF05E}"/>
              </a:ext>
            </a:extLst>
          </p:cNvPr>
          <p:cNvSpPr/>
          <p:nvPr/>
        </p:nvSpPr>
        <p:spPr>
          <a:xfrm rot="313685">
            <a:off x="7646174" y="-642333"/>
            <a:ext cx="5200789" cy="8137980"/>
          </a:xfrm>
          <a:prstGeom prst="rect">
            <a:avLst/>
          </a:prstGeom>
          <a:solidFill>
            <a:srgbClr val="BD582C"/>
          </a:solidFill>
          <a:ln w="57150"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952F2A-5525-5EC3-D8E9-782CE72A2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6" y="-819821"/>
            <a:ext cx="10012682" cy="1386750"/>
          </a:xfrm>
        </p:spPr>
        <p:txBody>
          <a:bodyPr>
            <a:normAutofit/>
          </a:bodyPr>
          <a:lstStyle/>
          <a:p>
            <a:r>
              <a:rPr lang="ru-RU" sz="2000" dirty="0">
                <a:solidFill>
                  <a:schemeClr val="tx1"/>
                </a:solidFill>
                <a:latin typeface="Bookman Old Style" panose="02050604050505020204" pitchFamily="18" charset="0"/>
              </a:rPr>
              <a:t>Итоги и самооценка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50D8E95B-08D3-E8D8-CE53-CD07F9EC224A}"/>
              </a:ext>
            </a:extLst>
          </p:cNvPr>
          <p:cNvSpPr/>
          <p:nvPr/>
        </p:nvSpPr>
        <p:spPr>
          <a:xfrm>
            <a:off x="2839700" y="-725379"/>
            <a:ext cx="45719" cy="1450757"/>
          </a:xfrm>
          <a:prstGeom prst="rect">
            <a:avLst/>
          </a:prstGeom>
          <a:noFill/>
          <a:ln>
            <a:solidFill>
              <a:srgbClr val="E4831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5DAC9B-18CA-CB75-84C2-2AB8C4514128}"/>
              </a:ext>
            </a:extLst>
          </p:cNvPr>
          <p:cNvSpPr txBox="1"/>
          <p:nvPr/>
        </p:nvSpPr>
        <p:spPr>
          <a:xfrm>
            <a:off x="3034283" y="197597"/>
            <a:ext cx="20817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9</a:t>
            </a: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20E5DE26-4D9B-5C26-9E1A-51DE74FCA589}"/>
              </a:ext>
            </a:extLst>
          </p:cNvPr>
          <p:cNvSpPr/>
          <p:nvPr/>
        </p:nvSpPr>
        <p:spPr>
          <a:xfrm>
            <a:off x="7260335" y="6407944"/>
            <a:ext cx="960121" cy="450056"/>
          </a:xfrm>
          <a:prstGeom prst="rect">
            <a:avLst/>
          </a:prstGeom>
          <a:solidFill>
            <a:srgbClr val="BD582C"/>
          </a:solidFill>
          <a:ln>
            <a:solidFill>
              <a:srgbClr val="BD582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Рисунок 7"/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3430" y="725378"/>
            <a:ext cx="3957955" cy="511226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48263" y="668706"/>
            <a:ext cx="23717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ookman Old Style" panose="02050604050505020204" pitchFamily="18" charset="0"/>
              </a:rPr>
              <a:t>Итоги работы: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8263" y="4674337"/>
            <a:ext cx="5876925" cy="799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Предполагается развитие проекта в будущем: интеграция</a:t>
            </a:r>
            <a:r>
              <a:rPr lang="en-US" dirty="0">
                <a:latin typeface="Bookman Old Style" panose="02050604050505020204" pitchFamily="18" charset="0"/>
              </a:rPr>
              <a:t> c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Bluetooth</a:t>
            </a:r>
            <a:r>
              <a:rPr lang="ru-RU" dirty="0">
                <a:latin typeface="Bookman Old Style" panose="02050604050505020204" pitchFamily="18" charset="0"/>
              </a:rPr>
              <a:t> </a:t>
            </a:r>
            <a:r>
              <a:rPr lang="en-US" dirty="0">
                <a:latin typeface="Bookman Old Style" panose="02050604050505020204" pitchFamily="18" charset="0"/>
              </a:rPr>
              <a:t>5.</a:t>
            </a:r>
            <a:r>
              <a:rPr lang="ru-RU" dirty="0">
                <a:latin typeface="Bookman Old Style" panose="02050604050505020204" pitchFamily="18" charset="0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8263" y="3359528"/>
            <a:ext cx="6623592" cy="836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2900"/>
              </a:lnSpc>
            </a:pPr>
            <a:r>
              <a:rPr lang="ru-RU" dirty="0">
                <a:latin typeface="Bookman Old Style" panose="02050604050505020204" pitchFamily="18" charset="0"/>
              </a:rPr>
              <a:t>Я считаю, что все поставленные задачи выполнены и устройство можно считать завершенным.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454" y="1137230"/>
            <a:ext cx="6943112" cy="18235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Создан работающий прототип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en-US" sz="2000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Устройство не имеет колоссальной цены.</a:t>
            </a: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endParaRPr lang="ru-RU" sz="2000" dirty="0">
              <a:latin typeface="Bookman Old Style" panose="02050604050505020204" pitchFamily="18" charset="0"/>
            </a:endParaRPr>
          </a:p>
          <a:p>
            <a:pPr marL="285750" indent="-285750">
              <a:lnSpc>
                <a:spcPts val="2700"/>
              </a:lnSpc>
              <a:buFont typeface="Arial" panose="020B0604020202020204" pitchFamily="34" charset="0"/>
              <a:buChar char="•"/>
            </a:pPr>
            <a:r>
              <a:rPr lang="ru-RU" sz="2000" dirty="0">
                <a:latin typeface="Bookman Old Style" panose="02050604050505020204" pitchFamily="18" charset="0"/>
              </a:rPr>
              <a:t>Учтены ключевые эргономические требования.</a:t>
            </a:r>
          </a:p>
        </p:txBody>
      </p:sp>
    </p:spTree>
    <p:extLst>
      <p:ext uri="{BB962C8B-B14F-4D97-AF65-F5344CB8AC3E}">
        <p14:creationId xmlns:p14="http://schemas.microsoft.com/office/powerpoint/2010/main" val="775198529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1043</TotalTime>
  <Words>468</Words>
  <Application>Microsoft Office PowerPoint</Application>
  <PresentationFormat>Широкоэкранный</PresentationFormat>
  <Paragraphs>93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Bookman Old Style</vt:lpstr>
      <vt:lpstr>Calibri</vt:lpstr>
      <vt:lpstr>Calibri Light</vt:lpstr>
      <vt:lpstr>Ретро</vt:lpstr>
      <vt:lpstr>Презентация PowerPoint</vt:lpstr>
      <vt:lpstr>Причины создания проекта</vt:lpstr>
      <vt:lpstr>Анализ аналогов</vt:lpstr>
      <vt:lpstr>Цели и задачи</vt:lpstr>
      <vt:lpstr>Ценообразование</vt:lpstr>
      <vt:lpstr>Выбор материалов</vt:lpstr>
      <vt:lpstr>Процесс изготовления</vt:lpstr>
      <vt:lpstr>Взрыв - схема</vt:lpstr>
      <vt:lpstr>Итоги и самооценка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Манипулятор для людей с  ограниченной моторикой рук</dc:title>
  <dc:creator>Андрей Пивоваров</dc:creator>
  <cp:lastModifiedBy>Андрей Пивоваров</cp:lastModifiedBy>
  <cp:revision>37</cp:revision>
  <dcterms:created xsi:type="dcterms:W3CDTF">2026-02-08T13:02:55Z</dcterms:created>
  <dcterms:modified xsi:type="dcterms:W3CDTF">2026-04-23T18:55:07Z</dcterms:modified>
</cp:coreProperties>
</file>