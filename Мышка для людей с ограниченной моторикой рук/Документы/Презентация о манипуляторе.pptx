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265" r:id="rId2"/>
    <p:sldId id="257" r:id="rId3"/>
    <p:sldId id="258" r:id="rId4"/>
    <p:sldId id="259" r:id="rId5"/>
    <p:sldId id="261" r:id="rId6"/>
    <p:sldId id="262" r:id="rId7"/>
    <p:sldId id="263" r:id="rId8"/>
    <p:sldId id="260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DFA60C96-6CC5-44CA-B53D-1E5252E7293D}">
          <p14:sldIdLst>
            <p14:sldId id="265"/>
            <p14:sldId id="257"/>
            <p14:sldId id="258"/>
            <p14:sldId id="259"/>
            <p14:sldId id="261"/>
            <p14:sldId id="262"/>
            <p14:sldId id="263"/>
            <p14:sldId id="260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Пользователь Windows" initials="ПW" lastIdx="1" clrIdx="0">
    <p:extLst>
      <p:ext uri="{19B8F6BF-5375-455C-9EA6-DF929625EA0E}">
        <p15:presenceInfo xmlns:p15="http://schemas.microsoft.com/office/powerpoint/2012/main" userId="Пользователь Window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582C"/>
    <a:srgbClr val="E483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F7A100-4B19-4A5B-B19D-7C22E5CF3150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B6DCF1-7120-498E-94ED-383180DBAA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0863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B6DCF1-7120-498E-94ED-383180DBAAA0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55793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227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1288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866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7991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1384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5851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651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4051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6761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5466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1706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B72D5D3-D9D5-4A9C-867E-F13F5DA2FF7F}" type="datetimeFigureOut">
              <a:rPr lang="ru-RU" smtClean="0"/>
              <a:t>11.02.2026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9590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eg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g"/><Relationship Id="rId5" Type="http://schemas.openxmlformats.org/officeDocument/2006/relationships/image" Target="../media/image14.jp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одзаголовок 2"/>
          <p:cNvSpPr txBox="1">
            <a:spLocks/>
          </p:cNvSpPr>
          <p:nvPr/>
        </p:nvSpPr>
        <p:spPr>
          <a:xfrm>
            <a:off x="2704337" y="2865858"/>
            <a:ext cx="6783325" cy="112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Манипулятор для людей с ограниченной моторикой рук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3ADED3-5559-5683-941C-70CD61F1EE0B}"/>
              </a:ext>
            </a:extLst>
          </p:cNvPr>
          <p:cNvSpPr txBox="1"/>
          <p:nvPr/>
        </p:nvSpPr>
        <p:spPr>
          <a:xfrm>
            <a:off x="63997" y="6455641"/>
            <a:ext cx="1837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Класс участия: 9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FE03D1-4AF2-E529-61A3-D166ACBC842B}"/>
              </a:ext>
            </a:extLst>
          </p:cNvPr>
          <p:cNvSpPr txBox="1"/>
          <p:nvPr/>
        </p:nvSpPr>
        <p:spPr>
          <a:xfrm>
            <a:off x="1894338" y="6455641"/>
            <a:ext cx="299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 </a:t>
            </a:r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заявки: 2089246</a:t>
            </a:r>
          </a:p>
        </p:txBody>
      </p:sp>
    </p:spTree>
    <p:extLst>
      <p:ext uri="{BB962C8B-B14F-4D97-AF65-F5344CB8AC3E}">
        <p14:creationId xmlns:p14="http://schemas.microsoft.com/office/powerpoint/2010/main" val="2375317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073F2AC-1D3E-65DE-AB0A-C212A62651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CAFEF3F-4705-EBBF-BBFE-4A46FC6D3C7C}"/>
              </a:ext>
            </a:extLst>
          </p:cNvPr>
          <p:cNvSpPr/>
          <p:nvPr/>
        </p:nvSpPr>
        <p:spPr>
          <a:xfrm rot="242104">
            <a:off x="-267851" y="-599084"/>
            <a:ext cx="4523020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396CF4-C7D4-192D-CC89-BD4DC730C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Причины создания проекта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B027-C67A-3043-F81B-6FE3D0413332}"/>
              </a:ext>
            </a:extLst>
          </p:cNvPr>
          <p:cNvSpPr/>
          <p:nvPr/>
        </p:nvSpPr>
        <p:spPr>
          <a:xfrm>
            <a:off x="3209544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DB092F-18C6-58A7-64AA-417BF4857BD2}"/>
              </a:ext>
            </a:extLst>
          </p:cNvPr>
          <p:cNvSpPr txBox="1"/>
          <p:nvPr/>
        </p:nvSpPr>
        <p:spPr>
          <a:xfrm>
            <a:off x="3375660" y="193379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8F98E384-3FA1-D8A4-DF46-FDC741AFF2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736" y="1187319"/>
            <a:ext cx="3569232" cy="237617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339E313-2974-13F9-0F78-AE4EEE51E80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34" y="3774482"/>
            <a:ext cx="3565134" cy="2376174"/>
          </a:xfrm>
          <a:prstGeom prst="rect">
            <a:avLst/>
          </a:prstGeom>
        </p:spPr>
      </p:pic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CA20AE0-8EF3-C3FF-FCB9-288D5E19BCF6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FC27AE-8F82-81F9-C985-CDA318D3822B}"/>
              </a:ext>
            </a:extLst>
          </p:cNvPr>
          <p:cNvSpPr txBox="1"/>
          <p:nvPr/>
        </p:nvSpPr>
        <p:spPr>
          <a:xfrm>
            <a:off x="4416552" y="1794638"/>
            <a:ext cx="6377940" cy="1421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just">
              <a:lnSpc>
                <a:spcPct val="150000"/>
              </a:lnSpc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Цифровая среда недоступна для людей с ограниченной моторикой, ведь существующие решения имеют: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3A404E-2F5C-A308-9FF5-FB5EF244CA4A}"/>
              </a:ext>
            </a:extLst>
          </p:cNvPr>
          <p:cNvSpPr txBox="1"/>
          <p:nvPr/>
        </p:nvSpPr>
        <p:spPr>
          <a:xfrm>
            <a:off x="6010458" y="3181916"/>
            <a:ext cx="5338618" cy="1421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Высокую стоимость(от 5000 </a:t>
            </a:r>
            <a:r>
              <a:rPr lang="ru-RU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₽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Сложную настройку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Минимальную эффективность при треморе</a:t>
            </a:r>
          </a:p>
        </p:txBody>
      </p:sp>
    </p:spTree>
    <p:extLst>
      <p:ext uri="{BB962C8B-B14F-4D97-AF65-F5344CB8AC3E}">
        <p14:creationId xmlns:p14="http://schemas.microsoft.com/office/powerpoint/2010/main" val="1048502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2C43A-2B39-8512-A888-74E974DD8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0F1C7C3-9F88-3FC4-B00E-651E1E9EA536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6CC642A-1BAD-F187-0319-90BEBA77461E}"/>
              </a:ext>
            </a:extLst>
          </p:cNvPr>
          <p:cNvSpPr/>
          <p:nvPr/>
        </p:nvSpPr>
        <p:spPr>
          <a:xfrm rot="16200000">
            <a:off x="4240595" y="13821"/>
            <a:ext cx="3710809" cy="12362691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ECAE8C-08D8-46FB-96DE-D4106AA87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Рассмотрение аналогов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B633C90-DCB0-83B2-1834-E27909E87AD0}"/>
              </a:ext>
            </a:extLst>
          </p:cNvPr>
          <p:cNvSpPr/>
          <p:nvPr/>
        </p:nvSpPr>
        <p:spPr>
          <a:xfrm>
            <a:off x="2734836" y="-761716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76C620-90DC-AACF-5250-754AC97750F5}"/>
              </a:ext>
            </a:extLst>
          </p:cNvPr>
          <p:cNvSpPr txBox="1"/>
          <p:nvPr/>
        </p:nvSpPr>
        <p:spPr>
          <a:xfrm>
            <a:off x="2872932" y="232183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4045203-6221-1B1E-6C6C-E1EE0B032D31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717017A5-9C63-F306-C2B8-260D27A607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62" t="3256" r="9392" b="6779"/>
          <a:stretch>
            <a:fillRect/>
          </a:stretch>
        </p:blipFill>
        <p:spPr>
          <a:xfrm>
            <a:off x="430941" y="996100"/>
            <a:ext cx="3528058" cy="2851163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A4AEA7E9-027E-7F21-B7B6-0971678743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9473" y="562710"/>
            <a:ext cx="3446524" cy="3446524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E70A8C6-8A43-E305-795D-80B804D6CEB5}"/>
              </a:ext>
            </a:extLst>
          </p:cNvPr>
          <p:cNvSpPr txBox="1"/>
          <p:nvPr/>
        </p:nvSpPr>
        <p:spPr>
          <a:xfrm>
            <a:off x="0" y="5154014"/>
            <a:ext cx="391382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Головной указатель</a:t>
            </a:r>
            <a:b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«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Eye Gaze</a:t>
            </a:r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DE38CE-892F-CE29-37E0-DB0CB6EBEDBB}"/>
              </a:ext>
            </a:extLst>
          </p:cNvPr>
          <p:cNvSpPr txBox="1"/>
          <p:nvPr/>
        </p:nvSpPr>
        <p:spPr>
          <a:xfrm>
            <a:off x="4044346" y="5134105"/>
            <a:ext cx="40129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Программа</a:t>
            </a:r>
            <a:b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«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Dragon Naturally Speaking</a:t>
            </a:r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  <a:endParaRPr lang="en-US" sz="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FA5C41-551D-B803-6288-5D747657F30F}"/>
              </a:ext>
            </a:extLst>
          </p:cNvPr>
          <p:cNvSpPr txBox="1"/>
          <p:nvPr/>
        </p:nvSpPr>
        <p:spPr>
          <a:xfrm>
            <a:off x="8581967" y="5169145"/>
            <a:ext cx="369537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Планшет</a:t>
            </a:r>
          </a:p>
          <a:p>
            <a:pPr algn="ctr"/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«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Wacom Bamboo</a:t>
            </a:r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</p:txBody>
      </p:sp>
      <p:pic>
        <p:nvPicPr>
          <p:cNvPr id="2050" name="Picture 2" descr="Wacom Bamboo Graphics Tablet Review and Rating">
            <a:extLst>
              <a:ext uri="{FF2B5EF4-FFF2-40B4-BE49-F238E27FC236}">
                <a16:creationId xmlns:a16="http://schemas.microsoft.com/office/drawing/2014/main" id="{B04DF9F1-29F2-EF6F-93C6-F7327EC025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5720" y="996100"/>
            <a:ext cx="4026027" cy="27454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9654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8F465-CAB7-9663-BEE2-BD3E5BB13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57DAB3B-2AE3-DE9F-503B-957F6888CEAE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9CE2B1-3303-945F-7107-B77E91F51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9EE563A-335C-712A-9FB5-1557574909DB}"/>
              </a:ext>
            </a:extLst>
          </p:cNvPr>
          <p:cNvSpPr/>
          <p:nvPr/>
        </p:nvSpPr>
        <p:spPr>
          <a:xfrm>
            <a:off x="2023873" y="-768914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E62A24-9C7F-1118-985F-7B49F4C35241}"/>
              </a:ext>
            </a:extLst>
          </p:cNvPr>
          <p:cNvSpPr txBox="1"/>
          <p:nvPr/>
        </p:nvSpPr>
        <p:spPr>
          <a:xfrm>
            <a:off x="2178409" y="140512"/>
            <a:ext cx="20817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7E6AE28F-6826-E577-6D2F-42C00070F626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3C43B6-2D3A-404E-09D9-CA6B25DFB271}"/>
              </a:ext>
            </a:extLst>
          </p:cNvPr>
          <p:cNvSpPr txBox="1"/>
          <p:nvPr/>
        </p:nvSpPr>
        <p:spPr>
          <a:xfrm>
            <a:off x="478535" y="863408"/>
            <a:ext cx="60411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Целью работы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является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создание механического манипулятора, обеспечивающего: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0E2DC2-3836-5899-ED03-9909FF0FCEC9}"/>
              </a:ext>
            </a:extLst>
          </p:cNvPr>
          <p:cNvSpPr txBox="1"/>
          <p:nvPr/>
        </p:nvSpPr>
        <p:spPr>
          <a:xfrm>
            <a:off x="1275588" y="1597015"/>
            <a:ext cx="583387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Стабильное и точное управление курсором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Пассивную физическую стабилизацию руки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Отсутствие сложной калибровки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Работа в любой среде, с плохим освещением или в шумных местах по типу офиса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Имеющий приемлемую стоимость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15037D-6E4B-250A-65BF-15C055A81B35}"/>
              </a:ext>
            </a:extLst>
          </p:cNvPr>
          <p:cNvSpPr txBox="1"/>
          <p:nvPr/>
        </p:nvSpPr>
        <p:spPr>
          <a:xfrm>
            <a:off x="4260193" y="3447154"/>
            <a:ext cx="54772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 проекта: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D84668-9A87-FB8E-C844-42909B460AE2}"/>
              </a:ext>
            </a:extLst>
          </p:cNvPr>
          <p:cNvSpPr txBox="1"/>
          <p:nvPr/>
        </p:nvSpPr>
        <p:spPr>
          <a:xfrm>
            <a:off x="4928804" y="3540815"/>
            <a:ext cx="681228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Подобрать материалы и электрические компоненты</a:t>
            </a:r>
          </a:p>
          <a:p>
            <a:pPr marL="342900" indent="-342900">
              <a:buFont typeface="+mj-lt"/>
              <a:buAutoNum type="arabicPeriod"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3D-модель корпуса с учетом эргономики</a:t>
            </a:r>
          </a:p>
          <a:p>
            <a:pPr marL="342900" indent="-342900">
              <a:buFont typeface="+mj-lt"/>
              <a:buAutoNum type="arabicPeriod"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Распечатать и запрограммировать устройство</a:t>
            </a:r>
          </a:p>
          <a:p>
            <a:pPr marL="342900" indent="-342900">
              <a:buFont typeface="+mj-lt"/>
              <a:buAutoNum type="arabicPeriod"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Протестировать функциональность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A5BDCBD-3ED4-5058-EC0B-E05F263AF05E}"/>
              </a:ext>
            </a:extLst>
          </p:cNvPr>
          <p:cNvSpPr/>
          <p:nvPr/>
        </p:nvSpPr>
        <p:spPr>
          <a:xfrm rot="17251257">
            <a:off x="8887494" y="-5332016"/>
            <a:ext cx="4523020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568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72ED4-718C-8381-4407-942B35E9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EB125186-4F35-F01A-52F6-120B863DC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8150" y="3716515"/>
            <a:ext cx="3584086" cy="2106888"/>
          </a:xfrm>
          <a:prstGeom prst="rect">
            <a:avLst/>
          </a:prstGeom>
        </p:spPr>
      </p:pic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BBFE12A-36AB-BDD3-0938-05896BBD13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>
            <a:off x="11631168" y="-672235"/>
            <a:ext cx="560831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F089AC-BC09-1BDE-0391-737BEE66C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Выбор электрических компонентов и материалов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BBE68A6-3732-8153-C302-89AC6A57F416}"/>
              </a:ext>
            </a:extLst>
          </p:cNvPr>
          <p:cNvSpPr/>
          <p:nvPr/>
        </p:nvSpPr>
        <p:spPr>
          <a:xfrm>
            <a:off x="5390207" y="-71826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8D6350-1169-7BEF-E8BA-89ACBAE1D771}"/>
              </a:ext>
            </a:extLst>
          </p:cNvPr>
          <p:cNvSpPr txBox="1"/>
          <p:nvPr/>
        </p:nvSpPr>
        <p:spPr>
          <a:xfrm>
            <a:off x="5577230" y="213560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10922503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Picture 2" descr="Picture background">
            <a:extLst>
              <a:ext uri="{FF2B5EF4-FFF2-40B4-BE49-F238E27FC236}">
                <a16:creationId xmlns:a16="http://schemas.microsoft.com/office/drawing/2014/main" id="{526BC0D6-2C5C-8695-44D2-72E55BBB9A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9280" y="614136"/>
            <a:ext cx="2303482" cy="2303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6B143CE-F886-B956-E8C6-A2828840150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20" t="24789" r="15648" b="20972"/>
          <a:stretch/>
        </p:blipFill>
        <p:spPr>
          <a:xfrm>
            <a:off x="768481" y="993772"/>
            <a:ext cx="1844175" cy="1507995"/>
          </a:xfrm>
          <a:prstGeom prst="rect">
            <a:avLst/>
          </a:prstGeom>
        </p:spPr>
      </p:pic>
      <p:pic>
        <p:nvPicPr>
          <p:cNvPr id="9" name="Picture 4" descr="Picture background">
            <a:extLst>
              <a:ext uri="{FF2B5EF4-FFF2-40B4-BE49-F238E27FC236}">
                <a16:creationId xmlns:a16="http://schemas.microsoft.com/office/drawing/2014/main" id="{5C66CC17-CF8D-AEDD-4426-73E18A1117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062822">
            <a:off x="6484090" y="496957"/>
            <a:ext cx="2229615" cy="222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6" descr="https://avatars.mds.yandex.net/get-goods_pic/14045641/hat2c249d07c31a47bc42936a31d51ea9f8/orig">
            <a:extLst>
              <a:ext uri="{FF2B5EF4-FFF2-40B4-BE49-F238E27FC236}">
                <a16:creationId xmlns:a16="http://schemas.microsoft.com/office/drawing/2014/main" id="{AFA8C40E-32BC-2C12-7859-50C351EC00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3728" y="1341937"/>
            <a:ext cx="1088008" cy="942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EF5A205-C0C3-50FB-393C-E812356D1E88}"/>
              </a:ext>
            </a:extLst>
          </p:cNvPr>
          <p:cNvSpPr txBox="1"/>
          <p:nvPr/>
        </p:nvSpPr>
        <p:spPr>
          <a:xfrm>
            <a:off x="662960" y="2727983"/>
            <a:ext cx="43295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Гироскоп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MPU-6050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EF5A205-C0C3-50FB-393C-E812356D1E88}"/>
              </a:ext>
            </a:extLst>
          </p:cNvPr>
          <p:cNvSpPr txBox="1"/>
          <p:nvPr/>
        </p:nvSpPr>
        <p:spPr>
          <a:xfrm>
            <a:off x="3672771" y="2730887"/>
            <a:ext cx="21954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Микроконтроллер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Arduino Pro Micro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03B38A-0219-5638-6DD9-8D1FAB875EA3}"/>
              </a:ext>
            </a:extLst>
          </p:cNvPr>
          <p:cNvSpPr txBox="1"/>
          <p:nvPr/>
        </p:nvSpPr>
        <p:spPr>
          <a:xfrm>
            <a:off x="6500789" y="2830861"/>
            <a:ext cx="2382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Инкрементальный энкодер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EC11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244417-D6AE-CC68-BFA4-8C57AB583BE1}"/>
              </a:ext>
            </a:extLst>
          </p:cNvPr>
          <p:cNvSpPr txBox="1"/>
          <p:nvPr/>
        </p:nvSpPr>
        <p:spPr>
          <a:xfrm>
            <a:off x="9239187" y="2631599"/>
            <a:ext cx="20006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Тактовые кнопки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6C19204-A23D-4208-D74A-B162F6B3B37F}"/>
              </a:ext>
            </a:extLst>
          </p:cNvPr>
          <p:cNvSpPr txBox="1"/>
          <p:nvPr/>
        </p:nvSpPr>
        <p:spPr>
          <a:xfrm>
            <a:off x="4992463" y="5874532"/>
            <a:ext cx="21954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Термопластик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PETG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34379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72ED4-718C-8381-4407-942B35E9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>
            <a:off x="10515600" y="3700905"/>
            <a:ext cx="3484514" cy="3872415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BBFE12A-36AB-BDD3-0938-05896BBD13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олилиния 14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 rot="21104435">
            <a:off x="-680755" y="-501244"/>
            <a:ext cx="4963983" cy="8113974"/>
          </a:xfrm>
          <a:custGeom>
            <a:avLst/>
            <a:gdLst>
              <a:gd name="connsiteX0" fmla="*/ 4865268 w 4865268"/>
              <a:gd name="connsiteY0" fmla="*/ 0 h 8113974"/>
              <a:gd name="connsiteX1" fmla="*/ 4865268 w 4865268"/>
              <a:gd name="connsiteY1" fmla="*/ 8113974 h 8113974"/>
              <a:gd name="connsiteX2" fmla="*/ 0 w 4865268"/>
              <a:gd name="connsiteY2" fmla="*/ 8113974 h 8113974"/>
              <a:gd name="connsiteX3" fmla="*/ 0 w 4865268"/>
              <a:gd name="connsiteY3" fmla="*/ 7052045 h 8113974"/>
              <a:gd name="connsiteX4" fmla="*/ 97750 w 4865268"/>
              <a:gd name="connsiteY4" fmla="*/ 7066234 h 8113974"/>
              <a:gd name="connsiteX5" fmla="*/ 1082938 w 4865268"/>
              <a:gd name="connsiteY5" fmla="*/ 279367 h 8113974"/>
              <a:gd name="connsiteX6" fmla="*/ 0 w 4865268"/>
              <a:gd name="connsiteY6" fmla="*/ 122167 h 8113974"/>
              <a:gd name="connsiteX7" fmla="*/ 0 w 4865268"/>
              <a:gd name="connsiteY7" fmla="*/ 0 h 8113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865268" h="8113974">
                <a:moveTo>
                  <a:pt x="4865268" y="0"/>
                </a:moveTo>
                <a:lnTo>
                  <a:pt x="4865268" y="8113974"/>
                </a:lnTo>
                <a:lnTo>
                  <a:pt x="0" y="8113974"/>
                </a:lnTo>
                <a:lnTo>
                  <a:pt x="0" y="7052045"/>
                </a:lnTo>
                <a:lnTo>
                  <a:pt x="97750" y="7066234"/>
                </a:lnTo>
                <a:lnTo>
                  <a:pt x="1082938" y="279367"/>
                </a:lnTo>
                <a:lnTo>
                  <a:pt x="0" y="122167"/>
                </a:lnTo>
                <a:lnTo>
                  <a:pt x="0" y="0"/>
                </a:lnTo>
                <a:close/>
              </a:path>
            </a:pathLst>
          </a:cu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F089AC-BC09-1BDE-0391-737BEE66C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Процесс изготовления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BBE68A6-3732-8153-C302-89AC6A57F416}"/>
              </a:ext>
            </a:extLst>
          </p:cNvPr>
          <p:cNvSpPr/>
          <p:nvPr/>
        </p:nvSpPr>
        <p:spPr>
          <a:xfrm>
            <a:off x="2654783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8D6350-1169-7BEF-E8BA-89ACBAE1D771}"/>
              </a:ext>
            </a:extLst>
          </p:cNvPr>
          <p:cNvSpPr txBox="1"/>
          <p:nvPr/>
        </p:nvSpPr>
        <p:spPr>
          <a:xfrm>
            <a:off x="2784378" y="19555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4183911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992" y="819820"/>
            <a:ext cx="2902706" cy="1965186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7" y="2785006"/>
            <a:ext cx="2863367" cy="1865883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058" b="22463"/>
          <a:stretch/>
        </p:blipFill>
        <p:spPr>
          <a:xfrm>
            <a:off x="1285698" y="4650889"/>
            <a:ext cx="2505022" cy="2039512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 rot="1139157">
            <a:off x="9807594" y="4121353"/>
            <a:ext cx="3177309" cy="3820043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8654702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10541470" y="3737684"/>
            <a:ext cx="1954332" cy="812405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302" b="2669"/>
          <a:stretch/>
        </p:blipFill>
        <p:spPr>
          <a:xfrm>
            <a:off x="10122408" y="3799648"/>
            <a:ext cx="1980202" cy="2833324"/>
          </a:xfrm>
          <a:custGeom>
            <a:avLst/>
            <a:gdLst>
              <a:gd name="connsiteX0" fmla="*/ 475085 w 1980202"/>
              <a:gd name="connsiteY0" fmla="*/ 0 h 2833324"/>
              <a:gd name="connsiteX1" fmla="*/ 1980202 w 1980202"/>
              <a:gd name="connsiteY1" fmla="*/ 0 h 2833324"/>
              <a:gd name="connsiteX2" fmla="*/ 1980202 w 1980202"/>
              <a:gd name="connsiteY2" fmla="*/ 2833324 h 2833324"/>
              <a:gd name="connsiteX3" fmla="*/ 0 w 1980202"/>
              <a:gd name="connsiteY3" fmla="*/ 2833324 h 2833324"/>
              <a:gd name="connsiteX4" fmla="*/ 0 w 1980202"/>
              <a:gd name="connsiteY4" fmla="*/ 1366746 h 2833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80202" h="2833324">
                <a:moveTo>
                  <a:pt x="475085" y="0"/>
                </a:moveTo>
                <a:lnTo>
                  <a:pt x="1980202" y="0"/>
                </a:lnTo>
                <a:lnTo>
                  <a:pt x="1980202" y="2833324"/>
                </a:lnTo>
                <a:lnTo>
                  <a:pt x="0" y="2833324"/>
                </a:lnTo>
                <a:lnTo>
                  <a:pt x="0" y="1366746"/>
                </a:lnTo>
                <a:close/>
              </a:path>
            </a:pathLst>
          </a:custGeom>
        </p:spPr>
      </p:pic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633ACBD9-5E40-0E7A-A445-6E86BD3CA914}"/>
              </a:ext>
            </a:extLst>
          </p:cNvPr>
          <p:cNvGrpSpPr/>
          <p:nvPr/>
        </p:nvGrpSpPr>
        <p:grpSpPr>
          <a:xfrm>
            <a:off x="4866162" y="288685"/>
            <a:ext cx="4406458" cy="6035915"/>
            <a:chOff x="4922169" y="197597"/>
            <a:chExt cx="4232171" cy="5742689"/>
          </a:xfrm>
        </p:grpSpPr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8F0D6D56-E0BB-4B16-9B45-C5F36EA0908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22169" y="197597"/>
              <a:ext cx="4232171" cy="5742689"/>
            </a:xfrm>
            <a:prstGeom prst="rect">
              <a:avLst/>
            </a:prstGeom>
          </p:spPr>
        </p:pic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83AE0CD3-DBD1-7C68-4777-E3EA3D47E263}"/>
                </a:ext>
              </a:extLst>
            </p:cNvPr>
            <p:cNvSpPr/>
            <p:nvPr/>
          </p:nvSpPr>
          <p:spPr>
            <a:xfrm rot="5400000">
              <a:off x="6645343" y="2539712"/>
              <a:ext cx="4851111" cy="16688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006234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Взрыв - схема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0D8E95B-08D3-E8D8-CE53-CD07F9EC224A}"/>
              </a:ext>
            </a:extLst>
          </p:cNvPr>
          <p:cNvSpPr/>
          <p:nvPr/>
        </p:nvSpPr>
        <p:spPr>
          <a:xfrm>
            <a:off x="1811655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DAC9B-18CA-CB75-84C2-2AB8C4514128}"/>
              </a:ext>
            </a:extLst>
          </p:cNvPr>
          <p:cNvSpPr txBox="1"/>
          <p:nvPr/>
        </p:nvSpPr>
        <p:spPr>
          <a:xfrm>
            <a:off x="1976734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1719" y="197597"/>
            <a:ext cx="8069580" cy="5951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5866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A5BDCBD-3ED4-5058-EC0B-E05F263AF05E}"/>
              </a:ext>
            </a:extLst>
          </p:cNvPr>
          <p:cNvSpPr/>
          <p:nvPr/>
        </p:nvSpPr>
        <p:spPr>
          <a:xfrm>
            <a:off x="10954327" y="-672235"/>
            <a:ext cx="1237672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Ценообразование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0D8E95B-08D3-E8D8-CE53-CD07F9EC224A}"/>
              </a:ext>
            </a:extLst>
          </p:cNvPr>
          <p:cNvSpPr/>
          <p:nvPr/>
        </p:nvSpPr>
        <p:spPr>
          <a:xfrm>
            <a:off x="2193438" y="-821299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DAC9B-18CA-CB75-84C2-2AB8C4514128}"/>
              </a:ext>
            </a:extLst>
          </p:cNvPr>
          <p:cNvSpPr txBox="1"/>
          <p:nvPr/>
        </p:nvSpPr>
        <p:spPr>
          <a:xfrm>
            <a:off x="2350100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0E5DE26-4D9B-5C26-9E1A-51DE74FCA589}"/>
              </a:ext>
            </a:extLst>
          </p:cNvPr>
          <p:cNvSpPr/>
          <p:nvPr/>
        </p:nvSpPr>
        <p:spPr>
          <a:xfrm>
            <a:off x="10454637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7331428"/>
              </p:ext>
            </p:extLst>
          </p:nvPr>
        </p:nvGraphicFramePr>
        <p:xfrm>
          <a:off x="354515" y="980471"/>
          <a:ext cx="3062373" cy="501715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55459">
                  <a:extLst>
                    <a:ext uri="{9D8B030D-6E8A-4147-A177-3AD203B41FA5}">
                      <a16:colId xmlns:a16="http://schemas.microsoft.com/office/drawing/2014/main" val="3099359889"/>
                    </a:ext>
                  </a:extLst>
                </a:gridCol>
                <a:gridCol w="706914">
                  <a:extLst>
                    <a:ext uri="{9D8B030D-6E8A-4147-A177-3AD203B41FA5}">
                      <a16:colId xmlns:a16="http://schemas.microsoft.com/office/drawing/2014/main" val="2146182567"/>
                    </a:ext>
                  </a:extLst>
                </a:gridCol>
              </a:tblGrid>
              <a:tr h="107923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endParaRPr lang="ru-RU" sz="1200" b="0" kern="100" dirty="0">
                        <a:effectLst/>
                        <a:latin typeface="Bookman Old Style" panose="020506040505050202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Позиция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Стоимость, рубли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213522644"/>
                  </a:ext>
                </a:extLst>
              </a:tr>
              <a:tr h="1202834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Пластик </a:t>
                      </a:r>
                      <a:r>
                        <a:rPr lang="en-US" sz="1200" b="0" kern="100" dirty="0">
                          <a:effectLst/>
                          <a:latin typeface="Bookman Old Style" panose="02050604050505020204" pitchFamily="18" charset="0"/>
                        </a:rPr>
                        <a:t>PETG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 (330 г.), резиновые накладки и пружины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  <a:ea typeface="+mn-ea"/>
                          <a:cs typeface="+mn-cs"/>
                        </a:rPr>
                        <a:t>600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434116937"/>
                  </a:ext>
                </a:extLst>
              </a:tr>
              <a:tr h="221749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Электрические компоненты(гироскоп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MPU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-6050, тактовые кнопки, энкодер инкрементальный,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Arduino Pro Micro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780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729372049"/>
                  </a:ext>
                </a:extLst>
              </a:tr>
              <a:tr h="433054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Итого самодельная себестоимость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1380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040222044"/>
                  </a:ext>
                </a:extLst>
              </a:tr>
            </a:tbl>
          </a:graphicData>
        </a:graphic>
      </p:graphicFrame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4516487"/>
              </p:ext>
            </p:extLst>
          </p:nvPr>
        </p:nvGraphicFramePr>
        <p:xfrm>
          <a:off x="3806951" y="265755"/>
          <a:ext cx="6574755" cy="573187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88983">
                  <a:extLst>
                    <a:ext uri="{9D8B030D-6E8A-4147-A177-3AD203B41FA5}">
                      <a16:colId xmlns:a16="http://schemas.microsoft.com/office/drawing/2014/main" val="1747071466"/>
                    </a:ext>
                  </a:extLst>
                </a:gridCol>
                <a:gridCol w="1153466">
                  <a:extLst>
                    <a:ext uri="{9D8B030D-6E8A-4147-A177-3AD203B41FA5}">
                      <a16:colId xmlns:a16="http://schemas.microsoft.com/office/drawing/2014/main" val="492268831"/>
                    </a:ext>
                  </a:extLst>
                </a:gridCol>
                <a:gridCol w="2932306">
                  <a:extLst>
                    <a:ext uri="{9D8B030D-6E8A-4147-A177-3AD203B41FA5}">
                      <a16:colId xmlns:a16="http://schemas.microsoft.com/office/drawing/2014/main" val="3041403376"/>
                    </a:ext>
                  </a:extLst>
                </a:gridCol>
              </a:tblGrid>
              <a:tr h="68472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Позиция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Стоимость, рубли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Примечания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2797529198"/>
                  </a:ext>
                </a:extLst>
              </a:tr>
              <a:tr h="940875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Пластик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PETG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 (330 г.), резиновые накладки и пружины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510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Оптовая закупка (600 р., Снижение цены 15% при покупке оптом &gt;10 кг пластика или &gt;500 шт. пружин)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141505239"/>
                  </a:ext>
                </a:extLst>
              </a:tr>
              <a:tr h="1034473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Электрические компоненты(гироскоп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MPU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-6050, тактовые кнопки, энкодер инкрементальный,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Arduino Pro Micro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660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Оптовая закупка (780 р.,  Снижение на 15% при покупке оптом, &gt;250 штук каждого)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769889045"/>
                  </a:ext>
                </a:extLst>
              </a:tr>
              <a:tr h="11590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Печать на 3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D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 принтере и сборка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250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Использование промышленного принтера, а не домашнего(0.5 р./г вместо 1.2 р./г)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2767093221"/>
                  </a:ext>
                </a:extLst>
              </a:tr>
              <a:tr h="92190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Упаковка, логистика и маржинальные расходы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200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Включает цену упаковки, транспортировки, хранения и т.д. 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648659560"/>
                  </a:ext>
                </a:extLst>
              </a:tr>
              <a:tr h="68472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Итого промышленная</a:t>
                      </a:r>
                      <a:r>
                        <a:rPr lang="ru-RU" sz="1200" b="0" kern="100" baseline="0" dirty="0">
                          <a:effectLst/>
                          <a:latin typeface="Bookman Old Style" panose="02050604050505020204" pitchFamily="18" charset="0"/>
                        </a:rPr>
                        <a:t> 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стоимость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1620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 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23796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18989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A5BDCBD-3ED4-5058-EC0B-E05F263AF05E}"/>
              </a:ext>
            </a:extLst>
          </p:cNvPr>
          <p:cNvSpPr/>
          <p:nvPr/>
        </p:nvSpPr>
        <p:spPr>
          <a:xfrm rot="313685">
            <a:off x="7646174" y="-642333"/>
            <a:ext cx="5200789" cy="8137980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Итоги и самооценка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0D8E95B-08D3-E8D8-CE53-CD07F9EC224A}"/>
              </a:ext>
            </a:extLst>
          </p:cNvPr>
          <p:cNvSpPr/>
          <p:nvPr/>
        </p:nvSpPr>
        <p:spPr>
          <a:xfrm>
            <a:off x="2408047" y="-725379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DAC9B-18CA-CB75-84C2-2AB8C4514128}"/>
              </a:ext>
            </a:extLst>
          </p:cNvPr>
          <p:cNvSpPr txBox="1"/>
          <p:nvPr/>
        </p:nvSpPr>
        <p:spPr>
          <a:xfrm>
            <a:off x="2531766" y="216128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0E5DE26-4D9B-5C26-9E1A-51DE74FCA589}"/>
              </a:ext>
            </a:extLst>
          </p:cNvPr>
          <p:cNvSpPr/>
          <p:nvPr/>
        </p:nvSpPr>
        <p:spPr>
          <a:xfrm>
            <a:off x="7260335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3430" y="725378"/>
            <a:ext cx="3957955" cy="511226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9801" y="1113125"/>
            <a:ext cx="6943112" cy="1444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 работающий прототип, стабилизирующий мелкие движения и успешно заменяющий компьютерную мышь. 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Устройство не имеет колоссальной цены.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Учтены ключевые эргономические требования.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263" y="668706"/>
            <a:ext cx="2371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Итоги работы: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263" y="4674337"/>
            <a:ext cx="5876925" cy="797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9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Предполагается развитие проекта в будущем: интеграция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Bluetooth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5.3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48263" y="3359528"/>
            <a:ext cx="6623592" cy="797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9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Я считаю, что все поставленные задачи выполнены и устройство можно считать завершенным.</a:t>
            </a:r>
          </a:p>
        </p:txBody>
      </p:sp>
    </p:spTree>
    <p:extLst>
      <p:ext uri="{BB962C8B-B14F-4D97-AF65-F5344CB8AC3E}">
        <p14:creationId xmlns:p14="http://schemas.microsoft.com/office/powerpoint/2010/main" val="775198529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Ретро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932</TotalTime>
  <Words>382</Words>
  <Application>Microsoft Office PowerPoint</Application>
  <PresentationFormat>Широкоэкранный</PresentationFormat>
  <Paragraphs>82</Paragraphs>
  <Slides>9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5" baseType="lpstr">
      <vt:lpstr>Arial</vt:lpstr>
      <vt:lpstr>Bookman Old Style</vt:lpstr>
      <vt:lpstr>Calibri</vt:lpstr>
      <vt:lpstr>Calibri Light</vt:lpstr>
      <vt:lpstr>Times New Roman</vt:lpstr>
      <vt:lpstr>Ретро</vt:lpstr>
      <vt:lpstr>Презентация PowerPoint</vt:lpstr>
      <vt:lpstr>Причины создания проекта</vt:lpstr>
      <vt:lpstr>Рассмотрение аналогов</vt:lpstr>
      <vt:lpstr>Цели и задачи</vt:lpstr>
      <vt:lpstr>Выбор электрических компонентов и материалов</vt:lpstr>
      <vt:lpstr>Процесс изготовления</vt:lpstr>
      <vt:lpstr>Взрыв - схема</vt:lpstr>
      <vt:lpstr>Ценообразование</vt:lpstr>
      <vt:lpstr>Итоги и самооценка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Манипулятор для людей с  ограниченной моторикой рук</dc:title>
  <dc:creator>Андрей Пивоваров</dc:creator>
  <cp:lastModifiedBy>Андрей Пивоваров</cp:lastModifiedBy>
  <cp:revision>31</cp:revision>
  <dcterms:created xsi:type="dcterms:W3CDTF">2026-02-08T13:02:55Z</dcterms:created>
  <dcterms:modified xsi:type="dcterms:W3CDTF">2026-02-11T20:55:09Z</dcterms:modified>
</cp:coreProperties>
</file>