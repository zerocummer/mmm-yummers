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08.02.2026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E67CE6-09FF-3E05-770F-7A3E9CEE48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44648"/>
            <a:ext cx="9144000" cy="1305560"/>
          </a:xfrm>
        </p:spPr>
        <p:txBody>
          <a:bodyPr>
            <a:normAutofit/>
          </a:bodyPr>
          <a:lstStyle/>
          <a:p>
            <a:pPr algn="ctr"/>
            <a:r>
              <a:rPr lang="ru-RU" sz="3200" dirty="0">
                <a:latin typeface="Bookman Old Style" panose="02050604050505020204" pitchFamily="18" charset="0"/>
              </a:rPr>
              <a:t>Манипулятор для людей с</a:t>
            </a:r>
            <a:br>
              <a:rPr lang="ru-RU" sz="3200" dirty="0">
                <a:latin typeface="Bookman Old Style" panose="02050604050505020204" pitchFamily="18" charset="0"/>
              </a:rPr>
            </a:br>
            <a:r>
              <a:rPr lang="ru-RU" sz="3200" dirty="0">
                <a:latin typeface="Bookman Old Style" panose="02050604050505020204" pitchFamily="18" charset="0"/>
              </a:rPr>
              <a:t> ограниченной моторикой рук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264EBC-55D9-797E-85FB-CF5F151AB620}"/>
              </a:ext>
            </a:extLst>
          </p:cNvPr>
          <p:cNvSpPr txBox="1"/>
          <p:nvPr/>
        </p:nvSpPr>
        <p:spPr>
          <a:xfrm>
            <a:off x="5623560" y="6461235"/>
            <a:ext cx="2468880" cy="3154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50" dirty="0">
                <a:solidFill>
                  <a:schemeClr val="bg1"/>
                </a:solidFill>
                <a:latin typeface="Bookman Old Style" panose="02050604050505020204" pitchFamily="18" charset="0"/>
              </a:rPr>
              <a:t>Пивоваров Андрей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D49818-C97B-F3D4-2D67-125763F3C840}"/>
              </a:ext>
            </a:extLst>
          </p:cNvPr>
          <p:cNvSpPr txBox="1"/>
          <p:nvPr/>
        </p:nvSpPr>
        <p:spPr>
          <a:xfrm>
            <a:off x="7991856" y="6461236"/>
            <a:ext cx="4648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Bookman Old Style" panose="02050604050505020204" pitchFamily="18" charset="0"/>
              </a:rPr>
              <a:t>ГБОУ СОШ №1103 Имени А. В. Соломатина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075A8-1855-F355-7718-BB9AEB66D38F}"/>
              </a:ext>
            </a:extLst>
          </p:cNvPr>
          <p:cNvSpPr txBox="1"/>
          <p:nvPr/>
        </p:nvSpPr>
        <p:spPr>
          <a:xfrm>
            <a:off x="0" y="6466362"/>
            <a:ext cx="27157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Москва, 2026 год</a:t>
            </a:r>
          </a:p>
        </p:txBody>
      </p:sp>
    </p:spTree>
    <p:extLst>
      <p:ext uri="{BB962C8B-B14F-4D97-AF65-F5344CB8AC3E}">
        <p14:creationId xmlns:p14="http://schemas.microsoft.com/office/powerpoint/2010/main" val="29689400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4617720" y="494198"/>
            <a:ext cx="7325511" cy="5541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Множество людей в современном мире страдают от проблем с мелкой моторикой на подобии тремора, в результате инсульта, паркинсонизма, артрита, церебрального паралича или травм, и все они часто имеют трудности при коммуникации с цифровой средой, которая в наше время отвечает за поток информации, учебу, работу и многое другое. Для таких людей обыкновенные средства ввода часто становятся непреодолимым барьером.</a:t>
            </a:r>
          </a:p>
          <a:p>
            <a:pPr algn="just"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На рынке есть устройства которые в теории могут помочь при таком роде проблемы, однако они имеют критические недостатки. Высокая стоимость от 5 тыс. рублей, сложность настройки, необходимость в специальной подготовке пользователя, а также часто минимальная эффективность при треморе делает их неподходящими для пожилых людей или людей с ограниченными возможностями.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240595" y="-893004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Анализ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395728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486758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723902" y="746261"/>
            <a:ext cx="3034281" cy="2452122"/>
          </a:xfrm>
          <a:prstGeom prst="rect">
            <a:avLst/>
          </a:prstGeom>
        </p:spPr>
      </p:pic>
      <p:pic>
        <p:nvPicPr>
          <p:cNvPr id="1028" name="Picture 4" descr="Logitech Marble Trackball Mouse (910-000808) | 250000072601">
            <a:extLst>
              <a:ext uri="{FF2B5EF4-FFF2-40B4-BE49-F238E27FC236}">
                <a16:creationId xmlns:a16="http://schemas.microsoft.com/office/drawing/2014/main" id="{8813296E-A5AA-7C05-2EB8-E4320A46F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2920" y="862879"/>
            <a:ext cx="2573616" cy="2071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044" y="320485"/>
            <a:ext cx="3034281" cy="30342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408450" y="3616487"/>
            <a:ext cx="345877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Головной указатель 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Eye Gaze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Следит за движением глаз, не задействует руки, однако имеет сложную калибровку, высокую стоимость и сильные неточности при недостатке света.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361025" y="3577402"/>
            <a:ext cx="369984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Голосовой указатель</a:t>
            </a:r>
            <a:b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Dragon Naturally Speaking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Так же не задействует рук, но  нестабилен в шумной среде, имеет высокую стоимость и не подходит людям испытывающим проблемы с речью.</a:t>
            </a:r>
            <a:endParaRPr lang="en-US" sz="16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755380" y="3605844"/>
            <a:ext cx="29489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Trackball 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Logitech Marble</a:t>
            </a:r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</a:p>
          <a:p>
            <a:r>
              <a:rPr lang="ru-RU" sz="1600" dirty="0">
                <a:solidFill>
                  <a:schemeClr val="bg1"/>
                </a:solidFill>
                <a:latin typeface="Bookman Old Style" panose="02050604050505020204" pitchFamily="18" charset="0"/>
              </a:rPr>
              <a:t>Не задействует всю руку, однако требует точной мелкой моторики, что очень редко наблюдается у людей с тремором рук.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1C1815B-F396-BA02-D269-6D3991EDF780}"/>
              </a:ext>
            </a:extLst>
          </p:cNvPr>
          <p:cNvSpPr txBox="1"/>
          <p:nvPr/>
        </p:nvSpPr>
        <p:spPr>
          <a:xfrm>
            <a:off x="193548" y="5615920"/>
            <a:ext cx="118948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Анализ показал, что ни один из существующих аналогов не решает ключевую проблему: физическая стабилизация движения руки при сохранении интуитивного, привычного интерфейса.</a:t>
            </a:r>
          </a:p>
        </p:txBody>
      </p:sp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535936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708557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b="1" dirty="0">
                <a:latin typeface="Bookman Old Style" panose="02050604050505020204" pitchFamily="18" charset="0"/>
              </a:rPr>
              <a:t>Целью работы </a:t>
            </a:r>
            <a:r>
              <a:rPr lang="ru-RU" dirty="0">
                <a:latin typeface="Bookman Old Style" panose="02050604050505020204" pitchFamily="18" charset="0"/>
              </a:rPr>
              <a:t>является</a:t>
            </a:r>
            <a:r>
              <a:rPr lang="ru-RU" b="1" dirty="0">
                <a:latin typeface="Bookman Old Style" panose="02050604050505020204" pitchFamily="18" charset="0"/>
              </a:rPr>
              <a:t> </a:t>
            </a:r>
            <a:r>
              <a:rPr lang="ru-RU" dirty="0">
                <a:latin typeface="Bookman Old Style" panose="020506040505050202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832513" y="1402733"/>
            <a:ext cx="583387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Стабильное и точное управление курсором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Пассивную физическую стабилизацию руки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Отсутствие сложной калибровки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Работа в любой среде, с плохим освещением или в шумных местах по типу офиса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370832" y="3346533"/>
            <a:ext cx="5477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Задачи проекта: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617720" y="3531199"/>
            <a:ext cx="68122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buFont typeface="+mj-lt"/>
              <a:buAutoNum type="arabicPeriod"/>
            </a:pPr>
            <a:endParaRPr lang="ru-RU" dirty="0">
              <a:latin typeface="Bookman Old Style" panose="020506040505050202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Bookman Old Style" panose="02050604050505020204" pitchFamily="18" charset="0"/>
              </a:rPr>
              <a:t>Протестировать функциональность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7668980" y="-672235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766059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Выбор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720340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86664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494441" y="977552"/>
            <a:ext cx="74739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Для 3</a:t>
            </a:r>
            <a:r>
              <a:rPr lang="en-US" dirty="0">
                <a:latin typeface="Bookman Old Style" panose="02050604050505020204" pitchFamily="18" charset="0"/>
              </a:rPr>
              <a:t>D</a:t>
            </a:r>
            <a:r>
              <a:rPr lang="ru-RU" dirty="0">
                <a:latin typeface="Bookman Old Style" panose="02050604050505020204" pitchFamily="18" charset="0"/>
              </a:rPr>
              <a:t>-печати рассматривались следующие термопластики: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E0792-A0D1-8CA8-F159-C2272754789A}"/>
              </a:ext>
            </a:extLst>
          </p:cNvPr>
          <p:cNvSpPr txBox="1"/>
          <p:nvPr/>
        </p:nvSpPr>
        <p:spPr>
          <a:xfrm>
            <a:off x="1060337" y="1422892"/>
            <a:ext cx="7379574" cy="3650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PLA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легко печатается, биоразлагаем, но хрупок и имеет низкую температуру стеклования (~60°C), что неприемлемо для устройства, которое может остаться в автомобиле на солнце.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ABS </a:t>
            </a:r>
            <a:r>
              <a:rPr lang="en-US" dirty="0">
                <a:latin typeface="Bookman Old Style" panose="02050604050505020204" pitchFamily="18" charset="0"/>
              </a:rPr>
              <a:t>– </a:t>
            </a:r>
            <a:r>
              <a:rPr lang="ru-RU" dirty="0">
                <a:latin typeface="Bookman Old Style" panose="02050604050505020204" pitchFamily="18" charset="0"/>
              </a:rPr>
              <a:t>прочнее PLA, но склонен к деформациям при печати ведь требует закрытой камеры, и выделяет опасные испарения.</a:t>
            </a:r>
            <a:endParaRPr lang="en-US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dirty="0">
                <a:latin typeface="Bookman Old Style" panose="02050604050505020204" pitchFamily="18" charset="0"/>
              </a:rPr>
              <a:t>PETG </a:t>
            </a:r>
            <a:r>
              <a:rPr lang="en-US" dirty="0">
                <a:latin typeface="Bookman Old Style" panose="02050604050505020204" pitchFamily="18" charset="0"/>
              </a:rPr>
              <a:t>–</a:t>
            </a:r>
            <a:r>
              <a:rPr lang="ru-RU" dirty="0">
                <a:latin typeface="Bookman Old Style" panose="02050604050505020204" pitchFamily="18" charset="0"/>
              </a:rPr>
              <a:t> чуть менее прочный чем </a:t>
            </a:r>
            <a:r>
              <a:rPr lang="en-US" dirty="0">
                <a:latin typeface="Bookman Old Style" panose="02050604050505020204" pitchFamily="18" charset="0"/>
              </a:rPr>
              <a:t>ABS, </a:t>
            </a:r>
            <a:r>
              <a:rPr lang="ru-RU" dirty="0">
                <a:latin typeface="Bookman Old Style" panose="02050604050505020204" pitchFamily="18" charset="0"/>
              </a:rPr>
              <a:t>однако не выделяет опасных паров, прост в печати, имеет высокую ударную вязкость и химическую стойкость. 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8EABFF-670C-99BA-6911-B92A7CCEF0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896137" y="2432327"/>
            <a:ext cx="4075367" cy="23956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494441" y="5344687"/>
            <a:ext cx="80284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Был выбран </a:t>
            </a:r>
            <a:r>
              <a:rPr lang="en-US" dirty="0">
                <a:latin typeface="Bookman Old Style" panose="02050604050505020204" pitchFamily="18" charset="0"/>
              </a:rPr>
              <a:t>PETG </a:t>
            </a:r>
            <a:r>
              <a:rPr lang="ru-RU" dirty="0">
                <a:latin typeface="Bookman Old Style" panose="02050604050505020204" pitchFamily="18" charset="0"/>
              </a:rPr>
              <a:t>пластик(</a:t>
            </a:r>
            <a:r>
              <a:rPr lang="ru-RU" i="1" dirty="0">
                <a:latin typeface="Bookman Old Style" panose="02050604050505020204" pitchFamily="18" charset="0"/>
              </a:rPr>
              <a:t>Полиэтилентерефталат гликоль</a:t>
            </a:r>
            <a:r>
              <a:rPr lang="ru-RU" dirty="0">
                <a:latin typeface="Bookman Old Style" panose="02050604050505020204" pitchFamily="18" charset="0"/>
              </a:rPr>
              <a:t>), ведь он совмещает лучшие стороны своих конкурентов.</a:t>
            </a:r>
          </a:p>
        </p:txBody>
      </p:sp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295</TotalTime>
  <Words>436</Words>
  <Application>Microsoft Office PowerPoint</Application>
  <PresentationFormat>Широкоэкранный</PresentationFormat>
  <Paragraphs>41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Bookman Old Style</vt:lpstr>
      <vt:lpstr>Calibri</vt:lpstr>
      <vt:lpstr>Calibri Light</vt:lpstr>
      <vt:lpstr>Ретро</vt:lpstr>
      <vt:lpstr>Манипулятор для людей с  ограниченной моторикой рук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Андрей Пивоваров</dc:creator>
  <cp:lastModifiedBy>Андрей Пивоваров</cp:lastModifiedBy>
  <cp:revision>4</cp:revision>
  <dcterms:created xsi:type="dcterms:W3CDTF">2026-02-08T13:02:55Z</dcterms:created>
  <dcterms:modified xsi:type="dcterms:W3CDTF">2026-02-08T18:19:11Z</dcterms:modified>
</cp:coreProperties>
</file>