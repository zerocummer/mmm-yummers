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65" r:id="rId2"/>
    <p:sldId id="257" r:id="rId3"/>
    <p:sldId id="258" r:id="rId4"/>
    <p:sldId id="259" r:id="rId5"/>
    <p:sldId id="261" r:id="rId6"/>
    <p:sldId id="262" r:id="rId7"/>
    <p:sldId id="263" r:id="rId8"/>
    <p:sldId id="260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65"/>
            <p14:sldId id="257"/>
            <p14:sldId id="258"/>
            <p14:sldId id="259"/>
            <p14:sldId id="261"/>
            <p14:sldId id="262"/>
            <p14:sldId id="263"/>
            <p14:sldId id="260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 Windows" initials="ПW" lastIdx="1" clrIdx="0">
    <p:extLst>
      <p:ext uri="{19B8F6BF-5375-455C-9EA6-DF929625EA0E}">
        <p15:presenceInfo xmlns:p15="http://schemas.microsoft.com/office/powerpoint/2012/main" userId="Пользователь Window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09T10:34:21.973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F7A100-4B19-4A5B-B19D-7C22E5CF3150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6DCF1-7120-498E-94ED-383180DBAA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0863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6DCF1-7120-498E-94ED-383180DBAAA0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5579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/>
          <p:cNvSpPr txBox="1">
            <a:spLocks/>
          </p:cNvSpPr>
          <p:nvPr/>
        </p:nvSpPr>
        <p:spPr>
          <a:xfrm>
            <a:off x="2704337" y="2865858"/>
            <a:ext cx="6783325" cy="112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Манипулятор для людей с ограниченной моторикой рук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2844" y="6413611"/>
            <a:ext cx="1962888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  <a:latin typeface="Bookman Old Style" panose="02050604050505020204" pitchFamily="18" charset="0"/>
                <a:cs typeface="Arial" pitchFamily="34" charset="0"/>
              </a:rPr>
              <a:t>Москва, 2026</a:t>
            </a:r>
          </a:p>
        </p:txBody>
      </p:sp>
    </p:spTree>
    <p:extLst>
      <p:ext uri="{BB962C8B-B14F-4D97-AF65-F5344CB8AC3E}">
        <p14:creationId xmlns:p14="http://schemas.microsoft.com/office/powerpoint/2010/main" val="237531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209544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375660" y="193379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FC27AE-8F82-81F9-C985-CDA318D3822B}"/>
              </a:ext>
            </a:extLst>
          </p:cNvPr>
          <p:cNvSpPr txBox="1"/>
          <p:nvPr/>
        </p:nvSpPr>
        <p:spPr>
          <a:xfrm>
            <a:off x="4416552" y="1794638"/>
            <a:ext cx="6377940" cy="14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Цифровая среда недоступна для людей с ограниченной моторикой, ведь существующие решения имеют: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3A404E-2F5C-A308-9FF5-FB5EF244CA4A}"/>
              </a:ext>
            </a:extLst>
          </p:cNvPr>
          <p:cNvSpPr txBox="1"/>
          <p:nvPr/>
        </p:nvSpPr>
        <p:spPr>
          <a:xfrm>
            <a:off x="6010458" y="3181916"/>
            <a:ext cx="5338618" cy="1421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Высокую стоимость(от 5000 </a:t>
            </a:r>
            <a:r>
              <a:rPr lang="ru-RU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₽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Сложную настройку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Минимальную эффективность при треморе</a:t>
            </a:r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CC642A-1BAD-F187-0319-90BEBA77461E}"/>
              </a:ext>
            </a:extLst>
          </p:cNvPr>
          <p:cNvSpPr/>
          <p:nvPr/>
        </p:nvSpPr>
        <p:spPr>
          <a:xfrm rot="16200000">
            <a:off x="4240595" y="13821"/>
            <a:ext cx="3710809" cy="12362691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Рассмотрение аналогов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633C90-DCB0-83B2-1834-E27909E87AD0}"/>
              </a:ext>
            </a:extLst>
          </p:cNvPr>
          <p:cNvSpPr/>
          <p:nvPr/>
        </p:nvSpPr>
        <p:spPr>
          <a:xfrm>
            <a:off x="2734836" y="-761716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6C620-90DC-AACF-5250-754AC97750F5}"/>
              </a:ext>
            </a:extLst>
          </p:cNvPr>
          <p:cNvSpPr txBox="1"/>
          <p:nvPr/>
        </p:nvSpPr>
        <p:spPr>
          <a:xfrm>
            <a:off x="2872932" y="232183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045203-6221-1B1E-6C6C-E1EE0B032D31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2" t="3256" r="9392" b="6779"/>
          <a:stretch>
            <a:fillRect/>
          </a:stretch>
        </p:blipFill>
        <p:spPr>
          <a:xfrm>
            <a:off x="430941" y="996100"/>
            <a:ext cx="3528058" cy="2851163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9473" y="562710"/>
            <a:ext cx="3446524" cy="344652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E70A8C6-8A43-E305-795D-80B804D6CEB5}"/>
              </a:ext>
            </a:extLst>
          </p:cNvPr>
          <p:cNvSpPr txBox="1"/>
          <p:nvPr/>
        </p:nvSpPr>
        <p:spPr>
          <a:xfrm>
            <a:off x="0" y="5154014"/>
            <a:ext cx="39138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Головной указатель</a:t>
            </a:r>
            <a:b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Eye Gaze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DE38CE-892F-CE29-37E0-DB0CB6EBEDBB}"/>
              </a:ext>
            </a:extLst>
          </p:cNvPr>
          <p:cNvSpPr txBox="1"/>
          <p:nvPr/>
        </p:nvSpPr>
        <p:spPr>
          <a:xfrm>
            <a:off x="4044346" y="5134105"/>
            <a:ext cx="40129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</a:t>
            </a:r>
            <a:b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«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Dragon Naturally Speaking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FA5C41-551D-B803-6288-5D747657F30F}"/>
              </a:ext>
            </a:extLst>
          </p:cNvPr>
          <p:cNvSpPr txBox="1"/>
          <p:nvPr/>
        </p:nvSpPr>
        <p:spPr>
          <a:xfrm>
            <a:off x="8581967" y="5169145"/>
            <a:ext cx="36953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Планшет</a:t>
            </a: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Wacom Bamboo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pic>
        <p:nvPicPr>
          <p:cNvPr id="2050" name="Picture 2" descr="Wacom Bamboo Graphics Tablet Review and Rating">
            <a:extLst>
              <a:ext uri="{FF2B5EF4-FFF2-40B4-BE49-F238E27FC236}">
                <a16:creationId xmlns:a16="http://schemas.microsoft.com/office/drawing/2014/main" id="{B04DF9F1-29F2-EF6F-93C6-F7327EC025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720" y="996100"/>
            <a:ext cx="4026027" cy="2745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EE563A-335C-712A-9FB5-1557574909DB}"/>
              </a:ext>
            </a:extLst>
          </p:cNvPr>
          <p:cNvSpPr/>
          <p:nvPr/>
        </p:nvSpPr>
        <p:spPr>
          <a:xfrm>
            <a:off x="2023873" y="-768914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62A24-9C7F-1118-985F-7B49F4C35241}"/>
              </a:ext>
            </a:extLst>
          </p:cNvPr>
          <p:cNvSpPr txBox="1"/>
          <p:nvPr/>
        </p:nvSpPr>
        <p:spPr>
          <a:xfrm>
            <a:off x="2178409" y="140512"/>
            <a:ext cx="2081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E6AE28F-6826-E577-6D2F-42C00070F62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478535" y="863408"/>
            <a:ext cx="60411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Целью работы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является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1275588" y="1597015"/>
            <a:ext cx="58338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Стабильное и точное управление курсором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Пассивную физическую стабилизацию руки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сложной калибровки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в любой среде, с плохим освещением или в шумных местах по типу офиса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Имеющий приемлемую стоимость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4260193" y="3447154"/>
            <a:ext cx="547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проекта: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4928804" y="3540815"/>
            <a:ext cx="68122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Подобрать материалы и электрические компоненты</a:t>
            </a:r>
          </a:p>
          <a:p>
            <a:pPr marL="342900" indent="-342900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3D-модель корпуса с учетом эргономики</a:t>
            </a:r>
          </a:p>
          <a:p>
            <a:pPr marL="342900" indent="-342900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Распечатать и запрограммировать устройство</a:t>
            </a:r>
          </a:p>
          <a:p>
            <a:pPr marL="342900" indent="-342900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функциональность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17251257">
            <a:off x="8887494" y="-5332016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B125186-4F35-F01A-52F6-120B863D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150" y="3716515"/>
            <a:ext cx="3584086" cy="2106888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1631168" y="-672235"/>
            <a:ext cx="560831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Выбор электрических компонентов и материалов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5390207" y="-71826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5577230" y="213560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922503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Picture 2" descr="Picture background">
            <a:extLst>
              <a:ext uri="{FF2B5EF4-FFF2-40B4-BE49-F238E27FC236}">
                <a16:creationId xmlns:a16="http://schemas.microsoft.com/office/drawing/2014/main" id="{526BC0D6-2C5C-8695-44D2-72E55BBB9A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9280" y="614136"/>
            <a:ext cx="2303482" cy="230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6B143CE-F886-B956-E8C6-A2828840150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0" t="24789" r="15648" b="20972"/>
          <a:stretch/>
        </p:blipFill>
        <p:spPr>
          <a:xfrm>
            <a:off x="768481" y="993772"/>
            <a:ext cx="1844175" cy="1507995"/>
          </a:xfrm>
          <a:prstGeom prst="rect">
            <a:avLst/>
          </a:prstGeom>
        </p:spPr>
      </p:pic>
      <p:pic>
        <p:nvPicPr>
          <p:cNvPr id="9" name="Picture 4" descr="Picture background">
            <a:extLst>
              <a:ext uri="{FF2B5EF4-FFF2-40B4-BE49-F238E27FC236}">
                <a16:creationId xmlns:a16="http://schemas.microsoft.com/office/drawing/2014/main" id="{5C66CC17-CF8D-AEDD-4426-73E18A111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062822">
            <a:off x="6484090" y="496957"/>
            <a:ext cx="2229615" cy="222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https://avatars.mds.yandex.net/get-goods_pic/14045641/hat2c249d07c31a47bc42936a31d51ea9f8/orig">
            <a:extLst>
              <a:ext uri="{FF2B5EF4-FFF2-40B4-BE49-F238E27FC236}">
                <a16:creationId xmlns:a16="http://schemas.microsoft.com/office/drawing/2014/main" id="{AFA8C40E-32BC-2C12-7859-50C351EC0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3728" y="1341937"/>
            <a:ext cx="1088008" cy="942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EF5A205-C0C3-50FB-393C-E812356D1E88}"/>
              </a:ext>
            </a:extLst>
          </p:cNvPr>
          <p:cNvSpPr txBox="1"/>
          <p:nvPr/>
        </p:nvSpPr>
        <p:spPr>
          <a:xfrm>
            <a:off x="662960" y="2727983"/>
            <a:ext cx="4329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Гироскоп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MPU-6050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F5A205-C0C3-50FB-393C-E812356D1E88}"/>
              </a:ext>
            </a:extLst>
          </p:cNvPr>
          <p:cNvSpPr txBox="1"/>
          <p:nvPr/>
        </p:nvSpPr>
        <p:spPr>
          <a:xfrm>
            <a:off x="3672771" y="2730887"/>
            <a:ext cx="2195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Микроконтроллер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Pro Micro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03B38A-0219-5638-6DD9-8D1FAB875EA3}"/>
              </a:ext>
            </a:extLst>
          </p:cNvPr>
          <p:cNvSpPr txBox="1"/>
          <p:nvPr/>
        </p:nvSpPr>
        <p:spPr>
          <a:xfrm>
            <a:off x="6500789" y="2830861"/>
            <a:ext cx="238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Инкрементальный энкодер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EC11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244417-D6AE-CC68-BFA4-8C57AB583BE1}"/>
              </a:ext>
            </a:extLst>
          </p:cNvPr>
          <p:cNvSpPr txBox="1"/>
          <p:nvPr/>
        </p:nvSpPr>
        <p:spPr>
          <a:xfrm>
            <a:off x="9239187" y="2631599"/>
            <a:ext cx="2000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Тактовые кнопки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C19204-A23D-4208-D74A-B162F6B3B37F}"/>
              </a:ext>
            </a:extLst>
          </p:cNvPr>
          <p:cNvSpPr txBox="1"/>
          <p:nvPr/>
        </p:nvSpPr>
        <p:spPr>
          <a:xfrm>
            <a:off x="4992463" y="5874532"/>
            <a:ext cx="2195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Термопластик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PETG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0515600" y="3700905"/>
            <a:ext cx="3484514" cy="3872415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21104435">
            <a:off x="-680755" y="-501244"/>
            <a:ext cx="4963983" cy="8113974"/>
          </a:xfrm>
          <a:custGeom>
            <a:avLst/>
            <a:gdLst>
              <a:gd name="connsiteX0" fmla="*/ 4865268 w 4865268"/>
              <a:gd name="connsiteY0" fmla="*/ 0 h 8113974"/>
              <a:gd name="connsiteX1" fmla="*/ 4865268 w 4865268"/>
              <a:gd name="connsiteY1" fmla="*/ 8113974 h 8113974"/>
              <a:gd name="connsiteX2" fmla="*/ 0 w 4865268"/>
              <a:gd name="connsiteY2" fmla="*/ 8113974 h 8113974"/>
              <a:gd name="connsiteX3" fmla="*/ 0 w 4865268"/>
              <a:gd name="connsiteY3" fmla="*/ 7052045 h 8113974"/>
              <a:gd name="connsiteX4" fmla="*/ 97750 w 4865268"/>
              <a:gd name="connsiteY4" fmla="*/ 7066234 h 8113974"/>
              <a:gd name="connsiteX5" fmla="*/ 1082938 w 4865268"/>
              <a:gd name="connsiteY5" fmla="*/ 279367 h 8113974"/>
              <a:gd name="connsiteX6" fmla="*/ 0 w 4865268"/>
              <a:gd name="connsiteY6" fmla="*/ 122167 h 8113974"/>
              <a:gd name="connsiteX7" fmla="*/ 0 w 4865268"/>
              <a:gd name="connsiteY7" fmla="*/ 0 h 8113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65268" h="8113974">
                <a:moveTo>
                  <a:pt x="4865268" y="0"/>
                </a:moveTo>
                <a:lnTo>
                  <a:pt x="4865268" y="8113974"/>
                </a:lnTo>
                <a:lnTo>
                  <a:pt x="0" y="8113974"/>
                </a:lnTo>
                <a:lnTo>
                  <a:pt x="0" y="7052045"/>
                </a:lnTo>
                <a:lnTo>
                  <a:pt x="97750" y="7066234"/>
                </a:lnTo>
                <a:lnTo>
                  <a:pt x="1082938" y="279367"/>
                </a:lnTo>
                <a:lnTo>
                  <a:pt x="0" y="122167"/>
                </a:lnTo>
                <a:lnTo>
                  <a:pt x="0" y="0"/>
                </a:lnTo>
                <a:close/>
              </a:path>
            </a:pathLst>
          </a:cu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изготовления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2654783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2784378" y="19555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4183911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92" y="819820"/>
            <a:ext cx="2902706" cy="196518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7" y="2785006"/>
            <a:ext cx="2863367" cy="186588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58" b="22463"/>
          <a:stretch/>
        </p:blipFill>
        <p:spPr>
          <a:xfrm>
            <a:off x="1285698" y="4650889"/>
            <a:ext cx="2505022" cy="203951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1139157">
            <a:off x="9807594" y="4121353"/>
            <a:ext cx="3177309" cy="3820043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8654702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541470" y="3737684"/>
            <a:ext cx="1954332" cy="812405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302" b="2669"/>
          <a:stretch/>
        </p:blipFill>
        <p:spPr>
          <a:xfrm>
            <a:off x="10122408" y="3799648"/>
            <a:ext cx="1980202" cy="2833324"/>
          </a:xfrm>
          <a:custGeom>
            <a:avLst/>
            <a:gdLst>
              <a:gd name="connsiteX0" fmla="*/ 475085 w 1980202"/>
              <a:gd name="connsiteY0" fmla="*/ 0 h 2833324"/>
              <a:gd name="connsiteX1" fmla="*/ 1980202 w 1980202"/>
              <a:gd name="connsiteY1" fmla="*/ 0 h 2833324"/>
              <a:gd name="connsiteX2" fmla="*/ 1980202 w 1980202"/>
              <a:gd name="connsiteY2" fmla="*/ 2833324 h 2833324"/>
              <a:gd name="connsiteX3" fmla="*/ 0 w 1980202"/>
              <a:gd name="connsiteY3" fmla="*/ 2833324 h 2833324"/>
              <a:gd name="connsiteX4" fmla="*/ 0 w 1980202"/>
              <a:gd name="connsiteY4" fmla="*/ 1366746 h 2833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0202" h="2833324">
                <a:moveTo>
                  <a:pt x="475085" y="0"/>
                </a:moveTo>
                <a:lnTo>
                  <a:pt x="1980202" y="0"/>
                </a:lnTo>
                <a:lnTo>
                  <a:pt x="1980202" y="2833324"/>
                </a:lnTo>
                <a:lnTo>
                  <a:pt x="0" y="2833324"/>
                </a:lnTo>
                <a:lnTo>
                  <a:pt x="0" y="1366746"/>
                </a:lnTo>
                <a:close/>
              </a:path>
            </a:pathLst>
          </a:custGeom>
        </p:spPr>
      </p:pic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33ACBD9-5E40-0E7A-A445-6E86BD3CA914}"/>
              </a:ext>
            </a:extLst>
          </p:cNvPr>
          <p:cNvGrpSpPr/>
          <p:nvPr/>
        </p:nvGrpSpPr>
        <p:grpSpPr>
          <a:xfrm>
            <a:off x="4866162" y="288685"/>
            <a:ext cx="4406458" cy="6035915"/>
            <a:chOff x="4922169" y="197597"/>
            <a:chExt cx="4232171" cy="5742689"/>
          </a:xfrm>
        </p:grpSpPr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8F0D6D56-E0BB-4B16-9B45-C5F36EA09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2169" y="197597"/>
              <a:ext cx="4232171" cy="5742689"/>
            </a:xfrm>
            <a:prstGeom prst="rect">
              <a:avLst/>
            </a:prstGeom>
          </p:spPr>
        </p:pic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83AE0CD3-DBD1-7C68-4777-E3EA3D47E263}"/>
                </a:ext>
              </a:extLst>
            </p:cNvPr>
            <p:cNvSpPr/>
            <p:nvPr/>
          </p:nvSpPr>
          <p:spPr>
            <a:xfrm rot="5400000">
              <a:off x="6645343" y="2539712"/>
              <a:ext cx="4851111" cy="1668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006234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Взрыв - схема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1811655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1976734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719" y="197597"/>
            <a:ext cx="8069580" cy="595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586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>
            <a:off x="10954327" y="-672235"/>
            <a:ext cx="1237672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Ценообразование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193438" y="-82129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350100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10454637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331428"/>
              </p:ext>
            </p:extLst>
          </p:nvPr>
        </p:nvGraphicFramePr>
        <p:xfrm>
          <a:off x="354515" y="980471"/>
          <a:ext cx="3062373" cy="50171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55459">
                  <a:extLst>
                    <a:ext uri="{9D8B030D-6E8A-4147-A177-3AD203B41FA5}">
                      <a16:colId xmlns:a16="http://schemas.microsoft.com/office/drawing/2014/main" val="3099359889"/>
                    </a:ext>
                  </a:extLst>
                </a:gridCol>
                <a:gridCol w="706914">
                  <a:extLst>
                    <a:ext uri="{9D8B030D-6E8A-4147-A177-3AD203B41FA5}">
                      <a16:colId xmlns:a16="http://schemas.microsoft.com/office/drawing/2014/main" val="2146182567"/>
                    </a:ext>
                  </a:extLst>
                </a:gridCol>
              </a:tblGrid>
              <a:tr h="10792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ru-RU" sz="1200" b="0" kern="100" dirty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213522644"/>
                  </a:ext>
                </a:extLst>
              </a:tr>
              <a:tr h="1202834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  <a:ea typeface="+mn-ea"/>
                          <a:cs typeface="+mn-cs"/>
                        </a:rPr>
                        <a:t>600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434116937"/>
                  </a:ext>
                </a:extLst>
              </a:tr>
              <a:tr h="221749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780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729372049"/>
                  </a:ext>
                </a:extLst>
              </a:tr>
              <a:tr h="433054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самодельная себестоимость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1380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040222044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516487"/>
              </p:ext>
            </p:extLst>
          </p:nvPr>
        </p:nvGraphicFramePr>
        <p:xfrm>
          <a:off x="3806951" y="265755"/>
          <a:ext cx="6574755" cy="57318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8983">
                  <a:extLst>
                    <a:ext uri="{9D8B030D-6E8A-4147-A177-3AD203B41FA5}">
                      <a16:colId xmlns:a16="http://schemas.microsoft.com/office/drawing/2014/main" val="1747071466"/>
                    </a:ext>
                  </a:extLst>
                </a:gridCol>
                <a:gridCol w="1153466">
                  <a:extLst>
                    <a:ext uri="{9D8B030D-6E8A-4147-A177-3AD203B41FA5}">
                      <a16:colId xmlns:a16="http://schemas.microsoft.com/office/drawing/2014/main" val="492268831"/>
                    </a:ext>
                  </a:extLst>
                </a:gridCol>
                <a:gridCol w="2932306">
                  <a:extLst>
                    <a:ext uri="{9D8B030D-6E8A-4147-A177-3AD203B41FA5}">
                      <a16:colId xmlns:a16="http://schemas.microsoft.com/office/drawing/2014/main" val="3041403376"/>
                    </a:ext>
                  </a:extLst>
                </a:gridCol>
              </a:tblGrid>
              <a:tr h="6847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Примечания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97529198"/>
                  </a:ext>
                </a:extLst>
              </a:tr>
              <a:tr h="94087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510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Оптовая закупка (600 р., Снижение цены 15% при покупке оптом &gt;10 кг пластика или &gt;500 шт. пружин)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141505239"/>
                  </a:ext>
                </a:extLst>
              </a:tr>
              <a:tr h="10344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660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(780 р.,  Снижение на 15% при покупке оптом, &gt;250 штук каждого)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769889045"/>
                  </a:ext>
                </a:extLst>
              </a:tr>
              <a:tr h="11590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Печать на 3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D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принтере и сборка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250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Использование промышленного принтера, а не домашнего(0.5 р./г вместо 1.2 р./г)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67093221"/>
                  </a:ext>
                </a:extLst>
              </a:tr>
              <a:tr h="9219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Упаковка, логистика и маржинальные расходы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Включает цену упаковки, транспортировки, хранения и т.д. 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648659560"/>
                  </a:ext>
                </a:extLst>
              </a:tr>
              <a:tr h="6847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промышленная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1620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 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23796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313685">
            <a:off x="7646174" y="-642333"/>
            <a:ext cx="5200789" cy="8137980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Итоги и самооценка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408047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531766" y="21612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7260335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430" y="725378"/>
            <a:ext cx="3957955" cy="51122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9801" y="1113125"/>
            <a:ext cx="6943112" cy="1444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 работающий прототип, стабилизирующий мелкие движения и успешно заменяющий компьютерную мышь.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Устройство не имеет колоссальной цены.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Учтены ключевые эргономические требования.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263" y="668706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Итоги работы: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263" y="4674337"/>
            <a:ext cx="5876925" cy="797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Предполагается развитие проекта в будущем: интеграция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Bluetooth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5.3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8263" y="3359528"/>
            <a:ext cx="6623592" cy="797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 считаю, что все поставленные задачи выполнены и устройство можно считать завершенным.</a:t>
            </a:r>
          </a:p>
        </p:txBody>
      </p:sp>
    </p:spTree>
    <p:extLst>
      <p:ext uri="{BB962C8B-B14F-4D97-AF65-F5344CB8AC3E}">
        <p14:creationId xmlns:p14="http://schemas.microsoft.com/office/powerpoint/2010/main" val="77519852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918</TotalTime>
  <Words>377</Words>
  <Application>Microsoft Office PowerPoint</Application>
  <PresentationFormat>Широкоэкранный</PresentationFormat>
  <Paragraphs>81</Paragraphs>
  <Slides>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Bookman Old Style</vt:lpstr>
      <vt:lpstr>Calibri</vt:lpstr>
      <vt:lpstr>Calibri Light</vt:lpstr>
      <vt:lpstr>Times New Roman</vt:lpstr>
      <vt:lpstr>Ретро</vt:lpstr>
      <vt:lpstr>Презентация PowerPoint</vt:lpstr>
      <vt:lpstr>Причины создания проекта</vt:lpstr>
      <vt:lpstr>Рассмотрение аналогов</vt:lpstr>
      <vt:lpstr>Цели и задачи</vt:lpstr>
      <vt:lpstr>Выбор электрических компонентов и материалов</vt:lpstr>
      <vt:lpstr>Процесс изготовления</vt:lpstr>
      <vt:lpstr>Взрыв - схема</vt:lpstr>
      <vt:lpstr>Ценообразование</vt:lpstr>
      <vt:lpstr>Итоги и самооценка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Манипулятор для людей с  ограниченной моторикой рук</dc:title>
  <dc:creator>Андрей Пивоваров</dc:creator>
  <cp:lastModifiedBy>Андрей Пивоваров</cp:lastModifiedBy>
  <cp:revision>30</cp:revision>
  <dcterms:created xsi:type="dcterms:W3CDTF">2026-02-08T13:02:55Z</dcterms:created>
  <dcterms:modified xsi:type="dcterms:W3CDTF">2026-02-11T19:50:49Z</dcterms:modified>
</cp:coreProperties>
</file>