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DFA60C96-6CC5-44CA-B53D-1E5252E7293D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Пользователь Windows" initials="ПW" lastIdx="1" clrIdx="0">
    <p:extLst>
      <p:ext uri="{19B8F6BF-5375-455C-9EA6-DF929625EA0E}">
        <p15:presenceInfo xmlns:p15="http://schemas.microsoft.com/office/powerpoint/2012/main" userId="Пользователь Windows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D582C"/>
    <a:srgbClr val="E4831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80" d="100"/>
          <a:sy n="80" d="100"/>
        </p:scale>
        <p:origin x="754" y="12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2-09T10:34:21.973" idx="1">
    <p:pos x="10" y="10"/>
    <p:text/>
    <p:extLst>
      <p:ext uri="{C676402C-5697-4E1C-873F-D02D1690AC5C}">
        <p15:threadingInfo xmlns:p15="http://schemas.microsoft.com/office/powerpoint/2012/main" timeZoneBias="-180"/>
      </p:ext>
    </p:extLst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2D5D3-D9D5-4A9C-867E-F13F5DA2FF7F}" type="datetimeFigureOut">
              <a:rPr lang="ru-RU" smtClean="0"/>
              <a:t>09.02.2026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2EAA5-9F4C-404F-A3E0-557344B71894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22746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2D5D3-D9D5-4A9C-867E-F13F5DA2FF7F}" type="datetimeFigureOut">
              <a:rPr lang="ru-RU" smtClean="0"/>
              <a:t>09.02.2026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2EAA5-9F4C-404F-A3E0-557344B718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1288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2D5D3-D9D5-4A9C-867E-F13F5DA2FF7F}" type="datetimeFigureOut">
              <a:rPr lang="ru-RU" smtClean="0"/>
              <a:t>09.02.2026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2EAA5-9F4C-404F-A3E0-557344B71894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8662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2D5D3-D9D5-4A9C-867E-F13F5DA2FF7F}" type="datetimeFigureOut">
              <a:rPr lang="ru-RU" smtClean="0"/>
              <a:t>09.02.2026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2EAA5-9F4C-404F-A3E0-557344B718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79912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2D5D3-D9D5-4A9C-867E-F13F5DA2FF7F}" type="datetimeFigureOut">
              <a:rPr lang="ru-RU" smtClean="0"/>
              <a:t>09.02.2026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2EAA5-9F4C-404F-A3E0-557344B718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13845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2D5D3-D9D5-4A9C-867E-F13F5DA2FF7F}" type="datetimeFigureOut">
              <a:rPr lang="ru-RU" smtClean="0"/>
              <a:t>09.02.2026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2EAA5-9F4C-404F-A3E0-557344B718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58517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2D5D3-D9D5-4A9C-867E-F13F5DA2FF7F}" type="datetimeFigureOut">
              <a:rPr lang="ru-RU" smtClean="0"/>
              <a:t>09.02.2026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2EAA5-9F4C-404F-A3E0-557344B718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26518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BB72D5D3-D9D5-4A9C-867E-F13F5DA2FF7F}" type="datetimeFigureOut">
              <a:rPr lang="ru-RU" smtClean="0"/>
              <a:t>09.02.2026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422EAA5-9F4C-404F-A3E0-557344B718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940518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2D5D3-D9D5-4A9C-867E-F13F5DA2FF7F}" type="datetimeFigureOut">
              <a:rPr lang="ru-RU" smtClean="0"/>
              <a:t>09.02.2026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2EAA5-9F4C-404F-A3E0-557344B718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67614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2D5D3-D9D5-4A9C-867E-F13F5DA2FF7F}" type="datetimeFigureOut">
              <a:rPr lang="ru-RU" smtClean="0"/>
              <a:t>09.02.2026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2EAA5-9F4C-404F-A3E0-557344B718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54660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2D5D3-D9D5-4A9C-867E-F13F5DA2FF7F}" type="datetimeFigureOut">
              <a:rPr lang="ru-RU" smtClean="0"/>
              <a:t>09.02.2026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2EAA5-9F4C-404F-A3E0-557344B718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817063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BB72D5D3-D9D5-4A9C-867E-F13F5DA2FF7F}" type="datetimeFigureOut">
              <a:rPr lang="ru-RU" smtClean="0"/>
              <a:t>09.02.2026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3422EAA5-9F4C-404F-A3E0-557344B71894}" type="slidenum">
              <a:rPr lang="ru-RU" smtClean="0"/>
              <a:t>‹#›</a:t>
            </a:fld>
            <a:endParaRPr lang="ru-RU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95907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jpg"/><Relationship Id="rId4" Type="http://schemas.openxmlformats.org/officeDocument/2006/relationships/image" Target="../media/image10.jp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E67CE6-09FF-3E05-770F-7A3E9CEE48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644648"/>
            <a:ext cx="9144000" cy="1305560"/>
          </a:xfrm>
        </p:spPr>
        <p:txBody>
          <a:bodyPr>
            <a:normAutofit/>
          </a:bodyPr>
          <a:lstStyle/>
          <a:p>
            <a:pPr algn="ctr"/>
            <a:r>
              <a:rPr lang="ru-RU" sz="3200" dirty="0">
                <a:latin typeface="Bookman Old Style" panose="02050604050505020204" pitchFamily="18" charset="0"/>
              </a:rPr>
              <a:t>Манипулятор для людей с</a:t>
            </a:r>
            <a:br>
              <a:rPr lang="ru-RU" sz="3200" dirty="0">
                <a:latin typeface="Bookman Old Style" panose="02050604050505020204" pitchFamily="18" charset="0"/>
              </a:rPr>
            </a:br>
            <a:r>
              <a:rPr lang="ru-RU" sz="3200" dirty="0">
                <a:latin typeface="Bookman Old Style" panose="02050604050505020204" pitchFamily="18" charset="0"/>
              </a:rPr>
              <a:t> ограниченной моторикой рук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264EBC-55D9-797E-85FB-CF5F151AB620}"/>
              </a:ext>
            </a:extLst>
          </p:cNvPr>
          <p:cNvSpPr txBox="1"/>
          <p:nvPr/>
        </p:nvSpPr>
        <p:spPr>
          <a:xfrm>
            <a:off x="5623560" y="6461235"/>
            <a:ext cx="2468880" cy="3154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50" dirty="0">
                <a:solidFill>
                  <a:schemeClr val="bg1"/>
                </a:solidFill>
                <a:latin typeface="Bookman Old Style" panose="02050604050505020204" pitchFamily="18" charset="0"/>
              </a:rPr>
              <a:t>Пивоваров Андрей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D49818-C97B-F3D4-2D67-125763F3C840}"/>
              </a:ext>
            </a:extLst>
          </p:cNvPr>
          <p:cNvSpPr txBox="1"/>
          <p:nvPr/>
        </p:nvSpPr>
        <p:spPr>
          <a:xfrm>
            <a:off x="7991856" y="6461236"/>
            <a:ext cx="4648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solidFill>
                  <a:schemeClr val="bg1"/>
                </a:solidFill>
                <a:latin typeface="Bookman Old Style" panose="02050604050505020204" pitchFamily="18" charset="0"/>
              </a:rPr>
              <a:t>ГБОУ СОШ №1103 Имени А. В. Соломатина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D075A8-1855-F355-7718-BB9AEB66D38F}"/>
              </a:ext>
            </a:extLst>
          </p:cNvPr>
          <p:cNvSpPr txBox="1"/>
          <p:nvPr/>
        </p:nvSpPr>
        <p:spPr>
          <a:xfrm>
            <a:off x="0" y="6466362"/>
            <a:ext cx="27157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solidFill>
                  <a:schemeClr val="bg1"/>
                </a:solidFill>
                <a:latin typeface="Bookman Old Style" panose="02050604050505020204" pitchFamily="18" charset="0"/>
              </a:rPr>
              <a:t>Москва, 2026 год</a:t>
            </a:r>
          </a:p>
        </p:txBody>
      </p:sp>
    </p:spTree>
    <p:extLst>
      <p:ext uri="{BB962C8B-B14F-4D97-AF65-F5344CB8AC3E}">
        <p14:creationId xmlns:p14="http://schemas.microsoft.com/office/powerpoint/2010/main" val="29689400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C073F2AC-1D3E-65DE-AB0A-C212A6265137}"/>
              </a:ext>
            </a:extLst>
          </p:cNvPr>
          <p:cNvSpPr/>
          <p:nvPr/>
        </p:nvSpPr>
        <p:spPr>
          <a:xfrm>
            <a:off x="1124712" y="1682496"/>
            <a:ext cx="10113264" cy="1305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BCAFEF3F-4705-EBBF-BBFE-4A46FC6D3C7C}"/>
              </a:ext>
            </a:extLst>
          </p:cNvPr>
          <p:cNvSpPr/>
          <p:nvPr/>
        </p:nvSpPr>
        <p:spPr>
          <a:xfrm rot="242104">
            <a:off x="-267851" y="-599084"/>
            <a:ext cx="4523020" cy="7668347"/>
          </a:xfrm>
          <a:prstGeom prst="rect">
            <a:avLst/>
          </a:prstGeom>
          <a:solidFill>
            <a:srgbClr val="BD582C"/>
          </a:solidFill>
          <a:ln w="57150">
            <a:solidFill>
              <a:srgbClr val="E483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396CF4-C7D4-192D-CC89-BD4DC730C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6" y="-819821"/>
            <a:ext cx="10012682" cy="1386750"/>
          </a:xfrm>
        </p:spPr>
        <p:txBody>
          <a:bodyPr>
            <a:normAutofit/>
          </a:bodyPr>
          <a:lstStyle/>
          <a:p>
            <a:r>
              <a:rPr lang="ru-RU" sz="2000" dirty="0">
                <a:solidFill>
                  <a:schemeClr val="bg1"/>
                </a:solidFill>
                <a:latin typeface="Bookman Old Style" panose="02050604050505020204" pitchFamily="18" charset="0"/>
              </a:rPr>
              <a:t>Причины создания проекта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D744B027-C67A-3043-F81B-6FE3D0413332}"/>
              </a:ext>
            </a:extLst>
          </p:cNvPr>
          <p:cNvSpPr/>
          <p:nvPr/>
        </p:nvSpPr>
        <p:spPr>
          <a:xfrm>
            <a:off x="3730752" y="-819821"/>
            <a:ext cx="45719" cy="1450757"/>
          </a:xfrm>
          <a:prstGeom prst="rect">
            <a:avLst/>
          </a:prstGeom>
          <a:noFill/>
          <a:ln>
            <a:solidFill>
              <a:srgbClr val="E483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DB092F-18C6-58A7-64AA-417BF4857BD2}"/>
              </a:ext>
            </a:extLst>
          </p:cNvPr>
          <p:cNvSpPr txBox="1"/>
          <p:nvPr/>
        </p:nvSpPr>
        <p:spPr>
          <a:xfrm>
            <a:off x="3826763" y="197597"/>
            <a:ext cx="2081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  <a:latin typeface="Bookman Old Style" panose="02050604050505020204" pitchFamily="18" charset="0"/>
              </a:rPr>
              <a:t>2</a:t>
            </a:r>
          </a:p>
        </p:txBody>
      </p:sp>
      <p:pic>
        <p:nvPicPr>
          <p:cNvPr id="9" name="Объект 8">
            <a:extLst>
              <a:ext uri="{FF2B5EF4-FFF2-40B4-BE49-F238E27FC236}">
                <a16:creationId xmlns:a16="http://schemas.microsoft.com/office/drawing/2014/main" id="{8F98E384-3FA1-D8A4-DF46-FDC741AFF2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736" y="1187319"/>
            <a:ext cx="3569232" cy="2376174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5339E313-2974-13F9-0F78-AE4EEE51E802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834" y="3774482"/>
            <a:ext cx="3565134" cy="237617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688D54D-CE18-D886-E409-CC353FBDB53A}"/>
              </a:ext>
            </a:extLst>
          </p:cNvPr>
          <p:cNvSpPr txBox="1"/>
          <p:nvPr/>
        </p:nvSpPr>
        <p:spPr>
          <a:xfrm>
            <a:off x="4617720" y="494198"/>
            <a:ext cx="7325511" cy="5541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1700" dirty="0">
                <a:latin typeface="Bookman Old Style" panose="02050604050505020204" pitchFamily="18" charset="0"/>
              </a:rPr>
              <a:t>Множество людей в современном мире страдают от проблем с мелкой моторикой на подобии тремора, в результате инсульта, паркинсонизма, артрита, церебрального паралича или травм, и все они часто имеют трудности при коммуникации с цифровой средой, которая в наше время отвечает за поток информации, учебу, работу и многое другое. Для таких людей обыкновенные средства ввода часто становятся непреодолимым барьером.</a:t>
            </a:r>
          </a:p>
          <a:p>
            <a:pPr algn="just">
              <a:lnSpc>
                <a:spcPct val="150000"/>
              </a:lnSpc>
            </a:pPr>
            <a:r>
              <a:rPr lang="ru-RU" sz="1700" dirty="0">
                <a:latin typeface="Bookman Old Style" panose="02050604050505020204" pitchFamily="18" charset="0"/>
              </a:rPr>
              <a:t>На рынке есть устройства которые в теории могут помочь при таком роде проблемы, однако они имеют критические недостатки. Высокая стоимость от 5 тыс. рублей, сложность настройки, необходимость в специальной подготовке пользователя, а также часто минимальная эффективность при треморе делает их неподходящими для пожилых людей или людей с ограниченными возможностями.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ACA20AE0-8EF3-C3FF-FCB9-288D5E19BCF6}"/>
              </a:ext>
            </a:extLst>
          </p:cNvPr>
          <p:cNvSpPr/>
          <p:nvPr/>
        </p:nvSpPr>
        <p:spPr>
          <a:xfrm>
            <a:off x="3657599" y="6407945"/>
            <a:ext cx="960121" cy="450056"/>
          </a:xfrm>
          <a:prstGeom prst="rect">
            <a:avLst/>
          </a:prstGeom>
          <a:solidFill>
            <a:srgbClr val="BD582C"/>
          </a:solidFill>
          <a:ln>
            <a:solidFill>
              <a:srgbClr val="BD582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8502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2C43A-2B39-8512-A888-74E974DD85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40F1C7C3-9F88-3FC4-B00E-651E1E9EA536}"/>
              </a:ext>
            </a:extLst>
          </p:cNvPr>
          <p:cNvSpPr/>
          <p:nvPr/>
        </p:nvSpPr>
        <p:spPr>
          <a:xfrm>
            <a:off x="1124712" y="1682496"/>
            <a:ext cx="10113264" cy="1305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66CC642A-1BAD-F187-0319-90BEBA77461E}"/>
              </a:ext>
            </a:extLst>
          </p:cNvPr>
          <p:cNvSpPr/>
          <p:nvPr/>
        </p:nvSpPr>
        <p:spPr>
          <a:xfrm rot="16200000">
            <a:off x="4240595" y="-893004"/>
            <a:ext cx="3710809" cy="12362691"/>
          </a:xfrm>
          <a:prstGeom prst="rect">
            <a:avLst/>
          </a:prstGeom>
          <a:solidFill>
            <a:srgbClr val="BD582C"/>
          </a:solidFill>
          <a:ln w="57150">
            <a:solidFill>
              <a:srgbClr val="E483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ECAE8C-08D8-46FB-96DE-D4106AA87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6" y="-819821"/>
            <a:ext cx="10012682" cy="1386750"/>
          </a:xfrm>
        </p:spPr>
        <p:txBody>
          <a:bodyPr>
            <a:normAutofit/>
          </a:bodyPr>
          <a:lstStyle/>
          <a:p>
            <a:r>
              <a:rPr lang="ru-RU" sz="2000" dirty="0">
                <a:solidFill>
                  <a:schemeClr val="tx1"/>
                </a:solidFill>
                <a:latin typeface="Bookman Old Style" panose="02050604050505020204" pitchFamily="18" charset="0"/>
              </a:rPr>
              <a:t>Анализ аналогов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EB633C90-DCB0-83B2-1834-E27909E87AD0}"/>
              </a:ext>
            </a:extLst>
          </p:cNvPr>
          <p:cNvSpPr/>
          <p:nvPr/>
        </p:nvSpPr>
        <p:spPr>
          <a:xfrm>
            <a:off x="2395728" y="-819821"/>
            <a:ext cx="45719" cy="1450757"/>
          </a:xfrm>
          <a:prstGeom prst="rect">
            <a:avLst/>
          </a:prstGeom>
          <a:noFill/>
          <a:ln>
            <a:solidFill>
              <a:srgbClr val="E483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76C620-90DC-AACF-5250-754AC97750F5}"/>
              </a:ext>
            </a:extLst>
          </p:cNvPr>
          <p:cNvSpPr txBox="1"/>
          <p:nvPr/>
        </p:nvSpPr>
        <p:spPr>
          <a:xfrm>
            <a:off x="2486758" y="193378"/>
            <a:ext cx="2081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Bookman Old Style" panose="02050604050505020204" pitchFamily="18" charset="0"/>
              </a:rPr>
              <a:t>3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F4045203-6221-1B1E-6C6C-E1EE0B032D31}"/>
              </a:ext>
            </a:extLst>
          </p:cNvPr>
          <p:cNvSpPr/>
          <p:nvPr/>
        </p:nvSpPr>
        <p:spPr>
          <a:xfrm>
            <a:off x="3657599" y="6407945"/>
            <a:ext cx="960121" cy="450056"/>
          </a:xfrm>
          <a:prstGeom prst="rect">
            <a:avLst/>
          </a:prstGeom>
          <a:solidFill>
            <a:srgbClr val="BD582C"/>
          </a:solidFill>
          <a:ln>
            <a:solidFill>
              <a:srgbClr val="BD582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717017A5-9C63-F306-C2B8-260D27A6073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762" t="3256" r="9392" b="6779"/>
          <a:stretch>
            <a:fillRect/>
          </a:stretch>
        </p:blipFill>
        <p:spPr>
          <a:xfrm>
            <a:off x="723902" y="746261"/>
            <a:ext cx="3034281" cy="2452122"/>
          </a:xfrm>
          <a:prstGeom prst="rect">
            <a:avLst/>
          </a:prstGeom>
        </p:spPr>
      </p:pic>
      <p:pic>
        <p:nvPicPr>
          <p:cNvPr id="1028" name="Picture 4" descr="Logitech Marble Trackball Mouse (910-000808) | 250000072601">
            <a:extLst>
              <a:ext uri="{FF2B5EF4-FFF2-40B4-BE49-F238E27FC236}">
                <a16:creationId xmlns:a16="http://schemas.microsoft.com/office/drawing/2014/main" id="{8813296E-A5AA-7C05-2EB8-E4320A46F8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2920" y="862879"/>
            <a:ext cx="2573616" cy="20718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A4AEA7E9-027E-7F21-B7B6-0971678743F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7044" y="320485"/>
            <a:ext cx="3034281" cy="3034281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FE70A8C6-8A43-E305-795D-80B804D6CEB5}"/>
              </a:ext>
            </a:extLst>
          </p:cNvPr>
          <p:cNvSpPr txBox="1"/>
          <p:nvPr/>
        </p:nvSpPr>
        <p:spPr>
          <a:xfrm>
            <a:off x="408450" y="3616487"/>
            <a:ext cx="345877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solidFill>
                  <a:schemeClr val="bg1"/>
                </a:solidFill>
                <a:latin typeface="Bookman Old Style" panose="02050604050505020204" pitchFamily="18" charset="0"/>
              </a:rPr>
              <a:t>Головной указатель «</a:t>
            </a:r>
            <a:r>
              <a:rPr lang="en-US" sz="1600" dirty="0">
                <a:solidFill>
                  <a:schemeClr val="bg1"/>
                </a:solidFill>
                <a:latin typeface="Bookman Old Style" panose="02050604050505020204" pitchFamily="18" charset="0"/>
              </a:rPr>
              <a:t>Eye Gaze</a:t>
            </a:r>
            <a:r>
              <a:rPr lang="ru-RU" sz="1600" dirty="0">
                <a:solidFill>
                  <a:schemeClr val="bg1"/>
                </a:solidFill>
                <a:latin typeface="Bookman Old Style" panose="02050604050505020204" pitchFamily="18" charset="0"/>
              </a:rPr>
              <a:t>»</a:t>
            </a:r>
            <a:br>
              <a:rPr lang="ru-RU" sz="1600" dirty="0">
                <a:solidFill>
                  <a:schemeClr val="bg1"/>
                </a:solidFill>
                <a:latin typeface="Bookman Old Style" panose="02050604050505020204" pitchFamily="18" charset="0"/>
              </a:rPr>
            </a:br>
            <a:r>
              <a:rPr lang="ru-RU" sz="1600" dirty="0">
                <a:solidFill>
                  <a:schemeClr val="bg1"/>
                </a:solidFill>
                <a:latin typeface="Bookman Old Style" panose="02050604050505020204" pitchFamily="18" charset="0"/>
              </a:rPr>
              <a:t>Следит за движением глаз, не задействует руки, однако имеет сложную калибровку, высокую стоимость и сильные неточности при недостатке света.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3DE38CE-892F-CE29-37E0-DB0CB6EBEDBB}"/>
              </a:ext>
            </a:extLst>
          </p:cNvPr>
          <p:cNvSpPr txBox="1"/>
          <p:nvPr/>
        </p:nvSpPr>
        <p:spPr>
          <a:xfrm>
            <a:off x="4361025" y="3577402"/>
            <a:ext cx="369984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solidFill>
                  <a:schemeClr val="bg1"/>
                </a:solidFill>
                <a:latin typeface="Bookman Old Style" panose="02050604050505020204" pitchFamily="18" charset="0"/>
              </a:rPr>
              <a:t>Голосовой указатель</a:t>
            </a:r>
            <a:br>
              <a:rPr lang="ru-RU" sz="1600" dirty="0">
                <a:solidFill>
                  <a:schemeClr val="bg1"/>
                </a:solidFill>
                <a:latin typeface="Bookman Old Style" panose="02050604050505020204" pitchFamily="18" charset="0"/>
              </a:rPr>
            </a:br>
            <a:r>
              <a:rPr lang="ru-RU" sz="1600" dirty="0">
                <a:solidFill>
                  <a:schemeClr val="bg1"/>
                </a:solidFill>
                <a:latin typeface="Bookman Old Style" panose="02050604050505020204" pitchFamily="18" charset="0"/>
              </a:rPr>
              <a:t>«</a:t>
            </a:r>
            <a:r>
              <a:rPr lang="en-US" sz="1600" dirty="0">
                <a:solidFill>
                  <a:schemeClr val="bg1"/>
                </a:solidFill>
                <a:latin typeface="Bookman Old Style" panose="02050604050505020204" pitchFamily="18" charset="0"/>
              </a:rPr>
              <a:t>Dragon Naturally Speaking</a:t>
            </a:r>
            <a:r>
              <a:rPr lang="ru-RU" sz="1600" dirty="0">
                <a:solidFill>
                  <a:schemeClr val="bg1"/>
                </a:solidFill>
                <a:latin typeface="Bookman Old Style" panose="02050604050505020204" pitchFamily="18" charset="0"/>
              </a:rPr>
              <a:t>»</a:t>
            </a:r>
            <a:endParaRPr lang="en-US" sz="1600" dirty="0">
              <a:solidFill>
                <a:schemeClr val="bg1"/>
              </a:solidFill>
              <a:latin typeface="Bookman Old Style" panose="02050604050505020204" pitchFamily="18" charset="0"/>
            </a:endParaRPr>
          </a:p>
          <a:p>
            <a:r>
              <a:rPr lang="ru-RU" sz="1600" dirty="0">
                <a:solidFill>
                  <a:schemeClr val="bg1"/>
                </a:solidFill>
                <a:latin typeface="Bookman Old Style" panose="02050604050505020204" pitchFamily="18" charset="0"/>
              </a:rPr>
              <a:t>Так же не задействует рук, но  нестабилен в шумной среде, имеет высокую стоимость и не подходит людям испытывающим проблемы с речью.</a:t>
            </a:r>
            <a:endParaRPr lang="en-US" sz="1600" dirty="0">
              <a:solidFill>
                <a:schemeClr val="bg1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BFA5C41-551D-B803-6288-5D747657F30F}"/>
              </a:ext>
            </a:extLst>
          </p:cNvPr>
          <p:cNvSpPr txBox="1"/>
          <p:nvPr/>
        </p:nvSpPr>
        <p:spPr>
          <a:xfrm>
            <a:off x="8755380" y="3605844"/>
            <a:ext cx="294894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Bookman Old Style" panose="02050604050505020204" pitchFamily="18" charset="0"/>
              </a:rPr>
              <a:t>Trackball </a:t>
            </a:r>
            <a:r>
              <a:rPr lang="ru-RU" sz="1600" dirty="0">
                <a:solidFill>
                  <a:schemeClr val="bg1"/>
                </a:solidFill>
                <a:latin typeface="Bookman Old Style" panose="02050604050505020204" pitchFamily="18" charset="0"/>
              </a:rPr>
              <a:t>«</a:t>
            </a:r>
            <a:r>
              <a:rPr lang="en-US" sz="1600" dirty="0">
                <a:solidFill>
                  <a:schemeClr val="bg1"/>
                </a:solidFill>
                <a:latin typeface="Bookman Old Style" panose="02050604050505020204" pitchFamily="18" charset="0"/>
              </a:rPr>
              <a:t>Logitech Marble</a:t>
            </a:r>
            <a:r>
              <a:rPr lang="ru-RU" sz="1600" dirty="0">
                <a:solidFill>
                  <a:schemeClr val="bg1"/>
                </a:solidFill>
                <a:latin typeface="Bookman Old Style" panose="02050604050505020204" pitchFamily="18" charset="0"/>
              </a:rPr>
              <a:t>»</a:t>
            </a:r>
          </a:p>
          <a:p>
            <a:r>
              <a:rPr lang="ru-RU" sz="1600" dirty="0">
                <a:solidFill>
                  <a:schemeClr val="bg1"/>
                </a:solidFill>
                <a:latin typeface="Bookman Old Style" panose="02050604050505020204" pitchFamily="18" charset="0"/>
              </a:rPr>
              <a:t>Не задействует всю руку, однако требует точной мелкой моторики, что очень редко наблюдается у людей с тремором рук.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1C1815B-F396-BA02-D269-6D3991EDF780}"/>
              </a:ext>
            </a:extLst>
          </p:cNvPr>
          <p:cNvSpPr txBox="1"/>
          <p:nvPr/>
        </p:nvSpPr>
        <p:spPr>
          <a:xfrm>
            <a:off x="193548" y="5615920"/>
            <a:ext cx="118948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  <a:latin typeface="Bookman Old Style" panose="02050604050505020204" pitchFamily="18" charset="0"/>
              </a:rPr>
              <a:t>Анализ показал, что ни один из существующих аналогов не решает ключевую проблему: физическая стабилизация движения руки при сохранении интуитивного, привычного интерфейса.</a:t>
            </a:r>
          </a:p>
        </p:txBody>
      </p:sp>
    </p:spTree>
    <p:extLst>
      <p:ext uri="{BB962C8B-B14F-4D97-AF65-F5344CB8AC3E}">
        <p14:creationId xmlns:p14="http://schemas.microsoft.com/office/powerpoint/2010/main" val="3669654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78F465-CAB7-9663-BEE2-BD3E5BB13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357DAB3B-2AE3-DE9F-503B-957F6888CEAE}"/>
              </a:ext>
            </a:extLst>
          </p:cNvPr>
          <p:cNvSpPr/>
          <p:nvPr/>
        </p:nvSpPr>
        <p:spPr>
          <a:xfrm>
            <a:off x="1124712" y="1682496"/>
            <a:ext cx="10113264" cy="1305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9CE2B1-3303-945F-7107-B77E91F51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6" y="-819821"/>
            <a:ext cx="10012682" cy="1386750"/>
          </a:xfrm>
        </p:spPr>
        <p:txBody>
          <a:bodyPr>
            <a:normAutofit/>
          </a:bodyPr>
          <a:lstStyle/>
          <a:p>
            <a:r>
              <a:rPr lang="ru-RU" sz="2300" dirty="0">
                <a:solidFill>
                  <a:schemeClr val="tx1"/>
                </a:solidFill>
                <a:latin typeface="Bookman Old Style" panose="02050604050505020204" pitchFamily="18" charset="0"/>
              </a:rPr>
              <a:t>Цели и задачи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D9EE563A-335C-712A-9FB5-1557574909DB}"/>
              </a:ext>
            </a:extLst>
          </p:cNvPr>
          <p:cNvSpPr/>
          <p:nvPr/>
        </p:nvSpPr>
        <p:spPr>
          <a:xfrm>
            <a:off x="2535936" y="-819821"/>
            <a:ext cx="45719" cy="1450757"/>
          </a:xfrm>
          <a:prstGeom prst="rect">
            <a:avLst/>
          </a:prstGeom>
          <a:noFill/>
          <a:ln>
            <a:solidFill>
              <a:srgbClr val="E483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E62A24-9C7F-1118-985F-7B49F4C35241}"/>
              </a:ext>
            </a:extLst>
          </p:cNvPr>
          <p:cNvSpPr txBox="1"/>
          <p:nvPr/>
        </p:nvSpPr>
        <p:spPr>
          <a:xfrm>
            <a:off x="2708557" y="197597"/>
            <a:ext cx="2081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Bookman Old Style" panose="02050604050505020204" pitchFamily="18" charset="0"/>
              </a:rPr>
              <a:t>4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7E6AE28F-6826-E577-6D2F-42C00070F626}"/>
              </a:ext>
            </a:extLst>
          </p:cNvPr>
          <p:cNvSpPr/>
          <p:nvPr/>
        </p:nvSpPr>
        <p:spPr>
          <a:xfrm>
            <a:off x="3657599" y="6407945"/>
            <a:ext cx="960121" cy="450056"/>
          </a:xfrm>
          <a:prstGeom prst="rect">
            <a:avLst/>
          </a:prstGeom>
          <a:solidFill>
            <a:srgbClr val="BD582C"/>
          </a:solidFill>
          <a:ln>
            <a:solidFill>
              <a:srgbClr val="BD582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3C43B6-2D3A-404E-09D9-CA6B25DFB271}"/>
              </a:ext>
            </a:extLst>
          </p:cNvPr>
          <p:cNvSpPr txBox="1"/>
          <p:nvPr/>
        </p:nvSpPr>
        <p:spPr>
          <a:xfrm>
            <a:off x="478535" y="863408"/>
            <a:ext cx="60411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b="1" dirty="0">
                <a:latin typeface="Bookman Old Style" panose="02050604050505020204" pitchFamily="18" charset="0"/>
              </a:rPr>
              <a:t>Целью работы </a:t>
            </a:r>
            <a:r>
              <a:rPr lang="ru-RU" dirty="0">
                <a:latin typeface="Bookman Old Style" panose="02050604050505020204" pitchFamily="18" charset="0"/>
              </a:rPr>
              <a:t>является</a:t>
            </a:r>
            <a:r>
              <a:rPr lang="ru-RU" b="1" dirty="0">
                <a:latin typeface="Bookman Old Style" panose="02050604050505020204" pitchFamily="18" charset="0"/>
              </a:rPr>
              <a:t> </a:t>
            </a:r>
            <a:r>
              <a:rPr lang="ru-RU" dirty="0">
                <a:latin typeface="Bookman Old Style" panose="02050604050505020204" pitchFamily="18" charset="0"/>
              </a:rPr>
              <a:t>создание механического манипулятора, обеспечивающего: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0E2DC2-3836-5899-ED03-9909FF0FCEC9}"/>
              </a:ext>
            </a:extLst>
          </p:cNvPr>
          <p:cNvSpPr txBox="1"/>
          <p:nvPr/>
        </p:nvSpPr>
        <p:spPr>
          <a:xfrm>
            <a:off x="832513" y="1402733"/>
            <a:ext cx="583387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dirty="0">
                <a:latin typeface="Bookman Old Style" panose="02050604050505020204" pitchFamily="18" charset="0"/>
              </a:rPr>
              <a:t>Стабильное и точное управление курсором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dirty="0">
                <a:latin typeface="Bookman Old Style" panose="02050604050505020204" pitchFamily="18" charset="0"/>
              </a:rPr>
              <a:t>Пассивную физическую стабилизацию руки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dirty="0">
                <a:latin typeface="Bookman Old Style" panose="02050604050505020204" pitchFamily="18" charset="0"/>
              </a:rPr>
              <a:t>Отсутствие сложной калибровки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dirty="0">
                <a:latin typeface="Bookman Old Style" panose="02050604050505020204" pitchFamily="18" charset="0"/>
              </a:rPr>
              <a:t>Работа в любой среде, с плохим освещением или в шумных местах по типу офиса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E15037D-6E4B-250A-65BF-15C055A81B35}"/>
              </a:ext>
            </a:extLst>
          </p:cNvPr>
          <p:cNvSpPr txBox="1"/>
          <p:nvPr/>
        </p:nvSpPr>
        <p:spPr>
          <a:xfrm>
            <a:off x="4370832" y="3346533"/>
            <a:ext cx="5477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Bookman Old Style" panose="02050604050505020204" pitchFamily="18" charset="0"/>
              </a:rPr>
              <a:t>Задачи проекта: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7D84668-9A87-FB8E-C844-42909B460AE2}"/>
              </a:ext>
            </a:extLst>
          </p:cNvPr>
          <p:cNvSpPr txBox="1"/>
          <p:nvPr/>
        </p:nvSpPr>
        <p:spPr>
          <a:xfrm>
            <a:off x="4617720" y="3531199"/>
            <a:ext cx="681228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dirty="0">
              <a:latin typeface="Bookman Old Style" panose="020506040505050202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ru-RU" dirty="0">
                <a:latin typeface="Bookman Old Style" panose="02050604050505020204" pitchFamily="18" charset="0"/>
              </a:rPr>
              <a:t>Подобрать материалы и электрические компоненты</a:t>
            </a:r>
          </a:p>
          <a:p>
            <a:pPr marL="342900" indent="-342900">
              <a:buFont typeface="+mj-lt"/>
              <a:buAutoNum type="arabicPeriod"/>
            </a:pPr>
            <a:endParaRPr lang="ru-RU" dirty="0">
              <a:latin typeface="Bookman Old Style" panose="020506040505050202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ru-RU" dirty="0">
                <a:latin typeface="Bookman Old Style" panose="02050604050505020204" pitchFamily="18" charset="0"/>
              </a:rPr>
              <a:t>Разработать 3D-модель корпуса с учетом эргономики</a:t>
            </a:r>
          </a:p>
          <a:p>
            <a:pPr marL="342900" indent="-342900">
              <a:buFont typeface="+mj-lt"/>
              <a:buAutoNum type="arabicPeriod"/>
            </a:pPr>
            <a:endParaRPr lang="ru-RU" dirty="0">
              <a:latin typeface="Bookman Old Style" panose="020506040505050202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ru-RU" dirty="0">
                <a:latin typeface="Bookman Old Style" panose="02050604050505020204" pitchFamily="18" charset="0"/>
              </a:rPr>
              <a:t>Распечатать и запрограммировать устройство</a:t>
            </a:r>
          </a:p>
          <a:p>
            <a:pPr marL="342900" indent="-342900">
              <a:buFont typeface="+mj-lt"/>
              <a:buAutoNum type="arabicPeriod"/>
            </a:pPr>
            <a:endParaRPr lang="ru-RU" dirty="0">
              <a:latin typeface="Bookman Old Style" panose="020506040505050202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ru-RU" dirty="0">
                <a:latin typeface="Bookman Old Style" panose="02050604050505020204" pitchFamily="18" charset="0"/>
              </a:rPr>
              <a:t>Протестировать функциональность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AA5BDCBD-3ED4-5058-EC0B-E05F263AF05E}"/>
              </a:ext>
            </a:extLst>
          </p:cNvPr>
          <p:cNvSpPr/>
          <p:nvPr/>
        </p:nvSpPr>
        <p:spPr>
          <a:xfrm rot="17251257">
            <a:off x="8887494" y="-5332016"/>
            <a:ext cx="4523020" cy="7668347"/>
          </a:xfrm>
          <a:prstGeom prst="rect">
            <a:avLst/>
          </a:prstGeom>
          <a:solidFill>
            <a:srgbClr val="BD582C"/>
          </a:solidFill>
          <a:ln w="57150">
            <a:solidFill>
              <a:srgbClr val="E483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604568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D9D043-962F-1E64-5885-DCC65DFC1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5AB4948E-403F-8BD1-4F45-E39646424114}"/>
              </a:ext>
            </a:extLst>
          </p:cNvPr>
          <p:cNvSpPr/>
          <p:nvPr/>
        </p:nvSpPr>
        <p:spPr>
          <a:xfrm>
            <a:off x="1124712" y="1682496"/>
            <a:ext cx="10113264" cy="1305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AA5BDCBD-3ED4-5058-EC0B-E05F263AF05E}"/>
              </a:ext>
            </a:extLst>
          </p:cNvPr>
          <p:cNvSpPr/>
          <p:nvPr/>
        </p:nvSpPr>
        <p:spPr>
          <a:xfrm>
            <a:off x="7668980" y="-672235"/>
            <a:ext cx="4523020" cy="7668347"/>
          </a:xfrm>
          <a:prstGeom prst="rect">
            <a:avLst/>
          </a:prstGeom>
          <a:solidFill>
            <a:srgbClr val="BD582C"/>
          </a:solidFill>
          <a:ln w="57150">
            <a:solidFill>
              <a:srgbClr val="E483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952F2A-5525-5EC3-D8E9-782CE72A23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6" y="-819821"/>
            <a:ext cx="10012682" cy="1386750"/>
          </a:xfrm>
        </p:spPr>
        <p:txBody>
          <a:bodyPr>
            <a:normAutofit/>
          </a:bodyPr>
          <a:lstStyle/>
          <a:p>
            <a:r>
              <a:rPr lang="ru-RU" sz="2100" dirty="0">
                <a:solidFill>
                  <a:schemeClr val="tx1"/>
                </a:solidFill>
                <a:latin typeface="Bookman Old Style" panose="02050604050505020204" pitchFamily="18" charset="0"/>
              </a:rPr>
              <a:t>Ценообразование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50D8E95B-08D3-E8D8-CE53-CD07F9EC224A}"/>
              </a:ext>
            </a:extLst>
          </p:cNvPr>
          <p:cNvSpPr/>
          <p:nvPr/>
        </p:nvSpPr>
        <p:spPr>
          <a:xfrm>
            <a:off x="2615184" y="-812723"/>
            <a:ext cx="45719" cy="1450757"/>
          </a:xfrm>
          <a:prstGeom prst="rect">
            <a:avLst/>
          </a:prstGeom>
          <a:noFill/>
          <a:ln>
            <a:solidFill>
              <a:srgbClr val="E483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5DAC9B-18CA-CB75-84C2-2AB8C4514128}"/>
              </a:ext>
            </a:extLst>
          </p:cNvPr>
          <p:cNvSpPr txBox="1"/>
          <p:nvPr/>
        </p:nvSpPr>
        <p:spPr>
          <a:xfrm>
            <a:off x="2766059" y="193378"/>
            <a:ext cx="2081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Bookman Old Style" panose="02050604050505020204" pitchFamily="18" charset="0"/>
              </a:rPr>
              <a:t>5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20E5DE26-4D9B-5C26-9E1A-51DE74FCA589}"/>
              </a:ext>
            </a:extLst>
          </p:cNvPr>
          <p:cNvSpPr/>
          <p:nvPr/>
        </p:nvSpPr>
        <p:spPr>
          <a:xfrm>
            <a:off x="7260335" y="6407944"/>
            <a:ext cx="960121" cy="450056"/>
          </a:xfrm>
          <a:prstGeom prst="rect">
            <a:avLst/>
          </a:prstGeom>
          <a:solidFill>
            <a:srgbClr val="BD582C"/>
          </a:solidFill>
          <a:ln>
            <a:solidFill>
              <a:srgbClr val="BD582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2157199"/>
              </p:ext>
            </p:extLst>
          </p:nvPr>
        </p:nvGraphicFramePr>
        <p:xfrm>
          <a:off x="223752" y="778482"/>
          <a:ext cx="3062373" cy="531751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355459">
                  <a:extLst>
                    <a:ext uri="{9D8B030D-6E8A-4147-A177-3AD203B41FA5}">
                      <a16:colId xmlns:a16="http://schemas.microsoft.com/office/drawing/2014/main" val="3099359889"/>
                    </a:ext>
                  </a:extLst>
                </a:gridCol>
                <a:gridCol w="706914">
                  <a:extLst>
                    <a:ext uri="{9D8B030D-6E8A-4147-A177-3AD203B41FA5}">
                      <a16:colId xmlns:a16="http://schemas.microsoft.com/office/drawing/2014/main" val="2146182567"/>
                    </a:ext>
                  </a:extLst>
                </a:gridCol>
              </a:tblGrid>
              <a:tr h="146413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ru-RU" sz="1400" b="0" kern="100" dirty="0" smtClean="0">
                        <a:effectLst/>
                        <a:latin typeface="Bookman Old Style" panose="02050604050505020204" pitchFamily="18" charset="0"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400" b="0" kern="100" dirty="0" smtClean="0">
                          <a:effectLst/>
                          <a:latin typeface="Bookman Old Style" panose="02050604050505020204" pitchFamily="18" charset="0"/>
                        </a:rPr>
                        <a:t>Позиция</a:t>
                      </a:r>
                      <a:endParaRPr lang="ru-RU" sz="1400" b="0" kern="100" dirty="0"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284" marR="5028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400" b="0" kern="100" dirty="0">
                          <a:effectLst/>
                          <a:latin typeface="Bookman Old Style" panose="02050604050505020204" pitchFamily="18" charset="0"/>
                        </a:rPr>
                        <a:t>Стоимость, рубли</a:t>
                      </a:r>
                      <a:endParaRPr lang="ru-RU" sz="1400" b="0" kern="100" dirty="0"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284" marR="50284" marT="0" marB="0"/>
                </a:tc>
                <a:extLst>
                  <a:ext uri="{0D108BD9-81ED-4DB2-BD59-A6C34878D82A}">
                    <a16:rowId xmlns:a16="http://schemas.microsoft.com/office/drawing/2014/main" val="3213522644"/>
                  </a:ext>
                </a:extLst>
              </a:tr>
              <a:tr h="120283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400" b="0" kern="100" dirty="0">
                          <a:effectLst/>
                          <a:latin typeface="Bookman Old Style" panose="02050604050505020204" pitchFamily="18" charset="0"/>
                        </a:rPr>
                        <a:t>Пластик </a:t>
                      </a:r>
                      <a:r>
                        <a:rPr lang="en-US" sz="1400" b="0" kern="100" dirty="0">
                          <a:effectLst/>
                          <a:latin typeface="Bookman Old Style" panose="02050604050505020204" pitchFamily="18" charset="0"/>
                        </a:rPr>
                        <a:t>PETG</a:t>
                      </a:r>
                      <a:r>
                        <a:rPr lang="ru-RU" sz="1400" b="0" kern="100" dirty="0">
                          <a:effectLst/>
                          <a:latin typeface="Bookman Old Style" panose="02050604050505020204" pitchFamily="18" charset="0"/>
                        </a:rPr>
                        <a:t> (330 г.), резиновые накладки и пружины</a:t>
                      </a:r>
                      <a:endParaRPr lang="ru-RU" sz="1400" b="0" kern="100" dirty="0"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284" marR="5028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400" b="0" kern="100" dirty="0" smtClean="0">
                          <a:effectLst/>
                          <a:latin typeface="Bookman Old Style" panose="02050604050505020204" pitchFamily="18" charset="0"/>
                          <a:ea typeface="+mn-ea"/>
                          <a:cs typeface="+mn-cs"/>
                        </a:rPr>
                        <a:t>600</a:t>
                      </a:r>
                      <a:endParaRPr lang="ru-RU" sz="1400" b="0" kern="100" dirty="0"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284" marR="50284" marT="0" marB="0"/>
                </a:tc>
                <a:extLst>
                  <a:ext uri="{0D108BD9-81ED-4DB2-BD59-A6C34878D82A}">
                    <a16:rowId xmlns:a16="http://schemas.microsoft.com/office/drawing/2014/main" val="1434116937"/>
                  </a:ext>
                </a:extLst>
              </a:tr>
              <a:tr h="221749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400" b="0" kern="100">
                          <a:effectLst/>
                          <a:latin typeface="Bookman Old Style" panose="02050604050505020204" pitchFamily="18" charset="0"/>
                        </a:rPr>
                        <a:t>Электрические компоненты(гироскоп </a:t>
                      </a:r>
                      <a:r>
                        <a:rPr lang="en-US" sz="1400" b="0" kern="100">
                          <a:effectLst/>
                          <a:latin typeface="Bookman Old Style" panose="02050604050505020204" pitchFamily="18" charset="0"/>
                        </a:rPr>
                        <a:t>MPU</a:t>
                      </a:r>
                      <a:r>
                        <a:rPr lang="ru-RU" sz="1400" b="0" kern="100">
                          <a:effectLst/>
                          <a:latin typeface="Bookman Old Style" panose="02050604050505020204" pitchFamily="18" charset="0"/>
                        </a:rPr>
                        <a:t>-6050, тактовые кнопки, энкодер инкрементальный, </a:t>
                      </a:r>
                      <a:r>
                        <a:rPr lang="en-US" sz="1400" b="0" kern="100">
                          <a:effectLst/>
                          <a:latin typeface="Bookman Old Style" panose="02050604050505020204" pitchFamily="18" charset="0"/>
                        </a:rPr>
                        <a:t>Arduino Pro Micro</a:t>
                      </a:r>
                      <a:r>
                        <a:rPr lang="ru-RU" sz="1400" b="0" kern="100">
                          <a:effectLst/>
                          <a:latin typeface="Bookman Old Style" panose="02050604050505020204" pitchFamily="18" charset="0"/>
                        </a:rPr>
                        <a:t>)</a:t>
                      </a:r>
                      <a:endParaRPr lang="ru-RU" sz="1400" b="0" kern="100"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284" marR="5028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400" b="0" kern="100" dirty="0" smtClean="0">
                          <a:effectLst/>
                          <a:latin typeface="Bookman Old Style" panose="02050604050505020204" pitchFamily="18" charset="0"/>
                        </a:rPr>
                        <a:t>780</a:t>
                      </a:r>
                      <a:endParaRPr lang="ru-RU" sz="1400" b="0" kern="100" dirty="0"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284" marR="50284" marT="0" marB="0"/>
                </a:tc>
                <a:extLst>
                  <a:ext uri="{0D108BD9-81ED-4DB2-BD59-A6C34878D82A}">
                    <a16:rowId xmlns:a16="http://schemas.microsoft.com/office/drawing/2014/main" val="3729372049"/>
                  </a:ext>
                </a:extLst>
              </a:tr>
              <a:tr h="43305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400" b="0" kern="100" dirty="0">
                          <a:effectLst/>
                          <a:latin typeface="Bookman Old Style" panose="02050604050505020204" pitchFamily="18" charset="0"/>
                        </a:rPr>
                        <a:t>Итого </a:t>
                      </a:r>
                      <a:r>
                        <a:rPr lang="ru-RU" sz="1400" b="0" kern="100" dirty="0" smtClean="0">
                          <a:effectLst/>
                          <a:latin typeface="Bookman Old Style" panose="02050604050505020204" pitchFamily="18" charset="0"/>
                        </a:rPr>
                        <a:t>стоимость</a:t>
                      </a:r>
                      <a:endParaRPr lang="ru-RU" sz="1400" b="0" kern="100" dirty="0"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284" marR="5028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400" b="0" kern="100" dirty="0" smtClean="0">
                          <a:effectLst/>
                          <a:latin typeface="Bookman Old Style" panose="02050604050505020204" pitchFamily="18" charset="0"/>
                        </a:rPr>
                        <a:t>1380</a:t>
                      </a:r>
                      <a:endParaRPr lang="ru-RU" sz="1400" b="0" kern="100" dirty="0"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284" marR="50284" marT="0" marB="0"/>
                </a:tc>
                <a:extLst>
                  <a:ext uri="{0D108BD9-81ED-4DB2-BD59-A6C34878D82A}">
                    <a16:rowId xmlns:a16="http://schemas.microsoft.com/office/drawing/2014/main" val="30402220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518989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972ED4-718C-8381-4407-942B35E94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3BBFE12A-36AB-BDD3-0938-05896BBD1337}"/>
              </a:ext>
            </a:extLst>
          </p:cNvPr>
          <p:cNvSpPr/>
          <p:nvPr/>
        </p:nvSpPr>
        <p:spPr>
          <a:xfrm>
            <a:off x="1124712" y="1682496"/>
            <a:ext cx="10113264" cy="1305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A3B0F9DC-F45B-847A-9FB2-2F9200F5DCE5}"/>
              </a:ext>
            </a:extLst>
          </p:cNvPr>
          <p:cNvSpPr/>
          <p:nvPr/>
        </p:nvSpPr>
        <p:spPr>
          <a:xfrm>
            <a:off x="11631168" y="-672235"/>
            <a:ext cx="560831" cy="7668347"/>
          </a:xfrm>
          <a:prstGeom prst="rect">
            <a:avLst/>
          </a:prstGeom>
          <a:solidFill>
            <a:srgbClr val="BD582C"/>
          </a:solidFill>
          <a:ln w="57150">
            <a:solidFill>
              <a:srgbClr val="E483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F089AC-BC09-1BDE-0391-737BEE66C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6" y="-819821"/>
            <a:ext cx="10012682" cy="1386750"/>
          </a:xfrm>
        </p:spPr>
        <p:txBody>
          <a:bodyPr>
            <a:normAutofit/>
          </a:bodyPr>
          <a:lstStyle/>
          <a:p>
            <a:r>
              <a:rPr lang="ru-RU" sz="2000" dirty="0">
                <a:solidFill>
                  <a:schemeClr val="tx1"/>
                </a:solidFill>
                <a:latin typeface="Bookman Old Style" panose="02050604050505020204" pitchFamily="18" charset="0"/>
              </a:rPr>
              <a:t>Выбор материалов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3BBE68A6-3732-8153-C302-89AC6A57F416}"/>
              </a:ext>
            </a:extLst>
          </p:cNvPr>
          <p:cNvSpPr/>
          <p:nvPr/>
        </p:nvSpPr>
        <p:spPr>
          <a:xfrm>
            <a:off x="2720340" y="-819821"/>
            <a:ext cx="45719" cy="1450757"/>
          </a:xfrm>
          <a:prstGeom prst="rect">
            <a:avLst/>
          </a:prstGeom>
          <a:noFill/>
          <a:ln>
            <a:solidFill>
              <a:srgbClr val="E483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8D6350-1169-7BEF-E8BA-89ACBAE1D771}"/>
              </a:ext>
            </a:extLst>
          </p:cNvPr>
          <p:cNvSpPr txBox="1"/>
          <p:nvPr/>
        </p:nvSpPr>
        <p:spPr>
          <a:xfrm>
            <a:off x="2866643" y="197597"/>
            <a:ext cx="2081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ookman Old Style" panose="02050604050505020204" pitchFamily="18" charset="0"/>
              </a:rPr>
              <a:t>6</a:t>
            </a:r>
            <a:endParaRPr lang="ru-RU" dirty="0">
              <a:latin typeface="Bookman Old Style" panose="02050604050505020204" pitchFamily="18" charset="0"/>
            </a:endParaRP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AAC992A4-0248-5A10-DB5C-F5CD42A5CD9F}"/>
              </a:ext>
            </a:extLst>
          </p:cNvPr>
          <p:cNvSpPr/>
          <p:nvPr/>
        </p:nvSpPr>
        <p:spPr>
          <a:xfrm>
            <a:off x="10922503" y="6407944"/>
            <a:ext cx="960121" cy="450056"/>
          </a:xfrm>
          <a:prstGeom prst="rect">
            <a:avLst/>
          </a:prstGeom>
          <a:solidFill>
            <a:srgbClr val="BD582C"/>
          </a:solidFill>
          <a:ln>
            <a:solidFill>
              <a:srgbClr val="BD582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FB57897-E7DA-2F3A-8F2F-6DF556D90307}"/>
              </a:ext>
            </a:extLst>
          </p:cNvPr>
          <p:cNvSpPr txBox="1"/>
          <p:nvPr/>
        </p:nvSpPr>
        <p:spPr>
          <a:xfrm>
            <a:off x="494441" y="977552"/>
            <a:ext cx="7473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Bookman Old Style" panose="02050604050505020204" pitchFamily="18" charset="0"/>
              </a:rPr>
              <a:t>Для 3</a:t>
            </a:r>
            <a:r>
              <a:rPr lang="en-US" dirty="0">
                <a:latin typeface="Bookman Old Style" panose="02050604050505020204" pitchFamily="18" charset="0"/>
              </a:rPr>
              <a:t>D</a:t>
            </a:r>
            <a:r>
              <a:rPr lang="ru-RU" dirty="0">
                <a:latin typeface="Bookman Old Style" panose="02050604050505020204" pitchFamily="18" charset="0"/>
              </a:rPr>
              <a:t>-печати рассматривались следующие термопластики: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9E0792-A0D1-8CA8-F159-C2272754789A}"/>
              </a:ext>
            </a:extLst>
          </p:cNvPr>
          <p:cNvSpPr txBox="1"/>
          <p:nvPr/>
        </p:nvSpPr>
        <p:spPr>
          <a:xfrm>
            <a:off x="1060337" y="1422892"/>
            <a:ext cx="7379574" cy="3650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ru-RU" dirty="0">
                <a:latin typeface="Bookman Old Style" panose="02050604050505020204" pitchFamily="18" charset="0"/>
              </a:rPr>
              <a:t>PLA </a:t>
            </a:r>
            <a:r>
              <a:rPr lang="en-US" dirty="0">
                <a:latin typeface="Bookman Old Style" panose="02050604050505020204" pitchFamily="18" charset="0"/>
              </a:rPr>
              <a:t>– </a:t>
            </a:r>
            <a:r>
              <a:rPr lang="ru-RU" dirty="0">
                <a:latin typeface="Bookman Old Style" panose="02050604050505020204" pitchFamily="18" charset="0"/>
              </a:rPr>
              <a:t>легко печатается, биоразлагаем, но хрупок и имеет низкую температуру стеклования (~60°C), что неприемлемо для устройства, которое может остаться в автомобиле на солнце.</a:t>
            </a:r>
            <a:endParaRPr lang="en-US" dirty="0">
              <a:latin typeface="Bookman Old Style" panose="02050604050505020204" pitchFamily="18" charset="0"/>
            </a:endParaRPr>
          </a:p>
          <a:p>
            <a:pPr marL="285750" indent="-285750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ru-RU" dirty="0">
                <a:latin typeface="Bookman Old Style" panose="02050604050505020204" pitchFamily="18" charset="0"/>
              </a:rPr>
              <a:t>ABS </a:t>
            </a:r>
            <a:r>
              <a:rPr lang="en-US" dirty="0">
                <a:latin typeface="Bookman Old Style" panose="02050604050505020204" pitchFamily="18" charset="0"/>
              </a:rPr>
              <a:t>– </a:t>
            </a:r>
            <a:r>
              <a:rPr lang="ru-RU" dirty="0">
                <a:latin typeface="Bookman Old Style" panose="02050604050505020204" pitchFamily="18" charset="0"/>
              </a:rPr>
              <a:t>прочнее PLA, но склонен к деформациям при печати ведь требует закрытой камеры, и выделяет опасные испарения.</a:t>
            </a:r>
            <a:endParaRPr lang="en-US" dirty="0">
              <a:latin typeface="Bookman Old Style" panose="02050604050505020204" pitchFamily="18" charset="0"/>
            </a:endParaRPr>
          </a:p>
          <a:p>
            <a:pPr marL="285750" indent="-285750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ru-RU" dirty="0">
                <a:latin typeface="Bookman Old Style" panose="02050604050505020204" pitchFamily="18" charset="0"/>
              </a:rPr>
              <a:t>PETG </a:t>
            </a:r>
            <a:r>
              <a:rPr lang="en-US" dirty="0">
                <a:latin typeface="Bookman Old Style" panose="02050604050505020204" pitchFamily="18" charset="0"/>
              </a:rPr>
              <a:t>–</a:t>
            </a:r>
            <a:r>
              <a:rPr lang="ru-RU" dirty="0">
                <a:latin typeface="Bookman Old Style" panose="02050604050505020204" pitchFamily="18" charset="0"/>
              </a:rPr>
              <a:t> чуть менее прочный чем </a:t>
            </a:r>
            <a:r>
              <a:rPr lang="en-US" dirty="0">
                <a:latin typeface="Bookman Old Style" panose="02050604050505020204" pitchFamily="18" charset="0"/>
              </a:rPr>
              <a:t>ABS, </a:t>
            </a:r>
            <a:r>
              <a:rPr lang="ru-RU" dirty="0">
                <a:latin typeface="Bookman Old Style" panose="02050604050505020204" pitchFamily="18" charset="0"/>
              </a:rPr>
              <a:t>однако не выделяет опасных паров, прост в печати, имеет высокую ударную вязкость и химическую стойкость. 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A48EABFF-670C-99BA-6911-B92A7CCEF0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7896137" y="2432327"/>
            <a:ext cx="4075367" cy="239568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070F16C-194B-FD52-3E37-442614CC597A}"/>
              </a:ext>
            </a:extLst>
          </p:cNvPr>
          <p:cNvSpPr txBox="1"/>
          <p:nvPr/>
        </p:nvSpPr>
        <p:spPr>
          <a:xfrm>
            <a:off x="494441" y="5344687"/>
            <a:ext cx="80284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Bookman Old Style" panose="02050604050505020204" pitchFamily="18" charset="0"/>
              </a:rPr>
              <a:t>Был выбран </a:t>
            </a:r>
            <a:r>
              <a:rPr lang="en-US" dirty="0">
                <a:latin typeface="Bookman Old Style" panose="02050604050505020204" pitchFamily="18" charset="0"/>
              </a:rPr>
              <a:t>PETG </a:t>
            </a:r>
            <a:r>
              <a:rPr lang="ru-RU" dirty="0">
                <a:latin typeface="Bookman Old Style" panose="02050604050505020204" pitchFamily="18" charset="0"/>
              </a:rPr>
              <a:t>пластик(</a:t>
            </a:r>
            <a:r>
              <a:rPr lang="ru-RU" i="1" dirty="0">
                <a:latin typeface="Bookman Old Style" panose="02050604050505020204" pitchFamily="18" charset="0"/>
              </a:rPr>
              <a:t>Полиэтилентерефталат гликоль</a:t>
            </a:r>
            <a:r>
              <a:rPr lang="ru-RU" dirty="0">
                <a:latin typeface="Bookman Old Style" panose="02050604050505020204" pitchFamily="18" charset="0"/>
              </a:rPr>
              <a:t>), ведь он совмещает лучшие стороны своих конкурентов.</a:t>
            </a:r>
          </a:p>
        </p:txBody>
      </p:sp>
    </p:spTree>
    <p:extLst>
      <p:ext uri="{BB962C8B-B14F-4D97-AF65-F5344CB8AC3E}">
        <p14:creationId xmlns:p14="http://schemas.microsoft.com/office/powerpoint/2010/main" val="4053437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972ED4-718C-8381-4407-942B35E94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A3B0F9DC-F45B-847A-9FB2-2F9200F5DCE5}"/>
              </a:ext>
            </a:extLst>
          </p:cNvPr>
          <p:cNvSpPr/>
          <p:nvPr/>
        </p:nvSpPr>
        <p:spPr>
          <a:xfrm>
            <a:off x="10515600" y="3700905"/>
            <a:ext cx="3484514" cy="3872415"/>
          </a:xfrm>
          <a:prstGeom prst="rect">
            <a:avLst/>
          </a:prstGeom>
          <a:solidFill>
            <a:srgbClr val="BD582C"/>
          </a:solidFill>
          <a:ln w="57150">
            <a:solidFill>
              <a:srgbClr val="E483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3BBFE12A-36AB-BDD3-0938-05896BBD1337}"/>
              </a:ext>
            </a:extLst>
          </p:cNvPr>
          <p:cNvSpPr/>
          <p:nvPr/>
        </p:nvSpPr>
        <p:spPr>
          <a:xfrm>
            <a:off x="1124712" y="1682496"/>
            <a:ext cx="10113264" cy="1305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олилиния 14">
            <a:extLst>
              <a:ext uri="{FF2B5EF4-FFF2-40B4-BE49-F238E27FC236}">
                <a16:creationId xmlns:a16="http://schemas.microsoft.com/office/drawing/2014/main" id="{A3B0F9DC-F45B-847A-9FB2-2F9200F5DCE5}"/>
              </a:ext>
            </a:extLst>
          </p:cNvPr>
          <p:cNvSpPr/>
          <p:nvPr/>
        </p:nvSpPr>
        <p:spPr>
          <a:xfrm rot="21104435">
            <a:off x="-680755" y="-501244"/>
            <a:ext cx="4963983" cy="8113974"/>
          </a:xfrm>
          <a:custGeom>
            <a:avLst/>
            <a:gdLst>
              <a:gd name="connsiteX0" fmla="*/ 4865268 w 4865268"/>
              <a:gd name="connsiteY0" fmla="*/ 0 h 8113974"/>
              <a:gd name="connsiteX1" fmla="*/ 4865268 w 4865268"/>
              <a:gd name="connsiteY1" fmla="*/ 8113974 h 8113974"/>
              <a:gd name="connsiteX2" fmla="*/ 0 w 4865268"/>
              <a:gd name="connsiteY2" fmla="*/ 8113974 h 8113974"/>
              <a:gd name="connsiteX3" fmla="*/ 0 w 4865268"/>
              <a:gd name="connsiteY3" fmla="*/ 7052045 h 8113974"/>
              <a:gd name="connsiteX4" fmla="*/ 97750 w 4865268"/>
              <a:gd name="connsiteY4" fmla="*/ 7066234 h 8113974"/>
              <a:gd name="connsiteX5" fmla="*/ 1082938 w 4865268"/>
              <a:gd name="connsiteY5" fmla="*/ 279367 h 8113974"/>
              <a:gd name="connsiteX6" fmla="*/ 0 w 4865268"/>
              <a:gd name="connsiteY6" fmla="*/ 122167 h 8113974"/>
              <a:gd name="connsiteX7" fmla="*/ 0 w 4865268"/>
              <a:gd name="connsiteY7" fmla="*/ 0 h 8113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865268" h="8113974">
                <a:moveTo>
                  <a:pt x="4865268" y="0"/>
                </a:moveTo>
                <a:lnTo>
                  <a:pt x="4865268" y="8113974"/>
                </a:lnTo>
                <a:lnTo>
                  <a:pt x="0" y="8113974"/>
                </a:lnTo>
                <a:lnTo>
                  <a:pt x="0" y="7052045"/>
                </a:lnTo>
                <a:lnTo>
                  <a:pt x="97750" y="7066234"/>
                </a:lnTo>
                <a:lnTo>
                  <a:pt x="1082938" y="279367"/>
                </a:lnTo>
                <a:lnTo>
                  <a:pt x="0" y="122167"/>
                </a:lnTo>
                <a:lnTo>
                  <a:pt x="0" y="0"/>
                </a:lnTo>
                <a:close/>
              </a:path>
            </a:pathLst>
          </a:custGeom>
          <a:solidFill>
            <a:srgbClr val="BD582C"/>
          </a:solidFill>
          <a:ln w="57150">
            <a:solidFill>
              <a:srgbClr val="E483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F089AC-BC09-1BDE-0391-737BEE66C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6" y="-819821"/>
            <a:ext cx="10012682" cy="1386750"/>
          </a:xfrm>
        </p:spPr>
        <p:txBody>
          <a:bodyPr>
            <a:normAutofit/>
          </a:bodyPr>
          <a:lstStyle/>
          <a:p>
            <a:r>
              <a:rPr lang="ru-RU" sz="2000" dirty="0" smtClean="0">
                <a:solidFill>
                  <a:schemeClr val="bg1"/>
                </a:solidFill>
                <a:latin typeface="Bookman Old Style" panose="02050604050505020204" pitchFamily="18" charset="0"/>
              </a:rPr>
              <a:t>Процесс изготовления</a:t>
            </a:r>
            <a:endParaRPr lang="ru-RU" sz="2000" dirty="0">
              <a:solidFill>
                <a:schemeClr val="bg1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3BBE68A6-3732-8153-C302-89AC6A57F416}"/>
              </a:ext>
            </a:extLst>
          </p:cNvPr>
          <p:cNvSpPr/>
          <p:nvPr/>
        </p:nvSpPr>
        <p:spPr>
          <a:xfrm>
            <a:off x="3163685" y="-725379"/>
            <a:ext cx="45719" cy="1450757"/>
          </a:xfrm>
          <a:prstGeom prst="rect">
            <a:avLst/>
          </a:prstGeom>
          <a:noFill/>
          <a:ln>
            <a:solidFill>
              <a:srgbClr val="E483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8D6350-1169-7BEF-E8BA-89ACBAE1D771}"/>
              </a:ext>
            </a:extLst>
          </p:cNvPr>
          <p:cNvSpPr txBox="1"/>
          <p:nvPr/>
        </p:nvSpPr>
        <p:spPr>
          <a:xfrm>
            <a:off x="3337698" y="197597"/>
            <a:ext cx="2081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  <a:latin typeface="Bookman Old Style" panose="02050604050505020204" pitchFamily="18" charset="0"/>
              </a:rPr>
              <a:t>7</a:t>
            </a:r>
            <a:endParaRPr lang="ru-RU" dirty="0">
              <a:solidFill>
                <a:schemeClr val="bg1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AAC992A4-0248-5A10-DB5C-F5CD42A5CD9F}"/>
              </a:ext>
            </a:extLst>
          </p:cNvPr>
          <p:cNvSpPr/>
          <p:nvPr/>
        </p:nvSpPr>
        <p:spPr>
          <a:xfrm>
            <a:off x="4183911" y="6407944"/>
            <a:ext cx="960121" cy="450056"/>
          </a:xfrm>
          <a:prstGeom prst="rect">
            <a:avLst/>
          </a:prstGeom>
          <a:solidFill>
            <a:srgbClr val="BD582C"/>
          </a:solidFill>
          <a:ln>
            <a:solidFill>
              <a:srgbClr val="BD582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992" y="819820"/>
            <a:ext cx="2902706" cy="1965186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57" y="2785006"/>
            <a:ext cx="2863367" cy="1865883"/>
          </a:xfrm>
          <a:prstGeom prst="rect">
            <a:avLst/>
          </a:prstGeom>
        </p:spPr>
      </p:pic>
      <p:pic>
        <p:nvPicPr>
          <p:cNvPr id="16" name="Рисунок 15"/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058" b="22463"/>
          <a:stretch/>
        </p:blipFill>
        <p:spPr>
          <a:xfrm>
            <a:off x="1263198" y="4650889"/>
            <a:ext cx="2587691" cy="2039512"/>
          </a:xfrm>
          <a:prstGeom prst="rect">
            <a:avLst/>
          </a:prstGeom>
        </p:spPr>
      </p:pic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A3B0F9DC-F45B-847A-9FB2-2F9200F5DCE5}"/>
              </a:ext>
            </a:extLst>
          </p:cNvPr>
          <p:cNvSpPr/>
          <p:nvPr/>
        </p:nvSpPr>
        <p:spPr>
          <a:xfrm rot="1139157">
            <a:off x="9807594" y="4121353"/>
            <a:ext cx="3177309" cy="3820043"/>
          </a:xfrm>
          <a:prstGeom prst="rect">
            <a:avLst/>
          </a:prstGeom>
          <a:solidFill>
            <a:srgbClr val="BD582C"/>
          </a:solidFill>
          <a:ln w="57150">
            <a:solidFill>
              <a:srgbClr val="E483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AAC992A4-0248-5A10-DB5C-F5CD42A5CD9F}"/>
              </a:ext>
            </a:extLst>
          </p:cNvPr>
          <p:cNvSpPr/>
          <p:nvPr/>
        </p:nvSpPr>
        <p:spPr>
          <a:xfrm>
            <a:off x="8654702" y="6407944"/>
            <a:ext cx="960121" cy="450056"/>
          </a:xfrm>
          <a:prstGeom prst="rect">
            <a:avLst/>
          </a:prstGeom>
          <a:solidFill>
            <a:srgbClr val="BD582C"/>
          </a:solidFill>
          <a:ln>
            <a:solidFill>
              <a:srgbClr val="BD582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AAC992A4-0248-5A10-DB5C-F5CD42A5CD9F}"/>
              </a:ext>
            </a:extLst>
          </p:cNvPr>
          <p:cNvSpPr/>
          <p:nvPr/>
        </p:nvSpPr>
        <p:spPr>
          <a:xfrm>
            <a:off x="10541470" y="3737684"/>
            <a:ext cx="1954332" cy="812405"/>
          </a:xfrm>
          <a:prstGeom prst="rect">
            <a:avLst/>
          </a:prstGeom>
          <a:solidFill>
            <a:srgbClr val="BD582C"/>
          </a:solidFill>
          <a:ln>
            <a:solidFill>
              <a:srgbClr val="BD582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33" name="Рисунок 32"/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302" b="2669"/>
          <a:stretch/>
        </p:blipFill>
        <p:spPr>
          <a:xfrm>
            <a:off x="10122408" y="3799648"/>
            <a:ext cx="1980202" cy="2833324"/>
          </a:xfrm>
          <a:custGeom>
            <a:avLst/>
            <a:gdLst>
              <a:gd name="connsiteX0" fmla="*/ 475085 w 1980202"/>
              <a:gd name="connsiteY0" fmla="*/ 0 h 2833324"/>
              <a:gd name="connsiteX1" fmla="*/ 1980202 w 1980202"/>
              <a:gd name="connsiteY1" fmla="*/ 0 h 2833324"/>
              <a:gd name="connsiteX2" fmla="*/ 1980202 w 1980202"/>
              <a:gd name="connsiteY2" fmla="*/ 2833324 h 2833324"/>
              <a:gd name="connsiteX3" fmla="*/ 0 w 1980202"/>
              <a:gd name="connsiteY3" fmla="*/ 2833324 h 2833324"/>
              <a:gd name="connsiteX4" fmla="*/ 0 w 1980202"/>
              <a:gd name="connsiteY4" fmla="*/ 1366746 h 28333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80202" h="2833324">
                <a:moveTo>
                  <a:pt x="475085" y="0"/>
                </a:moveTo>
                <a:lnTo>
                  <a:pt x="1980202" y="0"/>
                </a:lnTo>
                <a:lnTo>
                  <a:pt x="1980202" y="2833324"/>
                </a:lnTo>
                <a:lnTo>
                  <a:pt x="0" y="2833324"/>
                </a:lnTo>
                <a:lnTo>
                  <a:pt x="0" y="1366746"/>
                </a:lnTo>
                <a:close/>
              </a:path>
            </a:pathLst>
          </a:custGeom>
        </p:spPr>
      </p:pic>
      <p:sp>
        <p:nvSpPr>
          <p:cNvPr id="35" name="TextBox 34"/>
          <p:cNvSpPr txBox="1"/>
          <p:nvPr/>
        </p:nvSpPr>
        <p:spPr>
          <a:xfrm>
            <a:off x="4121420" y="109626"/>
            <a:ext cx="7981190" cy="7335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500"/>
              </a:lnSpc>
            </a:pPr>
            <a:r>
              <a:rPr lang="ru-RU" sz="1700" dirty="0" smtClean="0">
                <a:latin typeface="Bookman Old Style" panose="02050604050505020204" pitchFamily="18" charset="0"/>
              </a:rPr>
              <a:t>Было решено что будут использоваться следующие электрические компоненты: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66162" y="3465989"/>
            <a:ext cx="4789729" cy="263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500"/>
              </a:lnSpc>
            </a:pPr>
            <a:r>
              <a:rPr lang="ru-RU" sz="1700" dirty="0" smtClean="0">
                <a:latin typeface="Bookman Old Style" panose="02050604050505020204" pitchFamily="18" charset="0"/>
              </a:rPr>
              <a:t>После определения эл. компонентов началось моделирование деталей манипулятора. Первая версия рукоятки была недостаточно эргономичной, и была усовершенствована, получив большую площадь опоры для руки и пазы для пальцев. Потом последовала 3</a:t>
            </a:r>
            <a:r>
              <a:rPr lang="en-US" sz="1700" dirty="0" smtClean="0">
                <a:latin typeface="Bookman Old Style" panose="02050604050505020204" pitchFamily="18" charset="0"/>
              </a:rPr>
              <a:t>D</a:t>
            </a:r>
            <a:r>
              <a:rPr lang="ru-RU" sz="1700" dirty="0" smtClean="0">
                <a:latin typeface="Bookman Old Style" panose="02050604050505020204" pitchFamily="18" charset="0"/>
              </a:rPr>
              <a:t> печать и зачистка деталей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263883" y="849182"/>
            <a:ext cx="5547014" cy="24468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700" dirty="0" smtClean="0">
                <a:latin typeface="Bookman Old Style" panose="02050604050505020204" pitchFamily="18" charset="0"/>
              </a:rPr>
              <a:t>MPU-6050 </a:t>
            </a:r>
            <a:r>
              <a:rPr lang="ru-RU" sz="1700" dirty="0" smtClean="0">
                <a:latin typeface="Bookman Old Style" panose="02050604050505020204" pitchFamily="18" charset="0"/>
              </a:rPr>
              <a:t>для преобразования наклона манипулятора в сигнал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700" dirty="0" smtClean="0">
                <a:latin typeface="Bookman Old Style" panose="02050604050505020204" pitchFamily="18" charset="0"/>
              </a:rPr>
              <a:t>Arduino Pro Micro </a:t>
            </a:r>
            <a:r>
              <a:rPr lang="ru-RU" sz="1700" dirty="0" smtClean="0">
                <a:latin typeface="Bookman Old Style" panose="02050604050505020204" pitchFamily="18" charset="0"/>
              </a:rPr>
              <a:t>для управления компьютером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700" dirty="0" smtClean="0">
                <a:latin typeface="Bookman Old Style" panose="02050604050505020204" pitchFamily="18" charset="0"/>
              </a:rPr>
              <a:t>Инкрементальный энкодер </a:t>
            </a:r>
            <a:r>
              <a:rPr lang="en-US" sz="1700" dirty="0" smtClean="0">
                <a:latin typeface="Bookman Old Style" panose="02050604050505020204" pitchFamily="18" charset="0"/>
              </a:rPr>
              <a:t>EC11</a:t>
            </a:r>
            <a:r>
              <a:rPr lang="ru-RU" sz="1700" dirty="0" smtClean="0">
                <a:latin typeface="Bookman Old Style" panose="02050604050505020204" pitchFamily="18" charset="0"/>
              </a:rPr>
              <a:t> для имитации прокрутки колесика мыши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700" dirty="0" smtClean="0">
                <a:latin typeface="Bookman Old Style" panose="02050604050505020204" pitchFamily="18" charset="0"/>
              </a:rPr>
              <a:t>Тактовые кнопки для выбора чувствительности и имитации левого/правого клика мыши</a:t>
            </a:r>
            <a:endParaRPr lang="ru-RU" sz="1700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62342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D9D043-962F-1E64-5885-DCC65DFC1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5AB4948E-403F-8BD1-4F45-E39646424114}"/>
              </a:ext>
            </a:extLst>
          </p:cNvPr>
          <p:cNvSpPr/>
          <p:nvPr/>
        </p:nvSpPr>
        <p:spPr>
          <a:xfrm>
            <a:off x="1124712" y="1682496"/>
            <a:ext cx="10113264" cy="1305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952F2A-5525-5EC3-D8E9-782CE72A23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6" y="-819821"/>
            <a:ext cx="10012682" cy="1386750"/>
          </a:xfrm>
        </p:spPr>
        <p:txBody>
          <a:bodyPr>
            <a:normAutofit/>
          </a:bodyPr>
          <a:lstStyle/>
          <a:p>
            <a:r>
              <a:rPr lang="ru-RU" sz="2100" dirty="0" smtClean="0">
                <a:solidFill>
                  <a:schemeClr val="tx1"/>
                </a:solidFill>
                <a:latin typeface="Bookman Old Style" panose="02050604050505020204" pitchFamily="18" charset="0"/>
              </a:rPr>
              <a:t>Взрыв - схема</a:t>
            </a:r>
            <a:endParaRPr lang="ru-RU" sz="2100" dirty="0">
              <a:solidFill>
                <a:schemeClr val="tx1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50D8E95B-08D3-E8D8-CE53-CD07F9EC224A}"/>
              </a:ext>
            </a:extLst>
          </p:cNvPr>
          <p:cNvSpPr/>
          <p:nvPr/>
        </p:nvSpPr>
        <p:spPr>
          <a:xfrm>
            <a:off x="2186559" y="-819821"/>
            <a:ext cx="45719" cy="1450757"/>
          </a:xfrm>
          <a:prstGeom prst="rect">
            <a:avLst/>
          </a:prstGeom>
          <a:noFill/>
          <a:ln>
            <a:solidFill>
              <a:srgbClr val="E483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5DAC9B-18CA-CB75-84C2-2AB8C4514128}"/>
              </a:ext>
            </a:extLst>
          </p:cNvPr>
          <p:cNvSpPr txBox="1"/>
          <p:nvPr/>
        </p:nvSpPr>
        <p:spPr>
          <a:xfrm>
            <a:off x="2315062" y="197597"/>
            <a:ext cx="2081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Bookman Old Style" panose="02050604050505020204" pitchFamily="18" charset="0"/>
              </a:rPr>
              <a:t>8</a:t>
            </a:r>
            <a:endParaRPr lang="ru-RU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4586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D9D043-962F-1E64-5885-DCC65DFC1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5AB4948E-403F-8BD1-4F45-E39646424114}"/>
              </a:ext>
            </a:extLst>
          </p:cNvPr>
          <p:cNvSpPr/>
          <p:nvPr/>
        </p:nvSpPr>
        <p:spPr>
          <a:xfrm>
            <a:off x="1124712" y="1682496"/>
            <a:ext cx="10113264" cy="1305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AA5BDCBD-3ED4-5058-EC0B-E05F263AF05E}"/>
              </a:ext>
            </a:extLst>
          </p:cNvPr>
          <p:cNvSpPr/>
          <p:nvPr/>
        </p:nvSpPr>
        <p:spPr>
          <a:xfrm rot="313685">
            <a:off x="7646174" y="-642333"/>
            <a:ext cx="5200789" cy="8137980"/>
          </a:xfrm>
          <a:prstGeom prst="rect">
            <a:avLst/>
          </a:prstGeom>
          <a:solidFill>
            <a:srgbClr val="BD582C"/>
          </a:solidFill>
          <a:ln w="57150">
            <a:solidFill>
              <a:srgbClr val="E483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с</a:t>
            </a:r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952F2A-5525-5EC3-D8E9-782CE72A23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6" y="-819821"/>
            <a:ext cx="10012682" cy="1386750"/>
          </a:xfrm>
        </p:spPr>
        <p:txBody>
          <a:bodyPr>
            <a:normAutofit/>
          </a:bodyPr>
          <a:lstStyle/>
          <a:p>
            <a:r>
              <a:rPr lang="ru-RU" sz="2000" dirty="0" smtClean="0">
                <a:solidFill>
                  <a:schemeClr val="tx1"/>
                </a:solidFill>
                <a:latin typeface="Bookman Old Style" panose="02050604050505020204" pitchFamily="18" charset="0"/>
              </a:rPr>
              <a:t>Итоги и самооценка</a:t>
            </a:r>
            <a:endParaRPr lang="ru-RU" sz="2000" dirty="0">
              <a:solidFill>
                <a:schemeClr val="tx1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50D8E95B-08D3-E8D8-CE53-CD07F9EC224A}"/>
              </a:ext>
            </a:extLst>
          </p:cNvPr>
          <p:cNvSpPr/>
          <p:nvPr/>
        </p:nvSpPr>
        <p:spPr>
          <a:xfrm>
            <a:off x="2839700" y="-725379"/>
            <a:ext cx="45719" cy="1450757"/>
          </a:xfrm>
          <a:prstGeom prst="rect">
            <a:avLst/>
          </a:prstGeom>
          <a:noFill/>
          <a:ln>
            <a:solidFill>
              <a:srgbClr val="E483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5DAC9B-18CA-CB75-84C2-2AB8C4514128}"/>
              </a:ext>
            </a:extLst>
          </p:cNvPr>
          <p:cNvSpPr txBox="1"/>
          <p:nvPr/>
        </p:nvSpPr>
        <p:spPr>
          <a:xfrm>
            <a:off x="3034283" y="197597"/>
            <a:ext cx="2081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Bookman Old Style" panose="02050604050505020204" pitchFamily="18" charset="0"/>
              </a:rPr>
              <a:t>9</a:t>
            </a:r>
            <a:endParaRPr lang="ru-RU" dirty="0">
              <a:latin typeface="Bookman Old Style" panose="02050604050505020204" pitchFamily="18" charset="0"/>
            </a:endParaRP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20E5DE26-4D9B-5C26-9E1A-51DE74FCA589}"/>
              </a:ext>
            </a:extLst>
          </p:cNvPr>
          <p:cNvSpPr/>
          <p:nvPr/>
        </p:nvSpPr>
        <p:spPr>
          <a:xfrm>
            <a:off x="7260335" y="6407944"/>
            <a:ext cx="960121" cy="450056"/>
          </a:xfrm>
          <a:prstGeom prst="rect">
            <a:avLst/>
          </a:prstGeom>
          <a:solidFill>
            <a:srgbClr val="BD582C"/>
          </a:solidFill>
          <a:ln>
            <a:solidFill>
              <a:srgbClr val="BD582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3430" y="725378"/>
            <a:ext cx="3957955" cy="511226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82037" y="1004132"/>
            <a:ext cx="694311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Bookman Old Style" panose="02050604050505020204" pitchFamily="18" charset="0"/>
              </a:rPr>
              <a:t>Создан работающий прототип, стабилизирующий мелкие </a:t>
            </a:r>
            <a:r>
              <a:rPr lang="ru-RU" dirty="0" smtClean="0">
                <a:latin typeface="Bookman Old Style" panose="02050604050505020204" pitchFamily="18" charset="0"/>
              </a:rPr>
              <a:t>движения и успешно заменяющий компьютерную мышь.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>
                <a:latin typeface="Bookman Old Style" panose="02050604050505020204" pitchFamily="18" charset="0"/>
              </a:rPr>
              <a:t>Устройство не имеет колоссальной цены.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>
                <a:latin typeface="Bookman Old Style" panose="02050604050505020204" pitchFamily="18" charset="0"/>
              </a:rPr>
              <a:t>Учтены </a:t>
            </a:r>
            <a:r>
              <a:rPr lang="ru-RU" dirty="0">
                <a:latin typeface="Bookman Old Style" panose="02050604050505020204" pitchFamily="18" charset="0"/>
              </a:rPr>
              <a:t>ключевые </a:t>
            </a:r>
            <a:r>
              <a:rPr lang="ru-RU" dirty="0" smtClean="0">
                <a:latin typeface="Bookman Old Style" panose="02050604050505020204" pitchFamily="18" charset="0"/>
              </a:rPr>
              <a:t>эргономические </a:t>
            </a:r>
            <a:r>
              <a:rPr lang="ru-RU" dirty="0">
                <a:latin typeface="Bookman Old Style" panose="02050604050505020204" pitchFamily="18" charset="0"/>
              </a:rPr>
              <a:t>требования.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8263" y="668706"/>
            <a:ext cx="2371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latin typeface="Bookman Old Style" panose="02050604050505020204" pitchFamily="18" charset="0"/>
              </a:rPr>
              <a:t>Итоги работы:</a:t>
            </a:r>
            <a:endParaRPr lang="ru-RU" dirty="0">
              <a:latin typeface="Bookman Old Style" panose="020506040505050202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00688" y="5237568"/>
            <a:ext cx="58769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latin typeface="Bookman Old Style" panose="02050604050505020204" pitchFamily="18" charset="0"/>
              </a:rPr>
              <a:t>Развитие проекта в будущем: интеграция</a:t>
            </a:r>
            <a:r>
              <a:rPr lang="en-US" dirty="0">
                <a:latin typeface="Bookman Old Style" panose="02050604050505020204" pitchFamily="18" charset="0"/>
              </a:rPr>
              <a:t> </a:t>
            </a:r>
            <a:r>
              <a:rPr lang="en-US" dirty="0" smtClean="0">
                <a:latin typeface="Bookman Old Style" panose="02050604050505020204" pitchFamily="18" charset="0"/>
              </a:rPr>
              <a:t>c</a:t>
            </a:r>
            <a:r>
              <a:rPr lang="ru-RU" dirty="0" smtClean="0">
                <a:latin typeface="Bookman Old Style" panose="02050604050505020204" pitchFamily="18" charset="0"/>
              </a:rPr>
              <a:t> </a:t>
            </a:r>
            <a:r>
              <a:rPr lang="en-US" dirty="0" smtClean="0">
                <a:latin typeface="Bookman Old Style" panose="02050604050505020204" pitchFamily="18" charset="0"/>
              </a:rPr>
              <a:t>Bluetooth</a:t>
            </a:r>
            <a:r>
              <a:rPr lang="ru-RU" dirty="0" smtClean="0">
                <a:latin typeface="Bookman Old Style" panose="02050604050505020204" pitchFamily="18" charset="0"/>
              </a:rPr>
              <a:t> </a:t>
            </a:r>
            <a:r>
              <a:rPr lang="en-US" dirty="0" smtClean="0">
                <a:latin typeface="Bookman Old Style" panose="02050604050505020204" pitchFamily="18" charset="0"/>
              </a:rPr>
              <a:t>5.3</a:t>
            </a:r>
            <a:endParaRPr lang="ru-RU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51985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Ретро">
  <a:themeElements>
    <a:clrScheme name="Ретро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Ретро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Ретр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432</TotalTime>
  <Words>525</Words>
  <Application>Microsoft Office PowerPoint</Application>
  <PresentationFormat>Широкоэкранный</PresentationFormat>
  <Paragraphs>68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5" baseType="lpstr">
      <vt:lpstr>Arial</vt:lpstr>
      <vt:lpstr>Bookman Old Style</vt:lpstr>
      <vt:lpstr>Calibri</vt:lpstr>
      <vt:lpstr>Calibri Light</vt:lpstr>
      <vt:lpstr>Times New Roman</vt:lpstr>
      <vt:lpstr>Ретро</vt:lpstr>
      <vt:lpstr>Манипулятор для людей с  ограниченной моторикой рук</vt:lpstr>
      <vt:lpstr>Причины создания проекта</vt:lpstr>
      <vt:lpstr>Анализ аналогов</vt:lpstr>
      <vt:lpstr>Цели и задачи</vt:lpstr>
      <vt:lpstr>Ценообразование</vt:lpstr>
      <vt:lpstr>Выбор материалов</vt:lpstr>
      <vt:lpstr>Процесс изготовления</vt:lpstr>
      <vt:lpstr>Взрыв - схема</vt:lpstr>
      <vt:lpstr>Итоги и самооценка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Манипулятор для людей с  ограниченной моторикой рук</dc:title>
  <dc:creator>Андрей Пивоваров</dc:creator>
  <cp:lastModifiedBy>Пользователь Windows</cp:lastModifiedBy>
  <cp:revision>18</cp:revision>
  <dcterms:created xsi:type="dcterms:W3CDTF">2026-02-08T13:02:55Z</dcterms:created>
  <dcterms:modified xsi:type="dcterms:W3CDTF">2026-02-09T08:04:21Z</dcterms:modified>
</cp:coreProperties>
</file>