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09T10:34:21.973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g"/><Relationship Id="rId4" Type="http://schemas.openxmlformats.org/officeDocument/2006/relationships/image" Target="../media/image10.jpg"/><Relationship Id="rId9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51F05A-A149-91D9-F06E-BE9FD1261F7A}"/>
              </a:ext>
            </a:extLst>
          </p:cNvPr>
          <p:cNvSpPr/>
          <p:nvPr/>
        </p:nvSpPr>
        <p:spPr>
          <a:xfrm>
            <a:off x="1170432" y="4251960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371600" y="46402"/>
            <a:ext cx="9485375" cy="131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Государственное бюджетное общеобразовательное учреждение </a:t>
            </a:r>
            <a:endParaRPr lang="en-US" sz="2000" dirty="0">
              <a:latin typeface="Bookman Old Style" panose="02050604050505020204" pitchFamily="18" charset="0"/>
              <a:cs typeface="Arial" pitchFamily="34" charset="0"/>
            </a:endParaRPr>
          </a:p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города Москвы «Школа № 1103 имени Героя Российской Федерации А.В. Соломатина»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2644139" y="2077504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Bookman Old Style" panose="02050604050505020204" pitchFamily="18" charset="0"/>
                <a:cs typeface="Arial" pitchFamily="34" charset="0"/>
              </a:rPr>
              <a:t>Манипулятор для людей с ограниченной моторикой рук</a:t>
            </a:r>
          </a:p>
          <a:p>
            <a:endParaRPr lang="ru-RU" sz="66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90829" y="3654214"/>
            <a:ext cx="4401171" cy="253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Участник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ученик 9 «И» класса ГБОУ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Школа № 1103  Пивоваров Андрей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Руководитель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 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учитель ГБОУ Школа № 1103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Сокур Мария Евгеньевна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2844" y="6413611"/>
            <a:ext cx="1962888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4617720" y="969686"/>
            <a:ext cx="7325511" cy="43644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Множество людей в современном мире страдают от проблем с мелкой моторикой, и все они часто имеют трудности при коммуникации с цифровой средой, которая в наше время отвечает за поток информации, учебу, работу и многое другое. Для таких людей обыкновенные средства ввода часто становятся непреодолимым барьером.</a:t>
            </a:r>
          </a:p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Высокая стоимость от 5 тыс. рублей, сложность настройки, необходимость в специальной подготовке пользователя, а также часто минимальная эффективность при треморе делает аналоги на рынке неподходящими для пожилых людей или людей с ограниченными возможностями.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-893004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Анализ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395728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486758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723902" y="746261"/>
            <a:ext cx="3034281" cy="2452122"/>
          </a:xfrm>
          <a:prstGeom prst="rect">
            <a:avLst/>
          </a:prstGeom>
        </p:spPr>
      </p:pic>
      <p:pic>
        <p:nvPicPr>
          <p:cNvPr id="1028" name="Picture 4" descr="Logitech Marble Trackball Mouse (910-000808) | 250000072601">
            <a:extLst>
              <a:ext uri="{FF2B5EF4-FFF2-40B4-BE49-F238E27FC236}">
                <a16:creationId xmlns:a16="http://schemas.microsoft.com/office/drawing/2014/main" id="{8813296E-A5AA-7C05-2EB8-E4320A46F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920" y="862879"/>
            <a:ext cx="2573616" cy="207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044" y="320485"/>
            <a:ext cx="3034281" cy="30342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408450" y="3616487"/>
            <a:ext cx="345877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Головной указатель 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Eye Gaze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Следит за движением глаз, не задействует руки, однако имеет сложную калибровку, высокую стоимость и сильные неточности при недостатке света.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361025" y="3577402"/>
            <a:ext cx="36998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Голосовой указатель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Dragon Naturally Speaking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Так же не задействует рук, но  нестабилен в шумной среде, имеет высокую стоимость и не подходит людям испытывающим проблемы с речью.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755380" y="3605844"/>
            <a:ext cx="29489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Trackball 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Logitech Marble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Не задействует всю руку, однако требует точной мелкой моторики, что очень редко наблюдается у людей с тремором рук.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C1815B-F396-BA02-D269-6D3991EDF780}"/>
              </a:ext>
            </a:extLst>
          </p:cNvPr>
          <p:cNvSpPr txBox="1"/>
          <p:nvPr/>
        </p:nvSpPr>
        <p:spPr>
          <a:xfrm>
            <a:off x="193548" y="5615920"/>
            <a:ext cx="11894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Анализ показал, что ни один из существующих аналогов не решает ключевую проблему: физическая стабилизация движения руки при сохранении интуитивного, привычного интерфейса.</a:t>
            </a:r>
          </a:p>
        </p:txBody>
      </p:sp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535936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708557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latin typeface="Bookman Old Style" panose="02050604050505020204" pitchFamily="18" charset="0"/>
              </a:rPr>
              <a:t>Целью работы </a:t>
            </a:r>
            <a:r>
              <a:rPr lang="ru-RU" dirty="0">
                <a:latin typeface="Bookman Old Style" panose="02050604050505020204" pitchFamily="18" charset="0"/>
              </a:rPr>
              <a:t>является</a:t>
            </a:r>
            <a:r>
              <a:rPr lang="ru-RU" b="1" dirty="0">
                <a:latin typeface="Bookman Old Style" panose="02050604050505020204" pitchFamily="18" charset="0"/>
              </a:rPr>
              <a:t> </a:t>
            </a:r>
            <a:r>
              <a:rPr lang="ru-RU" dirty="0">
                <a:latin typeface="Bookman Old Style" panose="020506040505050202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832513" y="1402733"/>
            <a:ext cx="5833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Работа в любой среде, с плохим освещением или в шумных местах по типу офиса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370832" y="3346533"/>
            <a:ext cx="5477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617720" y="3531199"/>
            <a:ext cx="68122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766059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10467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розничная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873938"/>
              </p:ext>
            </p:extLst>
          </p:nvPr>
        </p:nvGraphicFramePr>
        <p:xfrm>
          <a:off x="3832848" y="378044"/>
          <a:ext cx="6574755" cy="57629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Выбор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720340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86664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ookman Old Style" panose="02050604050505020204" pitchFamily="18" charset="0"/>
              </a:rPr>
              <a:t>6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494441" y="977552"/>
            <a:ext cx="747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Для 3</a:t>
            </a:r>
            <a:r>
              <a:rPr lang="en-US" dirty="0">
                <a:latin typeface="Bookman Old Style" panose="02050604050505020204" pitchFamily="18" charset="0"/>
              </a:rPr>
              <a:t>D</a:t>
            </a:r>
            <a:r>
              <a:rPr lang="ru-RU" dirty="0">
                <a:latin typeface="Bookman Old Style" panose="02050604050505020204" pitchFamily="18" charset="0"/>
              </a:rPr>
              <a:t>-печати рассматривались следующие термопластики: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E0792-A0D1-8CA8-F159-C2272754789A}"/>
              </a:ext>
            </a:extLst>
          </p:cNvPr>
          <p:cNvSpPr txBox="1"/>
          <p:nvPr/>
        </p:nvSpPr>
        <p:spPr>
          <a:xfrm>
            <a:off x="1060337" y="1422892"/>
            <a:ext cx="7379574" cy="3650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PLA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легко печатается, биоразлагаем, но хрупок и имеет низкую температуру стеклования (~60°C), что неприемлемо для устройства, которое может остаться в автомобиле на солнце.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ABS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прочнее PLA, но склонен к деформациям при печати ведь требует закрытой камеры, и выделяет опасные испарения.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PETG </a:t>
            </a:r>
            <a:r>
              <a:rPr lang="en-US" dirty="0">
                <a:latin typeface="Bookman Old Style" panose="02050604050505020204" pitchFamily="18" charset="0"/>
              </a:rPr>
              <a:t>–</a:t>
            </a:r>
            <a:r>
              <a:rPr lang="ru-RU" dirty="0">
                <a:latin typeface="Bookman Old Style" panose="02050604050505020204" pitchFamily="18" charset="0"/>
              </a:rPr>
              <a:t> чуть менее прочный чем </a:t>
            </a:r>
            <a:r>
              <a:rPr lang="en-US" dirty="0">
                <a:latin typeface="Bookman Old Style" panose="02050604050505020204" pitchFamily="18" charset="0"/>
              </a:rPr>
              <a:t>ABS, </a:t>
            </a:r>
            <a:r>
              <a:rPr lang="ru-RU" dirty="0">
                <a:latin typeface="Bookman Old Style" panose="02050604050505020204" pitchFamily="18" charset="0"/>
              </a:rPr>
              <a:t>однако не выделяет опасных паров, прост в печати, имеет высокую ударную вязкость и химическую стойкость.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8EABFF-670C-99BA-6911-B92A7CCEF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896137" y="2432327"/>
            <a:ext cx="4075367" cy="23956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494441" y="5344687"/>
            <a:ext cx="8028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Был выбран </a:t>
            </a:r>
            <a:r>
              <a:rPr lang="en-US" dirty="0">
                <a:latin typeface="Bookman Old Style" panose="02050604050505020204" pitchFamily="18" charset="0"/>
              </a:rPr>
              <a:t>PETG </a:t>
            </a:r>
            <a:r>
              <a:rPr lang="ru-RU" dirty="0">
                <a:latin typeface="Bookman Old Style" panose="02050604050505020204" pitchFamily="18" charset="0"/>
              </a:rPr>
              <a:t>пластик(</a:t>
            </a:r>
            <a:r>
              <a:rPr lang="ru-RU" i="1" dirty="0">
                <a:latin typeface="Bookman Old Style" panose="02050604050505020204" pitchFamily="18" charset="0"/>
              </a:rPr>
              <a:t>Полиэтилентерефталат гликоль</a:t>
            </a:r>
            <a:r>
              <a:rPr lang="ru-RU" dirty="0">
                <a:latin typeface="Bookman Old Style" panose="02050604050505020204" pitchFamily="18" charset="0"/>
              </a:rPr>
              <a:t>), ведь он совмещает лучшие стороны своих конкурентов.</a:t>
            </a: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3163685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7</a:t>
            </a:r>
            <a:endParaRPr lang="ru-RU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63198" y="4650889"/>
            <a:ext cx="2587691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sp>
        <p:nvSpPr>
          <p:cNvPr id="35" name="TextBox 34"/>
          <p:cNvSpPr txBox="1"/>
          <p:nvPr/>
        </p:nvSpPr>
        <p:spPr>
          <a:xfrm>
            <a:off x="4121420" y="109626"/>
            <a:ext cx="7981190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Было решено что будут использоваться следующие электрические компоненты: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66162" y="3465989"/>
            <a:ext cx="4789729" cy="263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После определения эл. компонентов началось моделирование деталей манипулятора. Первая версия рукоятки была недостаточно эргономичной, и была усовершенствована, получив большую площадь опоры для руки и пазы для пальцев. Потом последовала 3</a:t>
            </a:r>
            <a:r>
              <a:rPr lang="en-US" sz="1700" dirty="0">
                <a:latin typeface="Bookman Old Style" panose="02050604050505020204" pitchFamily="18" charset="0"/>
              </a:rPr>
              <a:t>D</a:t>
            </a:r>
            <a:r>
              <a:rPr lang="ru-RU" sz="1700" dirty="0">
                <a:latin typeface="Bookman Old Style" panose="02050604050505020204" pitchFamily="18" charset="0"/>
              </a:rPr>
              <a:t> печать и зачистка деталей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3883" y="849182"/>
            <a:ext cx="5547014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700" dirty="0">
                <a:latin typeface="Bookman Old Style" panose="02050604050505020204" pitchFamily="18" charset="0"/>
              </a:rPr>
              <a:t>MPU-6050 </a:t>
            </a:r>
            <a:r>
              <a:rPr lang="ru-RU" sz="1700" dirty="0">
                <a:latin typeface="Bookman Old Style" panose="02050604050505020204" pitchFamily="18" charset="0"/>
              </a:rPr>
              <a:t>для преобразования наклона манипулятора в сигнал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>
                <a:latin typeface="Bookman Old Style" panose="02050604050505020204" pitchFamily="18" charset="0"/>
              </a:rPr>
              <a:t>Arduino Pro Micro </a:t>
            </a:r>
            <a:r>
              <a:rPr lang="ru-RU" sz="1700" dirty="0">
                <a:latin typeface="Bookman Old Style" panose="02050604050505020204" pitchFamily="18" charset="0"/>
              </a:rPr>
              <a:t>для управления компьютером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dirty="0">
                <a:latin typeface="Bookman Old Style" panose="02050604050505020204" pitchFamily="18" charset="0"/>
              </a:rPr>
              <a:t>Инкрементальный энкодер </a:t>
            </a:r>
            <a:r>
              <a:rPr lang="en-US" sz="1700" dirty="0">
                <a:latin typeface="Bookman Old Style" panose="02050604050505020204" pitchFamily="18" charset="0"/>
              </a:rPr>
              <a:t>EC11</a:t>
            </a:r>
            <a:r>
              <a:rPr lang="ru-RU" sz="1700" dirty="0">
                <a:latin typeface="Bookman Old Style" panose="02050604050505020204" pitchFamily="18" charset="0"/>
              </a:rPr>
              <a:t> для имитации прокрутки колесика мыши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dirty="0">
                <a:latin typeface="Bookman Old Style" panose="02050604050505020204" pitchFamily="18" charset="0"/>
              </a:rPr>
              <a:t>Тактовые кнопки для выбора чувствительности и имитации левого/правого клика мыши</a:t>
            </a: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860" y="1327950"/>
            <a:ext cx="1188407" cy="1188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10305881" y="599809"/>
            <a:ext cx="1090367" cy="891601"/>
          </a:xfrm>
          <a:prstGeom prst="rect">
            <a:avLst/>
          </a:prstGeom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10904241" y="2299441"/>
            <a:ext cx="1117587" cy="1117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avatars.mds.yandex.net/get-goods_pic/14045641/hat2c249d07c31a47bc42936a31d51ea9f8/orig"/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6952" y="2376949"/>
            <a:ext cx="637024" cy="55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86559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15062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839700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303428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2037" y="1087021"/>
            <a:ext cx="6943112" cy="1793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Создан работающий прототип, стабилизирующий мелкие 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Bookman Old Style" panose="02050604050505020204" pitchFamily="18" charset="0"/>
              </a:rPr>
              <a:t> c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Bluetooth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5.3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612</TotalTime>
  <Words>740</Words>
  <Application>Microsoft Office PowerPoint</Application>
  <PresentationFormat>Широкоэкранный</PresentationFormat>
  <Paragraphs>93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Bookman Old Style</vt:lpstr>
      <vt:lpstr>Calibri</vt:lpstr>
      <vt:lpstr>Calibri Light</vt:lpstr>
      <vt:lpstr>Ретро</vt:lpstr>
      <vt:lpstr>Презентация PowerPoint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  <vt:lpstr>Процесс изготовления</vt:lpstr>
      <vt:lpstr>Взрыв - схема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Андрей Пивоваров</cp:lastModifiedBy>
  <cp:revision>24</cp:revision>
  <dcterms:created xsi:type="dcterms:W3CDTF">2026-02-08T13:02:55Z</dcterms:created>
  <dcterms:modified xsi:type="dcterms:W3CDTF">2026-02-09T16:48:35Z</dcterms:modified>
</cp:coreProperties>
</file>