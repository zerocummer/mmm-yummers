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10.02.2026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51F05A-A149-91D9-F06E-BE9FD1261F7A}"/>
              </a:ext>
            </a:extLst>
          </p:cNvPr>
          <p:cNvSpPr/>
          <p:nvPr/>
        </p:nvSpPr>
        <p:spPr>
          <a:xfrm>
            <a:off x="1170432" y="4251960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371600" y="46402"/>
            <a:ext cx="9485375" cy="131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Государственное бюджетное общеобразовательное учреждение </a:t>
            </a:r>
            <a:endParaRPr lang="en-US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города Москвы «Школа № 1103 имени Героя Российской Федерации А.В. Соломатина»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44139" y="2077504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Bookman Old Style" panose="02050604050505020204" pitchFamily="18" charset="0"/>
                <a:cs typeface="Arial" pitchFamily="34" charset="0"/>
              </a:rPr>
              <a:t>Манипулятор для людей с ограниченной моторикой рук</a:t>
            </a:r>
          </a:p>
          <a:p>
            <a:endParaRPr lang="ru-RU" sz="66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90829" y="3654214"/>
            <a:ext cx="4401171" cy="253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Участник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ученик 9 «И» класса ГБОУ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Школа № 1103  Пивоваров Андрей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Руководитель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 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учитель ГБОУ Школа № 1103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Сокур Мария Евгеньевна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2844" y="6413611"/>
            <a:ext cx="1962888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C27AE-8F82-81F9-C985-CDA318D3822B}"/>
              </a:ext>
            </a:extLst>
          </p:cNvPr>
          <p:cNvSpPr txBox="1"/>
          <p:nvPr/>
        </p:nvSpPr>
        <p:spPr>
          <a:xfrm>
            <a:off x="4370832" y="1427395"/>
            <a:ext cx="6377940" cy="1291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800" dirty="0">
                <a:latin typeface="Bookman Old Style" panose="02050604050505020204" pitchFamily="18" charset="0"/>
              </a:rPr>
              <a:t>Цифровая среда недоступна для людей с ограниченной моторикой, ведь существующие решения имеют: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A404E-2F5C-A308-9FF5-FB5EF244CA4A}"/>
              </a:ext>
            </a:extLst>
          </p:cNvPr>
          <p:cNvSpPr txBox="1"/>
          <p:nvPr/>
        </p:nvSpPr>
        <p:spPr>
          <a:xfrm>
            <a:off x="5684474" y="2846246"/>
            <a:ext cx="5338618" cy="170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Высокую стоимость(от 5000 </a:t>
            </a:r>
            <a:r>
              <a:rPr lang="ru-RU" dirty="0"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₽</a:t>
            </a:r>
            <a:r>
              <a:rPr lang="ru-RU" dirty="0">
                <a:latin typeface="Bookman Old Style" panose="02050604050505020204" pitchFamily="18" charset="0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Сложную настройку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Минимальную эффективность при треморе</a:t>
            </a:r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-893004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86758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23902" y="746261"/>
            <a:ext cx="3034281" cy="2452122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920" y="862879"/>
            <a:ext cx="2573616" cy="207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4" y="32048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408450" y="3616487"/>
            <a:ext cx="3458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Следит за движением глаз, не задействует руки, но имеет сложную калибровку, высокую стоимость и сильные неточности при недостатке света.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361025" y="3577402"/>
            <a:ext cx="36998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рук, но  нестабилен в шумной среде, имеет высокую стоимость и не подходит людям испытывающим проблемы с речью.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755380" y="3605844"/>
            <a:ext cx="29489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Trackball 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Logitech Marble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всю руку, однако требует точной мелкой моторики, что недостижимо у людей с тремором рук.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C1815B-F396-BA02-D269-6D3991EDF780}"/>
              </a:ext>
            </a:extLst>
          </p:cNvPr>
          <p:cNvSpPr txBox="1"/>
          <p:nvPr/>
        </p:nvSpPr>
        <p:spPr>
          <a:xfrm>
            <a:off x="193548" y="5615920"/>
            <a:ext cx="11894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Анализ показал, что ни один из существующих аналогов не решает ключевую проблему: физическая стабилизация движения руки при сохранении интуитивного, привычного интерфейса.</a:t>
            </a:r>
          </a:p>
        </p:txBody>
      </p:sp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535936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708557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Bookman Old Style" panose="02050604050505020204" pitchFamily="18" charset="0"/>
              </a:rPr>
              <a:t>Целью работы </a:t>
            </a:r>
            <a:r>
              <a:rPr lang="ru-RU" dirty="0">
                <a:latin typeface="Bookman Old Style" panose="02050604050505020204" pitchFamily="18" charset="0"/>
              </a:rPr>
              <a:t>является</a:t>
            </a:r>
            <a:r>
              <a:rPr lang="ru-RU" b="1" dirty="0">
                <a:latin typeface="Bookman Old Style" panose="02050604050505020204" pitchFamily="18" charset="0"/>
              </a:rPr>
              <a:t> </a:t>
            </a:r>
            <a:r>
              <a:rPr lang="ru-RU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32513" y="1402733"/>
            <a:ext cx="5833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370832" y="3346533"/>
            <a:ext cx="5477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617720" y="3531199"/>
            <a:ext cx="68122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10467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розничная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873938"/>
              </p:ext>
            </p:extLst>
          </p:nvPr>
        </p:nvGraphicFramePr>
        <p:xfrm>
          <a:off x="3832848" y="378044"/>
          <a:ext cx="6574755" cy="5731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6664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man Old Style" panose="02050604050505020204" pitchFamily="18" charset="0"/>
              </a:rPr>
              <a:t>6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494441" y="977552"/>
            <a:ext cx="747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Для 3</a:t>
            </a:r>
            <a:r>
              <a:rPr lang="en-US" dirty="0">
                <a:latin typeface="Bookman Old Style" panose="02050604050505020204" pitchFamily="18" charset="0"/>
              </a:rPr>
              <a:t>D</a:t>
            </a:r>
            <a:r>
              <a:rPr lang="ru-RU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8EABFF-670C-99BA-6911-B92A7CCEF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96137" y="2432327"/>
            <a:ext cx="4075367" cy="23956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494441" y="5344687"/>
            <a:ext cx="8028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Был выбран </a:t>
            </a:r>
            <a:r>
              <a:rPr lang="en-US" dirty="0">
                <a:latin typeface="Bookman Old Style" panose="02050604050505020204" pitchFamily="18" charset="0"/>
              </a:rPr>
              <a:t>PETG </a:t>
            </a:r>
            <a:r>
              <a:rPr lang="ru-RU" dirty="0">
                <a:latin typeface="Bookman Old Style" panose="02050604050505020204" pitchFamily="18" charset="0"/>
              </a:rPr>
              <a:t>пластик(</a:t>
            </a:r>
            <a:r>
              <a:rPr lang="ru-RU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E0C848-BDB1-DAFC-4A08-E6CDB8B32FF3}"/>
              </a:ext>
            </a:extLst>
          </p:cNvPr>
          <p:cNvSpPr txBox="1"/>
          <p:nvPr/>
        </p:nvSpPr>
        <p:spPr>
          <a:xfrm>
            <a:off x="731520" y="1518567"/>
            <a:ext cx="8153578" cy="3359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PLA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ABS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PETG </a:t>
            </a:r>
            <a:r>
              <a:rPr lang="en-US" dirty="0">
                <a:latin typeface="Bookman Old Style" panose="02050604050505020204" pitchFamily="18" charset="0"/>
              </a:rPr>
              <a:t>–</a:t>
            </a:r>
            <a:r>
              <a:rPr lang="ru-RU" dirty="0">
                <a:latin typeface="Bookman Old Style" panose="02050604050505020204" pitchFamily="18" charset="0"/>
              </a:rPr>
              <a:t> чуть менее прочный чем </a:t>
            </a:r>
            <a:r>
              <a:rPr lang="en-US" dirty="0">
                <a:latin typeface="Bookman Old Style" panose="02050604050505020204" pitchFamily="18" charset="0"/>
              </a:rPr>
              <a:t>ABS, </a:t>
            </a:r>
            <a:r>
              <a:rPr lang="ru-RU" dirty="0">
                <a:latin typeface="Bookman Old Style" panose="02050604050505020204" pitchFamily="18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63198" y="4650889"/>
            <a:ext cx="2587691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sp>
        <p:nvSpPr>
          <p:cNvPr id="35" name="TextBox 34"/>
          <p:cNvSpPr txBox="1"/>
          <p:nvPr/>
        </p:nvSpPr>
        <p:spPr>
          <a:xfrm>
            <a:off x="4121420" y="109626"/>
            <a:ext cx="7981190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Было решено что будут использоваться следующие электрические компоненты: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3462" y="4069431"/>
            <a:ext cx="4789729" cy="161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После определения эл. компонентов началось моделирование деталей манипулятора. Потом последовала 3</a:t>
            </a:r>
            <a:r>
              <a:rPr lang="en-US" sz="1700" dirty="0">
                <a:latin typeface="Bookman Old Style" panose="02050604050505020204" pitchFamily="18" charset="0"/>
              </a:rPr>
              <a:t>D</a:t>
            </a:r>
            <a:r>
              <a:rPr lang="ru-RU" sz="1700" dirty="0">
                <a:latin typeface="Bookman Old Style" panose="02050604050505020204" pitchFamily="18" charset="0"/>
              </a:rPr>
              <a:t> печать и зачистка деталей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69793" y="800274"/>
            <a:ext cx="5940206" cy="295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Датчик MPU-6050: отслеживание наклона рукояти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dirty="0" err="1">
                <a:latin typeface="Bookman Old Style" panose="02050604050505020204" pitchFamily="18" charset="0"/>
              </a:rPr>
              <a:t>Arduino</a:t>
            </a:r>
            <a:r>
              <a:rPr lang="ru-RU" dirty="0">
                <a:latin typeface="Bookman Old Style" panose="02050604050505020204" pitchFamily="18" charset="0"/>
              </a:rPr>
              <a:t> Pro Micro: управление компьютером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Энкодер EC11: имитация колесика мыши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Тактовые кнопки: клики и выбор чувствительности</a:t>
            </a: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860" y="1327950"/>
            <a:ext cx="1188407" cy="1188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305881" y="599809"/>
            <a:ext cx="1090367" cy="891601"/>
          </a:xfrm>
          <a:prstGeom prst="rect">
            <a:avLst/>
          </a:prstGeom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904241" y="2299441"/>
            <a:ext cx="1117587" cy="1117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6952" y="2376949"/>
            <a:ext cx="637024" cy="55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719" y="197597"/>
            <a:ext cx="8069580" cy="595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2037" y="1087021"/>
            <a:ext cx="6943112" cy="1793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c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Bluetooth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5.3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683</TotalTime>
  <Words>644</Words>
  <Application>Microsoft Office PowerPoint</Application>
  <PresentationFormat>Широкоэкранный</PresentationFormat>
  <Paragraphs>95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Arial Narrow</vt:lpstr>
      <vt:lpstr>Bookman Old Style</vt:lpstr>
      <vt:lpstr>Calibri</vt:lpstr>
      <vt:lpstr>Calibri Light</vt:lpstr>
      <vt:lpstr>Ретро</vt:lpstr>
      <vt:lpstr>Презентация PowerPoint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 - 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27</cp:revision>
  <dcterms:created xsi:type="dcterms:W3CDTF">2026-02-08T13:02:55Z</dcterms:created>
  <dcterms:modified xsi:type="dcterms:W3CDTF">2026-02-10T18:47:02Z</dcterms:modified>
</cp:coreProperties>
</file>