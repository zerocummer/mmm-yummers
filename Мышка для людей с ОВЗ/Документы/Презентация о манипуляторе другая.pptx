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FA60C96-6CC5-44CA-B53D-1E5252E7293D}">
          <p14:sldIdLst>
            <p14:sldId id="265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582C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44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45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4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77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46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3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17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78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77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646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11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2D5D3-D9D5-4A9C-867E-F13F5DA2FF7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2EAA5-9F4C-404F-A3E0-557344B718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498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51F05A-A149-91D9-F06E-BE9FD1261F7A}"/>
              </a:ext>
            </a:extLst>
          </p:cNvPr>
          <p:cNvSpPr/>
          <p:nvPr/>
        </p:nvSpPr>
        <p:spPr>
          <a:xfrm>
            <a:off x="1170432" y="4251960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371600" y="46402"/>
            <a:ext cx="9485375" cy="1312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Государственное бюджетное общеобразовательное учреждение </a:t>
            </a:r>
            <a:endParaRPr lang="en-US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города Москвы «Школа № 1103 имени Героя Российской Федерации А.В. Соломатина»</a:t>
            </a: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644139" y="2077504"/>
            <a:ext cx="6783325" cy="1126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tx1"/>
                </a:solidFill>
                <a:latin typeface="Bahnschrift SemiLight" panose="020B0502040204020203" pitchFamily="34" charset="0"/>
                <a:cs typeface="Arial" pitchFamily="34" charset="0"/>
              </a:rPr>
              <a:t>Манипулятор для людей с ограниченной моторикой рук</a:t>
            </a:r>
          </a:p>
          <a:p>
            <a:endParaRPr lang="ru-RU" sz="6600" dirty="0">
              <a:latin typeface="Bahnschrift SemiLight" panose="020B0502040204020203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Bahnschrift SemiLight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90829" y="3023278"/>
            <a:ext cx="44011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Участник</a:t>
            </a:r>
            <a:r>
              <a:rPr lang="en-US" sz="2000" dirty="0">
                <a:latin typeface="Bahnschrift SemiLight" panose="020B0502040204020203" pitchFamily="34" charset="0"/>
                <a:cs typeface="Arial" pitchFamily="34" charset="0"/>
              </a:rPr>
              <a:t>:</a:t>
            </a:r>
            <a:endParaRPr lang="ru-RU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ученик 9 «И» класса ГБОУ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Школа № 1103  Пивоваров Андрей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Руководитель</a:t>
            </a:r>
            <a:r>
              <a:rPr lang="en-US" sz="2000" dirty="0">
                <a:latin typeface="Bahnschrift SemiLight" panose="020B0502040204020203" pitchFamily="34" charset="0"/>
                <a:cs typeface="Arial" pitchFamily="34" charset="0"/>
              </a:rPr>
              <a:t>: </a:t>
            </a:r>
            <a:endParaRPr lang="ru-RU" sz="2000" dirty="0">
              <a:latin typeface="Bahnschrift SemiLight" panose="020B0502040204020203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учитель ГБОУ Школа № 1103 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Bahnschrift SemiLight" panose="020B0502040204020203" pitchFamily="34" charset="0"/>
                <a:cs typeface="Arial" pitchFamily="34" charset="0"/>
              </a:rPr>
              <a:t>Сокур Мария Евгеньевна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7980" y="6358761"/>
            <a:ext cx="2502396" cy="499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solidFill>
                  <a:schemeClr val="bg1"/>
                </a:solidFill>
                <a:latin typeface="Bookman Old Style" panose="02050604050505020204" pitchFamily="18" charset="0"/>
                <a:cs typeface="Arial" pitchFamily="34" charset="0"/>
              </a:rPr>
              <a:t>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237531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96CF4-C7D4-192D-CC89-BD4DC730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183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latin typeface="Bahnschrift SemiLight" panose="020B0502040204020203" pitchFamily="34" charset="0"/>
              </a:rPr>
              <a:t>Причины создания проекта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8F98E384-3FA1-D8A4-DF46-FDC741AFF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018" y="352971"/>
            <a:ext cx="3721212" cy="247735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339E313-2974-13F9-0F78-AE4EEE51E80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018" y="3154664"/>
            <a:ext cx="3767231" cy="25108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88D54D-CE18-D886-E409-CC353FBDB53A}"/>
              </a:ext>
            </a:extLst>
          </p:cNvPr>
          <p:cNvSpPr txBox="1"/>
          <p:nvPr/>
        </p:nvSpPr>
        <p:spPr>
          <a:xfrm>
            <a:off x="-87209" y="437087"/>
            <a:ext cx="76477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ru-RU" sz="2000" dirty="0" smtClean="0">
                <a:latin typeface="Bahnschrift SemiLight" panose="020B0502040204020203" pitchFamily="34" charset="0"/>
              </a:rPr>
              <a:t>Цифровая среда недоступна для людей с ограниченной моторикой, ведь существующие решения имеют:</a:t>
            </a:r>
            <a:endParaRPr lang="ru-RU" sz="2000" dirty="0">
              <a:latin typeface="Bahnschrift SemiLight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7337" y="1498909"/>
            <a:ext cx="5338618" cy="1876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ahnschrift SemiLight" panose="020B0502040204020203" pitchFamily="34" charset="0"/>
              </a:rPr>
              <a:t>Высоку</a:t>
            </a:r>
            <a:r>
              <a:rPr lang="ru-RU" sz="2000" dirty="0">
                <a:latin typeface="Bahnschrift SemiLight" panose="020B0502040204020203" pitchFamily="34" charset="0"/>
              </a:rPr>
              <a:t>ю</a:t>
            </a:r>
            <a:r>
              <a:rPr lang="ru-RU" sz="2000" dirty="0" smtClean="0">
                <a:latin typeface="Bahnschrift SemiLight" panose="020B0502040204020203" pitchFamily="34" charset="0"/>
              </a:rPr>
              <a:t> стоимость(от 5 тыс. рублей)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ahnschrift SemiLight" panose="020B0502040204020203" pitchFamily="34" charset="0"/>
              </a:rPr>
              <a:t>Сложну</a:t>
            </a:r>
            <a:r>
              <a:rPr lang="ru-RU" sz="2000" dirty="0">
                <a:latin typeface="Bahnschrift SemiLight" panose="020B0502040204020203" pitchFamily="34" charset="0"/>
              </a:rPr>
              <a:t>ю</a:t>
            </a:r>
            <a:r>
              <a:rPr lang="ru-RU" sz="2000" dirty="0" smtClean="0">
                <a:latin typeface="Bahnschrift SemiLight" panose="020B0502040204020203" pitchFamily="34" charset="0"/>
              </a:rPr>
              <a:t> настройку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ahnschrift SemiLight" panose="020B0502040204020203" pitchFamily="34" charset="0"/>
              </a:rPr>
              <a:t>Минимальную эффективность при треморе</a:t>
            </a:r>
            <a:endParaRPr lang="ru-RU" sz="2000" dirty="0"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5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C43A-2B39-8512-A888-74E974DD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1C7C3-9F88-3FC4-B00E-651E1E9EA536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ECAE8C-08D8-46FB-96DE-D4106AA87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9" y="-40954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Анализ аналогов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17017A5-9C63-F306-C2B8-260D27A607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62" t="3256" r="27794" b="6779"/>
          <a:stretch/>
        </p:blipFill>
        <p:spPr>
          <a:xfrm>
            <a:off x="10153700" y="466437"/>
            <a:ext cx="1918227" cy="1992847"/>
          </a:xfrm>
          <a:prstGeom prst="rect">
            <a:avLst/>
          </a:prstGeom>
        </p:spPr>
      </p:pic>
      <p:pic>
        <p:nvPicPr>
          <p:cNvPr id="1028" name="Picture 4" descr="Logitech Marble Trackball Mouse (910-000808) | 250000072601">
            <a:extLst>
              <a:ext uri="{FF2B5EF4-FFF2-40B4-BE49-F238E27FC236}">
                <a16:creationId xmlns:a16="http://schemas.microsoft.com/office/drawing/2014/main" id="{8813296E-A5AA-7C05-2EB8-E4320A46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1801" y="4959095"/>
            <a:ext cx="2011991" cy="161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4AEA7E9-027E-7F21-B7B6-0971678743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1801" y="2518338"/>
            <a:ext cx="2116888" cy="2116888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560952"/>
              </p:ext>
            </p:extLst>
          </p:nvPr>
        </p:nvGraphicFramePr>
        <p:xfrm>
          <a:off x="141018" y="466437"/>
          <a:ext cx="9492508" cy="622069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95410">
                  <a:extLst>
                    <a:ext uri="{9D8B030D-6E8A-4147-A177-3AD203B41FA5}">
                      <a16:colId xmlns:a16="http://schemas.microsoft.com/office/drawing/2014/main" val="3178555124"/>
                    </a:ext>
                  </a:extLst>
                </a:gridCol>
                <a:gridCol w="2131693">
                  <a:extLst>
                    <a:ext uri="{9D8B030D-6E8A-4147-A177-3AD203B41FA5}">
                      <a16:colId xmlns:a16="http://schemas.microsoft.com/office/drawing/2014/main" val="898857642"/>
                    </a:ext>
                  </a:extLst>
                </a:gridCol>
                <a:gridCol w="1533213">
                  <a:extLst>
                    <a:ext uri="{9D8B030D-6E8A-4147-A177-3AD203B41FA5}">
                      <a16:colId xmlns:a16="http://schemas.microsoft.com/office/drawing/2014/main" val="1655662424"/>
                    </a:ext>
                  </a:extLst>
                </a:gridCol>
                <a:gridCol w="3432192">
                  <a:extLst>
                    <a:ext uri="{9D8B030D-6E8A-4147-A177-3AD203B41FA5}">
                      <a16:colId xmlns:a16="http://schemas.microsoft.com/office/drawing/2014/main" val="3602813863"/>
                    </a:ext>
                  </a:extLst>
                </a:gridCol>
              </a:tblGrid>
              <a:tr h="983482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Наименование устройства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Принцип работы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Преимущества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Недостатки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3761474004"/>
                  </a:ext>
                </a:extLst>
              </a:tr>
              <a:tr h="196696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 smtClean="0">
                          <a:effectLst/>
                          <a:latin typeface="Bahnschrift SemiLight" panose="020B0502040204020203" pitchFamily="34" charset="0"/>
                        </a:rPr>
                        <a:t>Головной 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указатель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EyeGaze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Следит за движением глаз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руки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Нестабилен при плохом освещении, требует калибровки, сильно выматывает глаза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616761322"/>
                  </a:ext>
                </a:extLst>
              </a:tr>
              <a:tr h="179502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Голосовое управление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Dragon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NaturallySpeaking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Распознавание речи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руки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Нестабилен в шумной среде, не подходит при нарушениях речи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29982697"/>
                  </a:ext>
                </a:extLst>
              </a:tr>
              <a:tr h="1475223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TrackBall (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Logitech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 </a:t>
                      </a:r>
                      <a:r>
                        <a:rPr lang="ru-RU" sz="2000" kern="100" dirty="0" err="1">
                          <a:effectLst/>
                          <a:latin typeface="Bahnschrift SemiLight" panose="020B0502040204020203" pitchFamily="34" charset="0"/>
                        </a:rPr>
                        <a:t>Marble</a:t>
                      </a: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)</a:t>
                      </a:r>
                      <a:endParaRPr lang="ru-RU" sz="2000" b="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Контроль шариком пальцем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Не задействует всю руку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kern="100" dirty="0">
                          <a:effectLst/>
                          <a:latin typeface="Bahnschrift SemiLight" panose="020B0502040204020203" pitchFamily="34" charset="0"/>
                        </a:rPr>
                        <a:t>Требует точной мелкой моторики</a:t>
                      </a:r>
                      <a:endParaRPr lang="ru-RU" sz="2000" kern="100" dirty="0">
                        <a:effectLst/>
                        <a:latin typeface="Bahnschrift SemiLight" panose="020B0502040204020203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802" marR="51802" marT="0" marB="0" anchor="ctr"/>
                </a:tc>
                <a:extLst>
                  <a:ext uri="{0D108BD9-81ED-4DB2-BD59-A6C34878D82A}">
                    <a16:rowId xmlns:a16="http://schemas.microsoft.com/office/drawing/2014/main" val="1608799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65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8F465-CAB7-9663-BEE2-BD3E5BB1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57DAB3B-2AE3-DE9F-503B-957F6888CEAE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CE2B1-3303-945F-7107-B77E91F5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503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Цели и задачи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C43B6-2D3A-404E-09D9-CA6B25DFB271}"/>
              </a:ext>
            </a:extLst>
          </p:cNvPr>
          <p:cNvSpPr txBox="1"/>
          <p:nvPr/>
        </p:nvSpPr>
        <p:spPr>
          <a:xfrm>
            <a:off x="374649" y="293102"/>
            <a:ext cx="89044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>
                <a:latin typeface="Bahnschrift SemiLight" panose="020B0502040204020203" pitchFamily="34" charset="0"/>
              </a:rPr>
              <a:t>Целью работы </a:t>
            </a:r>
            <a:r>
              <a:rPr lang="ru-RU" sz="2000" dirty="0">
                <a:latin typeface="Bahnschrift SemiLight" panose="020B0502040204020203" pitchFamily="34" charset="0"/>
              </a:rPr>
              <a:t>является</a:t>
            </a:r>
            <a:r>
              <a:rPr lang="ru-RU" sz="2000" b="1" dirty="0">
                <a:latin typeface="Bahnschrift SemiLight" panose="020B0502040204020203" pitchFamily="34" charset="0"/>
              </a:rPr>
              <a:t> </a:t>
            </a:r>
            <a:r>
              <a:rPr lang="ru-RU" sz="2000" dirty="0">
                <a:latin typeface="Bahnschrift SemiLight" panose="020B0502040204020203" pitchFamily="34" charset="0"/>
              </a:rPr>
              <a:t>создание механического манипулятора, обеспечивающего: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0E2DC2-3836-5899-ED03-9909FF0FCEC9}"/>
              </a:ext>
            </a:extLst>
          </p:cNvPr>
          <p:cNvSpPr txBox="1"/>
          <p:nvPr/>
        </p:nvSpPr>
        <p:spPr>
          <a:xfrm>
            <a:off x="1124712" y="1240656"/>
            <a:ext cx="650854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Стабильное и точное управление курсором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Пассивную физическую стабилизацию руки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Отсутствие сложной калибровки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Работа в любой среде, с плохим освещением или в шумных местах по типу офиса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15037D-6E4B-250A-65BF-15C055A81B35}"/>
              </a:ext>
            </a:extLst>
          </p:cNvPr>
          <p:cNvSpPr txBox="1"/>
          <p:nvPr/>
        </p:nvSpPr>
        <p:spPr>
          <a:xfrm>
            <a:off x="3351978" y="4096958"/>
            <a:ext cx="547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ahnschrift SemiLight" panose="020B0502040204020203" pitchFamily="34" charset="0"/>
              </a:rPr>
              <a:t>Задачи проекта: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D84668-9A87-FB8E-C844-42909B460AE2}"/>
              </a:ext>
            </a:extLst>
          </p:cNvPr>
          <p:cNvSpPr txBox="1"/>
          <p:nvPr/>
        </p:nvSpPr>
        <p:spPr>
          <a:xfrm>
            <a:off x="4137658" y="4060412"/>
            <a:ext cx="750893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ru-RU" sz="2000" dirty="0">
              <a:latin typeface="Bahnschrift Semi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Подобрать материалы и электрические компоненты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Разработать 3D-модель корпуса с учетом эргономики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Распечатать и запрограммировать устройство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Протестировать функциональность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1260456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222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Ценообразование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785274"/>
              </p:ext>
            </p:extLst>
          </p:nvPr>
        </p:nvGraphicFramePr>
        <p:xfrm>
          <a:off x="391461" y="546362"/>
          <a:ext cx="3635594" cy="5937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96359">
                  <a:extLst>
                    <a:ext uri="{9D8B030D-6E8A-4147-A177-3AD203B41FA5}">
                      <a16:colId xmlns:a16="http://schemas.microsoft.com/office/drawing/2014/main" val="3099359889"/>
                    </a:ext>
                  </a:extLst>
                </a:gridCol>
                <a:gridCol w="839235">
                  <a:extLst>
                    <a:ext uri="{9D8B030D-6E8A-4147-A177-3AD203B41FA5}">
                      <a16:colId xmlns:a16="http://schemas.microsoft.com/office/drawing/2014/main" val="2146182567"/>
                    </a:ext>
                  </a:extLst>
                </a:gridCol>
              </a:tblGrid>
              <a:tr h="12772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ru-RU" sz="1200" b="0" kern="100" dirty="0">
                        <a:effectLst/>
                        <a:latin typeface="Bookman Old Style" panose="020506040505050202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Стоимость, рубли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213522644"/>
                  </a:ext>
                </a:extLst>
              </a:tr>
              <a:tr h="14234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Пластик </a:t>
                      </a:r>
                      <a:r>
                        <a:rPr lang="en-US" sz="1200" b="0" kern="100" dirty="0">
                          <a:effectLst/>
                          <a:latin typeface="Bookman Old Style" panose="02050604050505020204" pitchFamily="18" charset="0"/>
                        </a:rPr>
                        <a:t>PETG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 (330 г.), резиновые накладки и пружины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600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434116937"/>
                  </a:ext>
                </a:extLst>
              </a:tr>
              <a:tr h="26243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Электрические компоненты(гироскоп </a:t>
                      </a:r>
                      <a:r>
                        <a:rPr lang="en-US" sz="1200" b="0" kern="100" dirty="0">
                          <a:effectLst/>
                          <a:latin typeface="Bookman Old Style" panose="02050604050505020204" pitchFamily="18" charset="0"/>
                        </a:rPr>
                        <a:t>MPU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-6050, тактовые кнопки, энкодер инкрементальный, </a:t>
                      </a:r>
                      <a:r>
                        <a:rPr lang="en-US" sz="1200" b="0" kern="100" dirty="0">
                          <a:effectLst/>
                          <a:latin typeface="Bookman Old Style" panose="02050604050505020204" pitchFamily="18" charset="0"/>
                        </a:rPr>
                        <a:t>Arduino Pro Micro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780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729372049"/>
                  </a:ext>
                </a:extLst>
              </a:tr>
              <a:tr h="6125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Итого 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розничная(самодельная</a:t>
                      </a:r>
                      <a:r>
                        <a:rPr lang="en-US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r>
                        <a:rPr lang="ru-RU" sz="1200" b="0" kern="100" dirty="0" smtClean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себестоимость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1380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3040222044"/>
                  </a:ext>
                </a:extLst>
              </a:tr>
            </a:tbl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32126"/>
              </p:ext>
            </p:extLst>
          </p:nvPr>
        </p:nvGraphicFramePr>
        <p:xfrm>
          <a:off x="4336520" y="299699"/>
          <a:ext cx="7421372" cy="6184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9484">
                  <a:extLst>
                    <a:ext uri="{9D8B030D-6E8A-4147-A177-3AD203B41FA5}">
                      <a16:colId xmlns:a16="http://schemas.microsoft.com/office/drawing/2014/main" val="1747071466"/>
                    </a:ext>
                  </a:extLst>
                </a:gridCol>
                <a:gridCol w="1301995">
                  <a:extLst>
                    <a:ext uri="{9D8B030D-6E8A-4147-A177-3AD203B41FA5}">
                      <a16:colId xmlns:a16="http://schemas.microsoft.com/office/drawing/2014/main" val="492268831"/>
                    </a:ext>
                  </a:extLst>
                </a:gridCol>
                <a:gridCol w="3309893">
                  <a:extLst>
                    <a:ext uri="{9D8B030D-6E8A-4147-A177-3AD203B41FA5}">
                      <a16:colId xmlns:a16="http://schemas.microsoft.com/office/drawing/2014/main" val="3041403376"/>
                    </a:ext>
                  </a:extLst>
                </a:gridCol>
              </a:tblGrid>
              <a:tr h="73876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Позиция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Стоимость, рубли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Примечания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97529198"/>
                  </a:ext>
                </a:extLst>
              </a:tr>
              <a:tr h="101512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Пластик </a:t>
                      </a:r>
                      <a:r>
                        <a:rPr lang="en-US" sz="1200" b="0" kern="100">
                          <a:effectLst/>
                          <a:latin typeface="Bookman Old Style" panose="02050604050505020204" pitchFamily="18" charset="0"/>
                        </a:rPr>
                        <a:t>PETG</a:t>
                      </a: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 (330 г.), резиновые накладки и пружины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510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Оптовая закупка (600 р., Снижение цены 15% при покупке оптом &gt;10 кг пластика или &gt;500 шт. пружин)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141505239"/>
                  </a:ext>
                </a:extLst>
              </a:tr>
              <a:tr h="144634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Электрические компоненты(гироскоп </a:t>
                      </a:r>
                      <a:r>
                        <a:rPr lang="en-US" sz="1200" b="0" kern="100">
                          <a:effectLst/>
                          <a:latin typeface="Bookman Old Style" panose="02050604050505020204" pitchFamily="18" charset="0"/>
                        </a:rPr>
                        <a:t>MPU</a:t>
                      </a: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-6050, тактовые кнопки, энкодер инкрементальный, </a:t>
                      </a:r>
                      <a:r>
                        <a:rPr lang="en-US" sz="1200" b="0" kern="100">
                          <a:effectLst/>
                          <a:latin typeface="Bookman Old Style" panose="02050604050505020204" pitchFamily="18" charset="0"/>
                        </a:rPr>
                        <a:t>Arduino Pro Micro</a:t>
                      </a: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)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660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Оптовая закупка (780 р.,  Снижение на 15% при покупке оптом, &gt;250 штук каждого)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769889045"/>
                  </a:ext>
                </a:extLst>
              </a:tr>
              <a:tr h="12505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Печать на 3</a:t>
                      </a:r>
                      <a:r>
                        <a:rPr lang="en-US" sz="1200" b="0" kern="100">
                          <a:effectLst/>
                          <a:latin typeface="Bookman Old Style" panose="02050604050505020204" pitchFamily="18" charset="0"/>
                        </a:rPr>
                        <a:t>D</a:t>
                      </a: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 принтере и сборка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250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Использование промышленного принтера, а не домашнего(0.5 р./г вместо 1.2 р./г)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2767093221"/>
                  </a:ext>
                </a:extLst>
              </a:tr>
              <a:tr h="9946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Упаковка, логистика и маржинальные расходы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200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>
                          <a:effectLst/>
                          <a:latin typeface="Bookman Old Style" panose="02050604050505020204" pitchFamily="18" charset="0"/>
                        </a:rPr>
                        <a:t>Включает цену упаковки, транспортировки, хранения и т.д. </a:t>
                      </a:r>
                      <a:endParaRPr lang="ru-RU" sz="1200" b="0" kern="10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648659560"/>
                  </a:ext>
                </a:extLst>
              </a:tr>
              <a:tr h="73876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Итого промышленная</a:t>
                      </a:r>
                      <a:r>
                        <a:rPr lang="ru-RU" sz="1200" b="0" kern="100" baseline="0" dirty="0">
                          <a:effectLst/>
                          <a:latin typeface="Bookman Old Style" panose="02050604050505020204" pitchFamily="18" charset="0"/>
                        </a:rPr>
                        <a:t> </a:t>
                      </a: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стоимость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1620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 b="0" kern="100" dirty="0">
                          <a:effectLst/>
                          <a:latin typeface="Bookman Old Style" panose="02050604050505020204" pitchFamily="18" charset="0"/>
                        </a:rPr>
                        <a:t> </a:t>
                      </a:r>
                      <a:endParaRPr lang="ru-RU" sz="1200" b="0" kern="100" dirty="0">
                        <a:effectLst/>
                        <a:latin typeface="Bookman Old Style" panose="0205060405050502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284" marR="50284" marT="0" marB="0"/>
                </a:tc>
                <a:extLst>
                  <a:ext uri="{0D108BD9-81ED-4DB2-BD59-A6C34878D82A}">
                    <a16:rowId xmlns:a16="http://schemas.microsoft.com/office/drawing/2014/main" val="123796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89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8648" y="2190950"/>
            <a:ext cx="2107335" cy="210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BFE12A-36AB-BDD3-0938-05896BBD1337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6210"/>
            <a:ext cx="10616264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ahnschrift SemiLight" panose="020B0502040204020203" pitchFamily="34" charset="0"/>
              </a:rPr>
              <a:t>Выбор материалов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57897-E7DA-2F3A-8F2F-6DF556D90307}"/>
              </a:ext>
            </a:extLst>
          </p:cNvPr>
          <p:cNvSpPr txBox="1"/>
          <p:nvPr/>
        </p:nvSpPr>
        <p:spPr>
          <a:xfrm>
            <a:off x="387798" y="445425"/>
            <a:ext cx="7924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Light" panose="020B0502040204020203" pitchFamily="34" charset="0"/>
              </a:rPr>
              <a:t>Для 3</a:t>
            </a:r>
            <a:r>
              <a:rPr lang="en-US" sz="2000" dirty="0">
                <a:latin typeface="Bahnschrift SemiLight" panose="020B0502040204020203" pitchFamily="34" charset="0"/>
              </a:rPr>
              <a:t>D</a:t>
            </a:r>
            <a:r>
              <a:rPr lang="ru-RU" sz="2000" dirty="0">
                <a:latin typeface="Bahnschrift SemiLight" panose="020B0502040204020203" pitchFamily="34" charset="0"/>
              </a:rPr>
              <a:t>-печати рассматривались следующие термопластики: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E0792-A0D1-8CA8-F159-C2272754789A}"/>
              </a:ext>
            </a:extLst>
          </p:cNvPr>
          <p:cNvSpPr txBox="1"/>
          <p:nvPr/>
        </p:nvSpPr>
        <p:spPr>
          <a:xfrm>
            <a:off x="746618" y="890540"/>
            <a:ext cx="81535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PLA </a:t>
            </a:r>
            <a:r>
              <a:rPr lang="en-US" sz="2000" dirty="0">
                <a:latin typeface="Bahnschrift SemiLight" panose="020B0502040204020203" pitchFamily="34" charset="0"/>
              </a:rPr>
              <a:t>– </a:t>
            </a:r>
            <a:r>
              <a:rPr lang="ru-RU" sz="2000" dirty="0">
                <a:latin typeface="Bahnschrift SemiLight" panose="020B0502040204020203" pitchFamily="34" charset="0"/>
              </a:rPr>
              <a:t>легко печатается, биоразлагаем, но хрупок и имеет низкую температуру стеклования (~60°C), что неприемлемо для устройства, которое может остаться в автомобиле на солнце.</a:t>
            </a:r>
            <a:endParaRPr lang="en-US" sz="2000" dirty="0">
              <a:latin typeface="Bahnschrift Semi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ABS </a:t>
            </a:r>
            <a:r>
              <a:rPr lang="en-US" sz="2000" dirty="0">
                <a:latin typeface="Bahnschrift SemiLight" panose="020B0502040204020203" pitchFamily="34" charset="0"/>
              </a:rPr>
              <a:t>– </a:t>
            </a:r>
            <a:r>
              <a:rPr lang="ru-RU" sz="2000" dirty="0">
                <a:latin typeface="Bahnschrift SemiLight" panose="020B0502040204020203" pitchFamily="34" charset="0"/>
              </a:rPr>
              <a:t>прочнее PLA, но склонен к деформациям при печати ведь требует закрытой камеры, и выделяет опасные испарения.</a:t>
            </a:r>
            <a:endParaRPr lang="en-US" sz="2000" dirty="0">
              <a:latin typeface="Bahnschrift Semi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ahnschrift SemiLight" panose="020B0502040204020203" pitchFamily="34" charset="0"/>
              </a:rPr>
              <a:t>PETG </a:t>
            </a:r>
            <a:r>
              <a:rPr lang="en-US" sz="2000" dirty="0">
                <a:latin typeface="Bahnschrift SemiLight" panose="020B0502040204020203" pitchFamily="34" charset="0"/>
              </a:rPr>
              <a:t>–</a:t>
            </a:r>
            <a:r>
              <a:rPr lang="ru-RU" sz="2000" dirty="0">
                <a:latin typeface="Bahnschrift SemiLight" panose="020B0502040204020203" pitchFamily="34" charset="0"/>
              </a:rPr>
              <a:t> чуть менее прочный чем </a:t>
            </a:r>
            <a:r>
              <a:rPr lang="en-US" sz="2000" dirty="0">
                <a:latin typeface="Bahnschrift SemiLight" panose="020B0502040204020203" pitchFamily="34" charset="0"/>
              </a:rPr>
              <a:t>ABS, </a:t>
            </a:r>
            <a:r>
              <a:rPr lang="ru-RU" sz="2000" dirty="0">
                <a:latin typeface="Bahnschrift SemiLight" panose="020B0502040204020203" pitchFamily="34" charset="0"/>
              </a:rPr>
              <a:t>однако не выделяет опасных паров, прост в печати, имеет высокую ударную вязкость и химическую стойкость.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0F16C-194B-FD52-3E37-442614CC597A}"/>
              </a:ext>
            </a:extLst>
          </p:cNvPr>
          <p:cNvSpPr txBox="1"/>
          <p:nvPr/>
        </p:nvSpPr>
        <p:spPr>
          <a:xfrm>
            <a:off x="387798" y="5191631"/>
            <a:ext cx="8512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 SemiLight" panose="020B0502040204020203" pitchFamily="34" charset="0"/>
              </a:rPr>
              <a:t>Был выбран </a:t>
            </a:r>
            <a:r>
              <a:rPr lang="en-US" sz="2000" dirty="0">
                <a:latin typeface="Bahnschrift SemiLight" panose="020B0502040204020203" pitchFamily="34" charset="0"/>
              </a:rPr>
              <a:t>PETG </a:t>
            </a:r>
            <a:r>
              <a:rPr lang="ru-RU" sz="2000" dirty="0">
                <a:latin typeface="Bahnschrift SemiLight" panose="020B0502040204020203" pitchFamily="34" charset="0"/>
              </a:rPr>
              <a:t>пластик(</a:t>
            </a:r>
            <a:r>
              <a:rPr lang="ru-RU" sz="2000" i="1" dirty="0">
                <a:latin typeface="Bahnschrift SemiLight" panose="020B0502040204020203" pitchFamily="34" charset="0"/>
              </a:rPr>
              <a:t>Полиэтилентерефталат гликоль</a:t>
            </a:r>
            <a:r>
              <a:rPr lang="ru-RU" sz="2000" dirty="0">
                <a:latin typeface="Bahnschrift SemiLight" panose="020B0502040204020203" pitchFamily="34" charset="0"/>
              </a:rPr>
              <a:t>), ведь он совмещает лучшие стороны своих конкурентов.</a:t>
            </a:r>
          </a:p>
        </p:txBody>
      </p:sp>
      <p:pic>
        <p:nvPicPr>
          <p:cNvPr id="2050" name="Picture 2" descr="https://avatars.mds.yandex.net/i?id=7a4480ee1849cf3113c852b398967ca1ffc880d7-5878500-images-thumbs&amp;n=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5898" y="529160"/>
            <a:ext cx="1472837" cy="14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178" y="4384129"/>
            <a:ext cx="1258357" cy="161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43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2ED4-718C-8381-4407-942B35E9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21492">
            <a:off x="9937691" y="1275977"/>
            <a:ext cx="1447109" cy="14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822">
            <a:off x="10693147" y="2361034"/>
            <a:ext cx="1430166" cy="143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F089AC-BC09-1BDE-0391-737BEE66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0357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latin typeface="Bahnschrift SemiLight" panose="020B0502040204020203" pitchFamily="34" charset="0"/>
              </a:rPr>
              <a:t>Процесс изготовления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D6350-1169-7BEF-E8BA-89ACBAE1D771}"/>
              </a:ext>
            </a:extLst>
          </p:cNvPr>
          <p:cNvSpPr txBox="1"/>
          <p:nvPr/>
        </p:nvSpPr>
        <p:spPr>
          <a:xfrm>
            <a:off x="3337698" y="197597"/>
            <a:ext cx="208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7</a:t>
            </a:r>
            <a:endParaRPr lang="ru-RU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93" y="566929"/>
            <a:ext cx="2902706" cy="196518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62" y="2504100"/>
            <a:ext cx="2863367" cy="186588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8" b="22463"/>
          <a:stretch/>
        </p:blipFill>
        <p:spPr>
          <a:xfrm>
            <a:off x="466767" y="4369983"/>
            <a:ext cx="2634813" cy="2195042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198" t="-18206" r="3092" b="7788"/>
          <a:stretch/>
        </p:blipFill>
        <p:spPr>
          <a:xfrm>
            <a:off x="8847349" y="3181229"/>
            <a:ext cx="3256058" cy="3574473"/>
          </a:xfrm>
          <a:custGeom>
            <a:avLst/>
            <a:gdLst>
              <a:gd name="connsiteX0" fmla="*/ 475085 w 1980202"/>
              <a:gd name="connsiteY0" fmla="*/ 0 h 2833324"/>
              <a:gd name="connsiteX1" fmla="*/ 1980202 w 1980202"/>
              <a:gd name="connsiteY1" fmla="*/ 0 h 2833324"/>
              <a:gd name="connsiteX2" fmla="*/ 1980202 w 1980202"/>
              <a:gd name="connsiteY2" fmla="*/ 2833324 h 2833324"/>
              <a:gd name="connsiteX3" fmla="*/ 0 w 1980202"/>
              <a:gd name="connsiteY3" fmla="*/ 2833324 h 2833324"/>
              <a:gd name="connsiteX4" fmla="*/ 0 w 1980202"/>
              <a:gd name="connsiteY4" fmla="*/ 1366746 h 283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0202" h="2833324">
                <a:moveTo>
                  <a:pt x="475085" y="0"/>
                </a:moveTo>
                <a:lnTo>
                  <a:pt x="1980202" y="0"/>
                </a:lnTo>
                <a:lnTo>
                  <a:pt x="1980202" y="2833324"/>
                </a:lnTo>
                <a:lnTo>
                  <a:pt x="0" y="2833324"/>
                </a:lnTo>
                <a:lnTo>
                  <a:pt x="0" y="1366746"/>
                </a:lnTo>
                <a:close/>
              </a:path>
            </a:pathLst>
          </a:cu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20" t="24789" r="15648" b="20972"/>
          <a:stretch/>
        </p:blipFill>
        <p:spPr>
          <a:xfrm>
            <a:off x="10475377" y="374232"/>
            <a:ext cx="1203759" cy="984322"/>
          </a:xfrm>
          <a:prstGeom prst="rect">
            <a:avLst/>
          </a:prstGeom>
        </p:spPr>
      </p:pic>
      <p:pic>
        <p:nvPicPr>
          <p:cNvPr id="2054" name="Picture 6" descr="https://avatars.mds.yandex.net/get-goods_pic/14045641/hat2c249d07c31a47bc42936a31d51ea9f8/orig"/>
          <p:cNvPicPr>
            <a:picLocks noChangeAspect="1" noChangeArrowheads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825" y="2683599"/>
            <a:ext cx="974112" cy="84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3321417" y="173018"/>
            <a:ext cx="6462853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Подбор компонентов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Датчик MPU-6050: отслеживание наклона.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Arduino Pro Micro: управление.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Энкодер EC11: имитация колесика мыши.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Тактовые кнопки: клики и выбор чувствительности</a:t>
            </a:r>
            <a:r>
              <a:rPr lang="ru-RU" sz="2000" dirty="0" smtClean="0">
                <a:latin typeface="Bahnschrift SemiLight" panose="020B0502040204020203" pitchFamily="34" charset="0"/>
              </a:rPr>
              <a:t>.</a:t>
            </a:r>
            <a:endParaRPr lang="ru-RU" sz="2000" dirty="0"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>
                <a:latin typeface="Bahnschrift SemiLight" panose="020B0502040204020203" pitchFamily="34" charset="0"/>
              </a:rPr>
              <a:t> </a:t>
            </a:r>
            <a:r>
              <a:rPr lang="ru-RU" sz="2000" dirty="0" smtClean="0">
                <a:latin typeface="Bahnschrift SemiLight" panose="020B0502040204020203" pitchFamily="34" charset="0"/>
              </a:rPr>
              <a:t>3D-моделирование </a:t>
            </a:r>
            <a:r>
              <a:rPr lang="ru-RU" sz="2000" dirty="0">
                <a:latin typeface="Bahnschrift SemiLight" panose="020B0502040204020203" pitchFamily="34" charset="0"/>
              </a:rPr>
              <a:t>и эргономика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Проектирование корпуса.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Итерация: Улучшение формы для удобства (опора для руки, пазы под пальцы</a:t>
            </a:r>
            <a:r>
              <a:rPr lang="ru-RU" sz="2000" dirty="0" smtClean="0">
                <a:latin typeface="Bahnschrift SemiLight" panose="020B0502040204020203" pitchFamily="34" charset="0"/>
              </a:rPr>
              <a:t>).</a:t>
            </a:r>
            <a:endParaRPr lang="ru-RU" sz="2000" dirty="0"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Производство и сборка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3D-печать.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Постобработка (зачистка).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Bahnschrift SemiLight" panose="020B0502040204020203" pitchFamily="34" charset="0"/>
              </a:rPr>
              <a:t>Компоновка электроники.</a:t>
            </a:r>
            <a:endParaRPr lang="ru-RU" sz="2000" i="0" dirty="0">
              <a:effectLst/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23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8045"/>
            <a:ext cx="10012682" cy="1386750"/>
          </a:xfrm>
        </p:spPr>
        <p:txBody>
          <a:bodyPr>
            <a:normAutofit/>
          </a:bodyPr>
          <a:lstStyle/>
          <a:p>
            <a:r>
              <a:rPr lang="ru-RU" sz="2100" i="1" dirty="0" smtClean="0">
                <a:solidFill>
                  <a:schemeClr val="tx1"/>
                </a:solidFill>
                <a:latin typeface="Bahnschrift SemiLight" panose="020B0502040204020203" pitchFamily="34" charset="0"/>
              </a:rPr>
              <a:t>Взрыв-схема</a:t>
            </a:r>
            <a:endParaRPr lang="ru-RU" sz="2100" i="1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68" y="205330"/>
            <a:ext cx="8910035" cy="657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9D043-962F-1E64-5885-DCC65DFC1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AB4948E-403F-8BD1-4F45-E39646424114}"/>
              </a:ext>
            </a:extLst>
          </p:cNvPr>
          <p:cNvSpPr/>
          <p:nvPr/>
        </p:nvSpPr>
        <p:spPr>
          <a:xfrm>
            <a:off x="1124712" y="1682496"/>
            <a:ext cx="10113264" cy="130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52F2A-5525-5EC3-D8E9-782CE72A2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00061"/>
            <a:ext cx="10012682" cy="1386750"/>
          </a:xfrm>
        </p:spPr>
        <p:txBody>
          <a:bodyPr>
            <a:normAutofit/>
          </a:bodyPr>
          <a:lstStyle/>
          <a:p>
            <a:r>
              <a:rPr lang="ru-RU" sz="2000" i="1" dirty="0">
                <a:solidFill>
                  <a:schemeClr val="tx1"/>
                </a:solidFill>
                <a:latin typeface="Bookman Old Style" panose="02050604050505020204" pitchFamily="18" charset="0"/>
              </a:rPr>
              <a:t>Итоги и самооценка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21" y="428583"/>
            <a:ext cx="4413215" cy="55565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037" y="1087021"/>
            <a:ext cx="694311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Создан работающий </a:t>
            </a:r>
            <a:r>
              <a:rPr lang="ru-RU" sz="2000" dirty="0" smtClean="0">
                <a:latin typeface="Bookman Old Style" panose="02050604050505020204" pitchFamily="18" charset="0"/>
              </a:rPr>
              <a:t>прототип</a:t>
            </a:r>
            <a:endParaRPr lang="en-US" sz="2000" dirty="0" smtClean="0">
              <a:latin typeface="Bookman Old Style" panose="02050604050505020204" pitchFamily="18" charset="0"/>
            </a:endParaRP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Bookman Old Style" panose="02050604050505020204" pitchFamily="18" charset="0"/>
              </a:rPr>
              <a:t>Устройство </a:t>
            </a:r>
            <a:r>
              <a:rPr lang="ru-RU" sz="2000" dirty="0">
                <a:latin typeface="Bookman Old Style" panose="02050604050505020204" pitchFamily="18" charset="0"/>
              </a:rPr>
              <a:t>не имеет колоссальной цены.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Учтены ключевые эргономические требования.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263" y="668706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Итоги работы: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263" y="3886096"/>
            <a:ext cx="5876925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sz="2000" dirty="0">
                <a:latin typeface="Bookman Old Style" panose="02050604050505020204" pitchFamily="18" charset="0"/>
              </a:rPr>
              <a:t>Предполагается развитие проекта в </a:t>
            </a:r>
            <a:r>
              <a:rPr lang="ru-RU" sz="2000" dirty="0" smtClean="0">
                <a:latin typeface="Bookman Old Style" panose="02050604050505020204" pitchFamily="18" charset="0"/>
              </a:rPr>
              <a:t>будущем с интеграцией </a:t>
            </a:r>
            <a:r>
              <a:rPr lang="en-US" sz="2000" dirty="0">
                <a:latin typeface="Bookman Old Style" panose="02050604050505020204" pitchFamily="18" charset="0"/>
              </a:rPr>
              <a:t>Bluetooth</a:t>
            </a:r>
            <a:r>
              <a:rPr lang="ru-RU" sz="20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</a:rPr>
              <a:t>5.3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8215" y="2595142"/>
            <a:ext cx="6623592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ru-RU" sz="2000" dirty="0" smtClean="0">
                <a:latin typeface="Bookman Old Style" panose="02050604050505020204" pitchFamily="18" charset="0"/>
              </a:rPr>
              <a:t>Все поставленные </a:t>
            </a:r>
            <a:r>
              <a:rPr lang="ru-RU" sz="2000" dirty="0">
                <a:latin typeface="Bookman Old Style" panose="02050604050505020204" pitchFamily="18" charset="0"/>
              </a:rPr>
              <a:t>задачи выполнены и устройство можно считать завершенным.</a:t>
            </a:r>
          </a:p>
        </p:txBody>
      </p:sp>
    </p:spTree>
    <p:extLst>
      <p:ext uri="{BB962C8B-B14F-4D97-AF65-F5344CB8AC3E}">
        <p14:creationId xmlns:p14="http://schemas.microsoft.com/office/powerpoint/2010/main" val="7751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1332</TotalTime>
  <Words>505</Words>
  <Application>Microsoft Office PowerPoint</Application>
  <PresentationFormat>Широкоэкранный</PresentationFormat>
  <Paragraphs>100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Bahnschrift SemiLight</vt:lpstr>
      <vt:lpstr>Bookman Old Style</vt:lpstr>
      <vt:lpstr>Calibri</vt:lpstr>
      <vt:lpstr>Calibri Light</vt:lpstr>
      <vt:lpstr>Times New Roman</vt:lpstr>
      <vt:lpstr>Тема Office</vt:lpstr>
      <vt:lpstr>Презентация PowerPoint</vt:lpstr>
      <vt:lpstr>Причины создания проекта</vt:lpstr>
      <vt:lpstr>Анализ аналогов</vt:lpstr>
      <vt:lpstr>Цели и задачи</vt:lpstr>
      <vt:lpstr>Ценообразование</vt:lpstr>
      <vt:lpstr>Выбор материалов</vt:lpstr>
      <vt:lpstr>Процесс изготовления</vt:lpstr>
      <vt:lpstr>Взрыв-схема</vt:lpstr>
      <vt:lpstr>Итоги и самооценка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Манипулятор для людей с  ограниченной моторикой рук</dc:title>
  <dc:creator>Андрей Пивоваров</dc:creator>
  <cp:lastModifiedBy>Пользователь Windows</cp:lastModifiedBy>
  <cp:revision>38</cp:revision>
  <dcterms:created xsi:type="dcterms:W3CDTF">2026-02-08T13:02:55Z</dcterms:created>
  <dcterms:modified xsi:type="dcterms:W3CDTF">2026-04-23T12:30:14Z</dcterms:modified>
</cp:coreProperties>
</file>