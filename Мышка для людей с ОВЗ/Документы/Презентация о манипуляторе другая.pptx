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5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6446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6451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419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779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465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736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2172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9783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774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646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11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4982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51F05A-A149-91D9-F06E-BE9FD1261F7A}"/>
              </a:ext>
            </a:extLst>
          </p:cNvPr>
          <p:cNvSpPr/>
          <p:nvPr/>
        </p:nvSpPr>
        <p:spPr>
          <a:xfrm>
            <a:off x="1170432" y="4251960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371600" y="46402"/>
            <a:ext cx="9485375" cy="1312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latin typeface="Bahnschrift SemiLight" panose="020B0502040204020203" pitchFamily="34" charset="0"/>
                <a:cs typeface="Arial" pitchFamily="34" charset="0"/>
              </a:rPr>
              <a:t>Государственное бюджетное общеобразовательное учреждение </a:t>
            </a:r>
            <a:endParaRPr lang="en-US" sz="2000" dirty="0">
              <a:latin typeface="Bahnschrift SemiLight" panose="020B0502040204020203" pitchFamily="34" charset="0"/>
              <a:cs typeface="Arial" pitchFamily="34" charset="0"/>
            </a:endParaRPr>
          </a:p>
          <a:p>
            <a:r>
              <a:rPr lang="ru-RU" sz="2000" dirty="0">
                <a:latin typeface="Bahnschrift SemiLight" panose="020B0502040204020203" pitchFamily="34" charset="0"/>
                <a:cs typeface="Arial" pitchFamily="34" charset="0"/>
              </a:rPr>
              <a:t>города Москвы «Школа № 1103 имени Героя Российской Федерации А.В. Соломатина»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2644139" y="2077504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Bahnschrift SemiLight" panose="020B0502040204020203" pitchFamily="34" charset="0"/>
                <a:cs typeface="Arial" pitchFamily="34" charset="0"/>
              </a:rPr>
              <a:t>Манипулятор для людей с ограниченной моторикой рук</a:t>
            </a:r>
          </a:p>
          <a:p>
            <a:endParaRPr lang="ru-RU" sz="6600" dirty="0">
              <a:latin typeface="Bahnschrift SemiLight" panose="020B0502040204020203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Bahnschrift SemiLight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90829" y="3023278"/>
            <a:ext cx="440117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latin typeface="Bahnschrift SemiLight" panose="020B0502040204020203" pitchFamily="34" charset="0"/>
                <a:cs typeface="Arial" pitchFamily="34" charset="0"/>
              </a:rPr>
              <a:t>Участник</a:t>
            </a:r>
            <a:r>
              <a:rPr lang="en-US" sz="2000" dirty="0">
                <a:latin typeface="Bahnschrift SemiLight" panose="020B0502040204020203" pitchFamily="34" charset="0"/>
                <a:cs typeface="Arial" pitchFamily="34" charset="0"/>
              </a:rPr>
              <a:t>:</a:t>
            </a:r>
            <a:endParaRPr lang="ru-RU" sz="2000" dirty="0">
              <a:latin typeface="Bahnschrift SemiLight" panose="020B0502040204020203" pitchFamily="34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latin typeface="Bahnschrift SemiLight" panose="020B0502040204020203" pitchFamily="34" charset="0"/>
                <a:cs typeface="Arial" pitchFamily="34" charset="0"/>
              </a:rPr>
              <a:t>ученик 9 «И» класса ГБОУ 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latin typeface="Bahnschrift SemiLight" panose="020B0502040204020203" pitchFamily="34" charset="0"/>
                <a:cs typeface="Arial" pitchFamily="34" charset="0"/>
              </a:rPr>
              <a:t>Школа № 1103  Пивоваров Андрей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latin typeface="Bahnschrift SemiLight" panose="020B0502040204020203" pitchFamily="34" charset="0"/>
                <a:cs typeface="Arial" pitchFamily="34" charset="0"/>
              </a:rPr>
              <a:t>Руководитель</a:t>
            </a:r>
            <a:r>
              <a:rPr lang="en-US" sz="2000" dirty="0">
                <a:latin typeface="Bahnschrift SemiLight" panose="020B0502040204020203" pitchFamily="34" charset="0"/>
                <a:cs typeface="Arial" pitchFamily="34" charset="0"/>
              </a:rPr>
              <a:t>: </a:t>
            </a:r>
            <a:endParaRPr lang="ru-RU" sz="2000" dirty="0">
              <a:latin typeface="Bahnschrift SemiLight" panose="020B0502040204020203" pitchFamily="34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latin typeface="Bahnschrift SemiLight" panose="020B0502040204020203" pitchFamily="34" charset="0"/>
                <a:cs typeface="Arial" pitchFamily="34" charset="0"/>
              </a:rPr>
              <a:t>учитель ГБОУ Школа № 1103 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latin typeface="Bahnschrift SemiLight" panose="020B0502040204020203" pitchFamily="34" charset="0"/>
                <a:cs typeface="Arial" pitchFamily="34" charset="0"/>
              </a:rPr>
              <a:t>Сокур Мария Евгеньевна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7980" y="6358761"/>
            <a:ext cx="2502396" cy="499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Arial" pitchFamily="34" charset="0"/>
              </a:rPr>
              <a:t>Москва, 2026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4183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i="1" dirty="0">
                <a:latin typeface="Bahnschrift SemiLight" panose="020B0502040204020203" pitchFamily="34" charset="0"/>
              </a:rPr>
              <a:t>Причины создания проекта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018" y="352971"/>
            <a:ext cx="3721212" cy="247735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018" y="3154664"/>
            <a:ext cx="3767231" cy="25108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88D54D-CE18-D886-E409-CC353FBDB53A}"/>
              </a:ext>
            </a:extLst>
          </p:cNvPr>
          <p:cNvSpPr txBox="1"/>
          <p:nvPr/>
        </p:nvSpPr>
        <p:spPr>
          <a:xfrm>
            <a:off x="-87209" y="437087"/>
            <a:ext cx="76477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2000" dirty="0" smtClean="0">
                <a:latin typeface="Bahnschrift SemiLight" panose="020B0502040204020203" pitchFamily="34" charset="0"/>
              </a:rPr>
              <a:t>Цифровая среда недоступна для людей с ограниченной моторикой, ведь существующие решения имеют:</a:t>
            </a:r>
            <a:endParaRPr lang="ru-RU" sz="2000" dirty="0">
              <a:latin typeface="Bahnschrift SemiLight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67337" y="1498909"/>
            <a:ext cx="5338618" cy="1876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Bahnschrift SemiLight" panose="020B0502040204020203" pitchFamily="34" charset="0"/>
              </a:rPr>
              <a:t>Высоку</a:t>
            </a:r>
            <a:r>
              <a:rPr lang="ru-RU" sz="2000" dirty="0">
                <a:latin typeface="Bahnschrift SemiLight" panose="020B0502040204020203" pitchFamily="34" charset="0"/>
              </a:rPr>
              <a:t>ю</a:t>
            </a:r>
            <a:r>
              <a:rPr lang="ru-RU" sz="2000" dirty="0" smtClean="0">
                <a:latin typeface="Bahnschrift SemiLight" panose="020B0502040204020203" pitchFamily="34" charset="0"/>
              </a:rPr>
              <a:t> стоимость(от 5 тыс. рублей)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Bahnschrift SemiLight" panose="020B0502040204020203" pitchFamily="34" charset="0"/>
              </a:rPr>
              <a:t>Сложну</a:t>
            </a:r>
            <a:r>
              <a:rPr lang="ru-RU" sz="2000" dirty="0">
                <a:latin typeface="Bahnschrift SemiLight" panose="020B0502040204020203" pitchFamily="34" charset="0"/>
              </a:rPr>
              <a:t>ю</a:t>
            </a:r>
            <a:r>
              <a:rPr lang="ru-RU" sz="2000" dirty="0" smtClean="0">
                <a:latin typeface="Bahnschrift SemiLight" panose="020B0502040204020203" pitchFamily="34" charset="0"/>
              </a:rPr>
              <a:t> настройку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Bahnschrift SemiLight" panose="020B0502040204020203" pitchFamily="34" charset="0"/>
              </a:rPr>
              <a:t>Минимальную эффективность при треморе</a:t>
            </a:r>
            <a:endParaRPr lang="ru-RU" sz="2000" dirty="0">
              <a:latin typeface="Bahnschrift Semi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19" y="-409547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i="1" dirty="0">
                <a:solidFill>
                  <a:schemeClr val="tx1"/>
                </a:solidFill>
                <a:latin typeface="Bahnschrift SemiLight" panose="020B0502040204020203" pitchFamily="34" charset="0"/>
              </a:rPr>
              <a:t>Анализ аналогов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762" t="3256" r="27794" b="6779"/>
          <a:stretch/>
        </p:blipFill>
        <p:spPr>
          <a:xfrm>
            <a:off x="10153700" y="466437"/>
            <a:ext cx="1918227" cy="1992847"/>
          </a:xfrm>
          <a:prstGeom prst="rect">
            <a:avLst/>
          </a:prstGeom>
        </p:spPr>
      </p:pic>
      <p:pic>
        <p:nvPicPr>
          <p:cNvPr id="1028" name="Picture 4" descr="Logitech Marble Trackball Mouse (910-000808) | 250000072601">
            <a:extLst>
              <a:ext uri="{FF2B5EF4-FFF2-40B4-BE49-F238E27FC236}">
                <a16:creationId xmlns:a16="http://schemas.microsoft.com/office/drawing/2014/main" id="{8813296E-A5AA-7C05-2EB8-E4320A46F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1801" y="4959095"/>
            <a:ext cx="2011991" cy="1619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1801" y="2518338"/>
            <a:ext cx="2116888" cy="2116888"/>
          </a:xfrm>
          <a:prstGeom prst="rect">
            <a:avLst/>
          </a:prstGeom>
        </p:spPr>
      </p:pic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560952"/>
              </p:ext>
            </p:extLst>
          </p:nvPr>
        </p:nvGraphicFramePr>
        <p:xfrm>
          <a:off x="141018" y="466437"/>
          <a:ext cx="9492508" cy="622069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95410">
                  <a:extLst>
                    <a:ext uri="{9D8B030D-6E8A-4147-A177-3AD203B41FA5}">
                      <a16:colId xmlns:a16="http://schemas.microsoft.com/office/drawing/2014/main" val="3178555124"/>
                    </a:ext>
                  </a:extLst>
                </a:gridCol>
                <a:gridCol w="2131693">
                  <a:extLst>
                    <a:ext uri="{9D8B030D-6E8A-4147-A177-3AD203B41FA5}">
                      <a16:colId xmlns:a16="http://schemas.microsoft.com/office/drawing/2014/main" val="898857642"/>
                    </a:ext>
                  </a:extLst>
                </a:gridCol>
                <a:gridCol w="1533213">
                  <a:extLst>
                    <a:ext uri="{9D8B030D-6E8A-4147-A177-3AD203B41FA5}">
                      <a16:colId xmlns:a16="http://schemas.microsoft.com/office/drawing/2014/main" val="1655662424"/>
                    </a:ext>
                  </a:extLst>
                </a:gridCol>
                <a:gridCol w="3432192">
                  <a:extLst>
                    <a:ext uri="{9D8B030D-6E8A-4147-A177-3AD203B41FA5}">
                      <a16:colId xmlns:a16="http://schemas.microsoft.com/office/drawing/2014/main" val="3602813863"/>
                    </a:ext>
                  </a:extLst>
                </a:gridCol>
              </a:tblGrid>
              <a:tr h="983482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Наименование устройства</a:t>
                      </a:r>
                      <a:endParaRPr lang="ru-RU" sz="2000" b="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Принцип работы</a:t>
                      </a:r>
                      <a:endParaRPr lang="ru-RU" sz="2000" b="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Преимущества</a:t>
                      </a:r>
                      <a:endParaRPr lang="ru-RU" sz="2000" b="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Недостатки</a:t>
                      </a:r>
                      <a:endParaRPr lang="ru-RU" sz="2000" b="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extLst>
                  <a:ext uri="{0D108BD9-81ED-4DB2-BD59-A6C34878D82A}">
                    <a16:rowId xmlns:a16="http://schemas.microsoft.com/office/drawing/2014/main" val="3761474004"/>
                  </a:ext>
                </a:extLst>
              </a:tr>
              <a:tr h="1966963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 smtClean="0">
                          <a:effectLst/>
                          <a:latin typeface="Bahnschrift SemiLight" panose="020B0502040204020203" pitchFamily="34" charset="0"/>
                        </a:rPr>
                        <a:t>Головной </a:t>
                      </a: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указатель (</a:t>
                      </a:r>
                      <a:r>
                        <a:rPr lang="ru-RU" sz="2000" kern="100" dirty="0" err="1">
                          <a:effectLst/>
                          <a:latin typeface="Bahnschrift SemiLight" panose="020B0502040204020203" pitchFamily="34" charset="0"/>
                        </a:rPr>
                        <a:t>EyeGaze</a:t>
                      </a: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)</a:t>
                      </a:r>
                      <a:endParaRPr lang="ru-RU" sz="2000" b="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Следит за движением глаз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Не задействует руки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Нестабилен при плохом освещении, требует калибровки, сильно выматывает глаза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extLst>
                  <a:ext uri="{0D108BD9-81ED-4DB2-BD59-A6C34878D82A}">
                    <a16:rowId xmlns:a16="http://schemas.microsoft.com/office/drawing/2014/main" val="1616761322"/>
                  </a:ext>
                </a:extLst>
              </a:tr>
              <a:tr h="1795023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Голосовое управление (</a:t>
                      </a:r>
                      <a:r>
                        <a:rPr lang="ru-RU" sz="2000" kern="100" dirty="0" err="1">
                          <a:effectLst/>
                          <a:latin typeface="Bahnschrift SemiLight" panose="020B0502040204020203" pitchFamily="34" charset="0"/>
                        </a:rPr>
                        <a:t>Dragon</a:t>
                      </a: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ru-RU" sz="2000" kern="100" dirty="0" err="1">
                          <a:effectLst/>
                          <a:latin typeface="Bahnschrift SemiLight" panose="020B0502040204020203" pitchFamily="34" charset="0"/>
                        </a:rPr>
                        <a:t>NaturallySpeaking</a:t>
                      </a: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)</a:t>
                      </a:r>
                      <a:endParaRPr lang="ru-RU" sz="2000" b="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Распознавание речи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Не задействует руки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Нестабилен в шумной среде, не подходит при нарушениях речи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extLst>
                  <a:ext uri="{0D108BD9-81ED-4DB2-BD59-A6C34878D82A}">
                    <a16:rowId xmlns:a16="http://schemas.microsoft.com/office/drawing/2014/main" val="129982697"/>
                  </a:ext>
                </a:extLst>
              </a:tr>
              <a:tr h="1475223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TrackBall (</a:t>
                      </a:r>
                      <a:r>
                        <a:rPr lang="ru-RU" sz="2000" kern="100" dirty="0" err="1">
                          <a:effectLst/>
                          <a:latin typeface="Bahnschrift SemiLight" panose="020B0502040204020203" pitchFamily="34" charset="0"/>
                        </a:rPr>
                        <a:t>Logitech</a:t>
                      </a: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ru-RU" sz="2000" kern="100" dirty="0" err="1">
                          <a:effectLst/>
                          <a:latin typeface="Bahnschrift SemiLight" panose="020B0502040204020203" pitchFamily="34" charset="0"/>
                        </a:rPr>
                        <a:t>Marble</a:t>
                      </a: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)</a:t>
                      </a:r>
                      <a:endParaRPr lang="ru-RU" sz="2000" b="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Контроль шариком пальцем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Не задействует всю руку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000" kern="100" dirty="0">
                          <a:effectLst/>
                          <a:latin typeface="Bahnschrift SemiLight" panose="020B0502040204020203" pitchFamily="34" charset="0"/>
                        </a:rPr>
                        <a:t>Требует точной мелкой моторики</a:t>
                      </a:r>
                      <a:endParaRPr lang="ru-RU" sz="2000" kern="100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802" marR="51802" marT="0" marB="0" anchor="ctr"/>
                </a:tc>
                <a:extLst>
                  <a:ext uri="{0D108BD9-81ED-4DB2-BD59-A6C34878D82A}">
                    <a16:rowId xmlns:a16="http://schemas.microsoft.com/office/drawing/2014/main" val="1608799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95037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i="1" dirty="0">
                <a:solidFill>
                  <a:schemeClr val="tx1"/>
                </a:solidFill>
                <a:latin typeface="Bahnschrift SemiLight" panose="020B0502040204020203" pitchFamily="34" charset="0"/>
              </a:rPr>
              <a:t>Цели и задачи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374649" y="293102"/>
            <a:ext cx="89044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dirty="0">
                <a:latin typeface="Bahnschrift SemiLight" panose="020B0502040204020203" pitchFamily="34" charset="0"/>
              </a:rPr>
              <a:t>Целью работы </a:t>
            </a:r>
            <a:r>
              <a:rPr lang="ru-RU" sz="2000" dirty="0">
                <a:latin typeface="Bahnschrift SemiLight" panose="020B0502040204020203" pitchFamily="34" charset="0"/>
              </a:rPr>
              <a:t>является</a:t>
            </a:r>
            <a:r>
              <a:rPr lang="ru-RU" sz="2000" b="1" dirty="0">
                <a:latin typeface="Bahnschrift SemiLight" panose="020B0502040204020203" pitchFamily="34" charset="0"/>
              </a:rPr>
              <a:t> </a:t>
            </a:r>
            <a:r>
              <a:rPr lang="ru-RU" sz="2000" dirty="0">
                <a:latin typeface="Bahnschrift SemiLight" panose="020B0502040204020203" pitchFamily="34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1124712" y="1240656"/>
            <a:ext cx="6508549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ahnschrift SemiLight" panose="020B0502040204020203" pitchFamily="34" charset="0"/>
              </a:rPr>
              <a:t>Стабильное и точное управление курсором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ahnschrift SemiLight" panose="020B0502040204020203" pitchFamily="34" charset="0"/>
              </a:rPr>
              <a:t>Пассивную физическую стабилизацию руки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ahnschrift SemiLight" panose="020B0502040204020203" pitchFamily="34" charset="0"/>
              </a:rPr>
              <a:t>Отсутствие сложной калибровки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ahnschrift SemiLight" panose="020B0502040204020203" pitchFamily="34" charset="0"/>
              </a:rPr>
              <a:t>Работа в любой среде, с плохим освещением или в шумных местах по типу офиса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3351978" y="4096958"/>
            <a:ext cx="547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Bahnschrift SemiLight" panose="020B0502040204020203" pitchFamily="34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137658" y="4060412"/>
            <a:ext cx="750893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ru-RU" sz="2000" dirty="0">
              <a:latin typeface="Bahnschrift SemiLight" panose="020B0502040204020203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Подобрать материалы и электрические компоненты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Разработать 3D-модель корпуса с учетом эргономики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Распечатать и запрограммировать устройство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Протестировать функциональность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322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i="1" dirty="0">
                <a:solidFill>
                  <a:schemeClr val="tx1"/>
                </a:solidFill>
                <a:latin typeface="Bahnschrift SemiLight" panose="020B0502040204020203" pitchFamily="34" charset="0"/>
              </a:rPr>
              <a:t>Ценообразование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785274"/>
              </p:ext>
            </p:extLst>
          </p:nvPr>
        </p:nvGraphicFramePr>
        <p:xfrm>
          <a:off x="391461" y="546362"/>
          <a:ext cx="3635594" cy="5937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963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839235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27722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4234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62430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61254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</a:t>
                      </a: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розничная(самодельная</a:t>
                      </a:r>
                      <a:r>
                        <a:rPr lang="en-US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232126"/>
              </p:ext>
            </p:extLst>
          </p:nvPr>
        </p:nvGraphicFramePr>
        <p:xfrm>
          <a:off x="4336520" y="299699"/>
          <a:ext cx="7421372" cy="618422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09484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301995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3309893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73876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101512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44634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25056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9466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73876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8648" y="2190950"/>
            <a:ext cx="2107335" cy="2107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96210"/>
            <a:ext cx="10616264" cy="1386750"/>
          </a:xfrm>
        </p:spPr>
        <p:txBody>
          <a:bodyPr>
            <a:normAutofit/>
          </a:bodyPr>
          <a:lstStyle/>
          <a:p>
            <a:r>
              <a:rPr lang="ru-RU" sz="2000" i="1" dirty="0">
                <a:solidFill>
                  <a:schemeClr val="tx1"/>
                </a:solidFill>
                <a:latin typeface="Bahnschrift SemiLight" panose="020B0502040204020203" pitchFamily="34" charset="0"/>
              </a:rPr>
              <a:t>Выбор материалов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57897-E7DA-2F3A-8F2F-6DF556D90307}"/>
              </a:ext>
            </a:extLst>
          </p:cNvPr>
          <p:cNvSpPr txBox="1"/>
          <p:nvPr/>
        </p:nvSpPr>
        <p:spPr>
          <a:xfrm>
            <a:off x="387798" y="445425"/>
            <a:ext cx="79244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ahnschrift SemiLight" panose="020B0502040204020203" pitchFamily="34" charset="0"/>
              </a:rPr>
              <a:t>Для 3</a:t>
            </a:r>
            <a:r>
              <a:rPr lang="en-US" sz="2000" dirty="0">
                <a:latin typeface="Bahnschrift SemiLight" panose="020B0502040204020203" pitchFamily="34" charset="0"/>
              </a:rPr>
              <a:t>D</a:t>
            </a:r>
            <a:r>
              <a:rPr lang="ru-RU" sz="2000" dirty="0">
                <a:latin typeface="Bahnschrift SemiLight" panose="020B0502040204020203" pitchFamily="34" charset="0"/>
              </a:rPr>
              <a:t>-печати рассматривались следующие термопластики: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E0792-A0D1-8CA8-F159-C2272754789A}"/>
              </a:ext>
            </a:extLst>
          </p:cNvPr>
          <p:cNvSpPr txBox="1"/>
          <p:nvPr/>
        </p:nvSpPr>
        <p:spPr>
          <a:xfrm>
            <a:off x="746618" y="890540"/>
            <a:ext cx="815357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ahnschrift SemiLight" panose="020B0502040204020203" pitchFamily="34" charset="0"/>
              </a:rPr>
              <a:t>PLA </a:t>
            </a:r>
            <a:r>
              <a:rPr lang="en-US" sz="2000" dirty="0">
                <a:latin typeface="Bahnschrift SemiLight" panose="020B0502040204020203" pitchFamily="34" charset="0"/>
              </a:rPr>
              <a:t>– </a:t>
            </a:r>
            <a:r>
              <a:rPr lang="ru-RU" sz="2000" dirty="0">
                <a:latin typeface="Bahnschrift SemiLight" panose="020B0502040204020203" pitchFamily="34" charset="0"/>
              </a:rPr>
              <a:t>легко печатается, биоразлагаем, но хрупок и имеет низкую температуру стеклования (~60°C), что неприемлемо для устройства, которое может остаться в автомобиле на солнце.</a:t>
            </a:r>
            <a:endParaRPr lang="en-US" sz="2000" dirty="0">
              <a:latin typeface="Bahnschrift SemiLight" panose="020B0502040204020203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ahnschrift SemiLight" panose="020B0502040204020203" pitchFamily="34" charset="0"/>
              </a:rPr>
              <a:t>ABS </a:t>
            </a:r>
            <a:r>
              <a:rPr lang="en-US" sz="2000" dirty="0">
                <a:latin typeface="Bahnschrift SemiLight" panose="020B0502040204020203" pitchFamily="34" charset="0"/>
              </a:rPr>
              <a:t>– </a:t>
            </a:r>
            <a:r>
              <a:rPr lang="ru-RU" sz="2000" dirty="0">
                <a:latin typeface="Bahnschrift SemiLight" panose="020B0502040204020203" pitchFamily="34" charset="0"/>
              </a:rPr>
              <a:t>прочнее PLA, но склонен к деформациям при печати ведь требует закрытой камеры, и выделяет опасные испарения.</a:t>
            </a:r>
            <a:endParaRPr lang="en-US" sz="2000" dirty="0">
              <a:latin typeface="Bahnschrift SemiLight" panose="020B0502040204020203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ahnschrift SemiLight" panose="020B0502040204020203" pitchFamily="34" charset="0"/>
              </a:rPr>
              <a:t>PETG </a:t>
            </a:r>
            <a:r>
              <a:rPr lang="en-US" sz="2000" dirty="0">
                <a:latin typeface="Bahnschrift SemiLight" panose="020B0502040204020203" pitchFamily="34" charset="0"/>
              </a:rPr>
              <a:t>–</a:t>
            </a:r>
            <a:r>
              <a:rPr lang="ru-RU" sz="2000" dirty="0">
                <a:latin typeface="Bahnschrift SemiLight" panose="020B0502040204020203" pitchFamily="34" charset="0"/>
              </a:rPr>
              <a:t> чуть менее прочный чем </a:t>
            </a:r>
            <a:r>
              <a:rPr lang="en-US" sz="2000" dirty="0">
                <a:latin typeface="Bahnschrift SemiLight" panose="020B0502040204020203" pitchFamily="34" charset="0"/>
              </a:rPr>
              <a:t>ABS, </a:t>
            </a:r>
            <a:r>
              <a:rPr lang="ru-RU" sz="2000" dirty="0">
                <a:latin typeface="Bahnschrift SemiLight" panose="020B0502040204020203" pitchFamily="34" charset="0"/>
              </a:rPr>
              <a:t>однако не выделяет опасных паров, прост в печати, имеет высокую ударную вязкость и химическую стойкость.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F16C-194B-FD52-3E37-442614CC597A}"/>
              </a:ext>
            </a:extLst>
          </p:cNvPr>
          <p:cNvSpPr txBox="1"/>
          <p:nvPr/>
        </p:nvSpPr>
        <p:spPr>
          <a:xfrm>
            <a:off x="387798" y="5191631"/>
            <a:ext cx="85123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ahnschrift SemiLight" panose="020B0502040204020203" pitchFamily="34" charset="0"/>
              </a:rPr>
              <a:t>Был выбран </a:t>
            </a:r>
            <a:r>
              <a:rPr lang="en-US" sz="2000" dirty="0">
                <a:latin typeface="Bahnschrift SemiLight" panose="020B0502040204020203" pitchFamily="34" charset="0"/>
              </a:rPr>
              <a:t>PETG </a:t>
            </a:r>
            <a:r>
              <a:rPr lang="ru-RU" sz="2000" dirty="0">
                <a:latin typeface="Bahnschrift SemiLight" panose="020B0502040204020203" pitchFamily="34" charset="0"/>
              </a:rPr>
              <a:t>пластик(</a:t>
            </a:r>
            <a:r>
              <a:rPr lang="ru-RU" sz="2000" i="1" dirty="0">
                <a:latin typeface="Bahnschrift SemiLight" panose="020B0502040204020203" pitchFamily="34" charset="0"/>
              </a:rPr>
              <a:t>Полиэтилентерефталат гликоль</a:t>
            </a:r>
            <a:r>
              <a:rPr lang="ru-RU" sz="2000" dirty="0">
                <a:latin typeface="Bahnschrift SemiLight" panose="020B0502040204020203" pitchFamily="34" charset="0"/>
              </a:rPr>
              <a:t>), ведь он совмещает лучшие стороны своих конкурентов.</a:t>
            </a:r>
          </a:p>
        </p:txBody>
      </p:sp>
      <p:pic>
        <p:nvPicPr>
          <p:cNvPr id="2050" name="Picture 2" descr="https://avatars.mds.yandex.net/i?id=7a4480ee1849cf3113c852b398967ca1ffc880d7-5878500-images-thumbs&amp;n=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5898" y="529160"/>
            <a:ext cx="1472837" cy="1472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Picture background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9178" y="4384129"/>
            <a:ext cx="1258357" cy="1615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521492">
            <a:off x="9937691" y="1275977"/>
            <a:ext cx="1447109" cy="144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10693147" y="2361034"/>
            <a:ext cx="1430166" cy="143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20357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i="1" dirty="0">
                <a:latin typeface="Bahnschrift SemiLight" panose="020B0502040204020203" pitchFamily="34" charset="0"/>
              </a:rPr>
              <a:t>Процесс изготовления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3337698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7</a:t>
            </a:r>
            <a:endParaRPr lang="ru-RU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93" y="566929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062" y="2504100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466767" y="4369983"/>
            <a:ext cx="2634813" cy="219504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7198" t="-18206" r="3092" b="7788"/>
          <a:stretch/>
        </p:blipFill>
        <p:spPr>
          <a:xfrm>
            <a:off x="8847349" y="3181229"/>
            <a:ext cx="3256058" cy="3574473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10475377" y="374232"/>
            <a:ext cx="1203759" cy="984322"/>
          </a:xfrm>
          <a:prstGeom prst="rect">
            <a:avLst/>
          </a:prstGeom>
        </p:spPr>
      </p:pic>
      <p:pic>
        <p:nvPicPr>
          <p:cNvPr id="2054" name="Picture 6" descr="https://avatars.mds.yandex.net/get-goods_pic/14045641/hat2c249d07c31a47bc42936a31d51ea9f8/orig"/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8825" y="2683599"/>
            <a:ext cx="974112" cy="843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3321417" y="173018"/>
            <a:ext cx="6462853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Подбор компонентов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Датчик MPU-6050: отслеживание наклона.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Arduino Pro Micro: управление.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Энкодер EC11: имитация колесика мыши.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Тактовые кнопки: клики и выбор чувствительности</a:t>
            </a:r>
            <a:r>
              <a:rPr lang="ru-RU" sz="2000" dirty="0" smtClean="0">
                <a:latin typeface="Bahnschrift SemiLight" panose="020B0502040204020203" pitchFamily="34" charset="0"/>
              </a:rPr>
              <a:t>.</a:t>
            </a:r>
            <a:endParaRPr lang="ru-RU" sz="2000" dirty="0">
              <a:latin typeface="Bahnschrift SemiLight" panose="020B0502040204020203" pitchFamily="34" charset="0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2000" dirty="0" smtClean="0">
                <a:latin typeface="Bahnschrift SemiLight" panose="020B0502040204020203" pitchFamily="34" charset="0"/>
              </a:rPr>
              <a:t> </a:t>
            </a:r>
            <a:r>
              <a:rPr lang="ru-RU" sz="2000" dirty="0" smtClean="0">
                <a:latin typeface="Bahnschrift SemiLight" panose="020B0502040204020203" pitchFamily="34" charset="0"/>
              </a:rPr>
              <a:t>3D-моделирование </a:t>
            </a:r>
            <a:r>
              <a:rPr lang="ru-RU" sz="2000" dirty="0">
                <a:latin typeface="Bahnschrift SemiLight" panose="020B0502040204020203" pitchFamily="34" charset="0"/>
              </a:rPr>
              <a:t>и эргономика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Проектирование корпуса.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Итерация: Улучшение формы для удобства (опора для руки, пазы под пальцы</a:t>
            </a:r>
            <a:r>
              <a:rPr lang="ru-RU" sz="2000" dirty="0" smtClean="0">
                <a:latin typeface="Bahnschrift SemiLight" panose="020B0502040204020203" pitchFamily="34" charset="0"/>
              </a:rPr>
              <a:t>).</a:t>
            </a:r>
            <a:endParaRPr lang="ru-RU" sz="2000" dirty="0">
              <a:latin typeface="Bahnschrift SemiLight" panose="020B0502040204020203" pitchFamily="34" charset="0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Производство и сборка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3D-печать.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Постобработка (зачистка).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ahnschrift SemiLight" panose="020B0502040204020203" pitchFamily="34" charset="0"/>
              </a:rPr>
              <a:t>Компоновка электроники.</a:t>
            </a:r>
            <a:endParaRPr lang="ru-RU" sz="2000" i="0" dirty="0">
              <a:effectLst/>
              <a:latin typeface="Bahnschrift Semi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8045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i="1" dirty="0" smtClean="0">
                <a:solidFill>
                  <a:schemeClr val="tx1"/>
                </a:solidFill>
                <a:latin typeface="Bahnschrift SemiLight" panose="020B0502040204020203" pitchFamily="34" charset="0"/>
              </a:rPr>
              <a:t>Взрыв-схема</a:t>
            </a:r>
            <a:endParaRPr lang="ru-RU" sz="2100" i="1" dirty="0">
              <a:solidFill>
                <a:schemeClr val="tx1"/>
              </a:solidFill>
              <a:latin typeface="Bahnschrift SemiLight" panose="020B0502040204020203" pitchFamily="3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368" y="205330"/>
            <a:ext cx="8910035" cy="657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0006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i="1" dirty="0">
                <a:solidFill>
                  <a:schemeClr val="tx1"/>
                </a:solidFill>
                <a:latin typeface="Bookman Old Style" panose="02050604050505020204" pitchFamily="18" charset="0"/>
              </a:rPr>
              <a:t>Итоги и самооценка</a:t>
            </a:r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0021" y="428583"/>
            <a:ext cx="4413215" cy="55565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2037" y="1087021"/>
            <a:ext cx="6943112" cy="1131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Создан работающий </a:t>
            </a:r>
            <a:r>
              <a:rPr lang="ru-RU" sz="2000" dirty="0" smtClean="0">
                <a:latin typeface="Bookman Old Style" panose="02050604050505020204" pitchFamily="18" charset="0"/>
              </a:rPr>
              <a:t>прототип</a:t>
            </a:r>
            <a:endParaRPr lang="en-US" sz="2000" dirty="0" smtClean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Bookman Old Style" panose="02050604050505020204" pitchFamily="18" charset="0"/>
              </a:rPr>
              <a:t>Устройство </a:t>
            </a:r>
            <a:r>
              <a:rPr lang="ru-RU" sz="2000" dirty="0">
                <a:latin typeface="Bookman Old Style" panose="02050604050505020204" pitchFamily="18" charset="0"/>
              </a:rPr>
              <a:t>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Учтены ключевые эргономические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3886096"/>
            <a:ext cx="5876925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sz="2000" dirty="0">
                <a:latin typeface="Bookman Old Style" panose="02050604050505020204" pitchFamily="18" charset="0"/>
              </a:rPr>
              <a:t>Предполагается развитие проекта в </a:t>
            </a:r>
            <a:r>
              <a:rPr lang="ru-RU" sz="2000" dirty="0" smtClean="0">
                <a:latin typeface="Bookman Old Style" panose="02050604050505020204" pitchFamily="18" charset="0"/>
              </a:rPr>
              <a:t>будущем с интеграцией </a:t>
            </a:r>
            <a:r>
              <a:rPr lang="en-US" sz="2000" dirty="0">
                <a:latin typeface="Bookman Old Style" panose="02050604050505020204" pitchFamily="18" charset="0"/>
              </a:rPr>
              <a:t>Bluetooth</a:t>
            </a:r>
            <a:r>
              <a:rPr lang="ru-RU" sz="2000" dirty="0">
                <a:latin typeface="Bookman Old Style" panose="02050604050505020204" pitchFamily="18" charset="0"/>
              </a:rPr>
              <a:t> </a:t>
            </a:r>
            <a:r>
              <a:rPr lang="en-US" sz="2000" dirty="0">
                <a:latin typeface="Bookman Old Style" panose="02050604050505020204" pitchFamily="18" charset="0"/>
              </a:rPr>
              <a:t>5.3</a:t>
            </a:r>
            <a:endParaRPr lang="ru-RU" sz="2000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8215" y="2595142"/>
            <a:ext cx="6623592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sz="2000" dirty="0" smtClean="0">
                <a:latin typeface="Bookman Old Style" panose="02050604050505020204" pitchFamily="18" charset="0"/>
              </a:rPr>
              <a:t>Все поставленные </a:t>
            </a:r>
            <a:r>
              <a:rPr lang="ru-RU" sz="2000" dirty="0">
                <a:latin typeface="Bookman Old Style" panose="02050604050505020204" pitchFamily="18" charset="0"/>
              </a:rPr>
              <a:t>задачи выполнены и устройство можно считать завершенным.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1095</TotalTime>
  <Words>505</Words>
  <Application>Microsoft Office PowerPoint</Application>
  <PresentationFormat>Широкоэкранный</PresentationFormat>
  <Paragraphs>100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Arial</vt:lpstr>
      <vt:lpstr>Bahnschrift SemiLight</vt:lpstr>
      <vt:lpstr>Bookman Old Style</vt:lpstr>
      <vt:lpstr>Calibri</vt:lpstr>
      <vt:lpstr>Calibri Light</vt:lpstr>
      <vt:lpstr>Times New Roman</vt:lpstr>
      <vt:lpstr>Тема Office</vt:lpstr>
      <vt:lpstr>Презентация PowerPoint</vt:lpstr>
      <vt:lpstr>Причины создания проекта</vt:lpstr>
      <vt:lpstr>Анализ аналогов</vt:lpstr>
      <vt:lpstr>Цели и задачи</vt:lpstr>
      <vt:lpstr>Ценообразование</vt:lpstr>
      <vt:lpstr>Выбор материалов</vt:lpstr>
      <vt:lpstr>Процесс изготовления</vt:lpstr>
      <vt:lpstr>Взрыв-схема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Пользователь Windows</cp:lastModifiedBy>
  <cp:revision>38</cp:revision>
  <dcterms:created xsi:type="dcterms:W3CDTF">2026-02-08T13:02:55Z</dcterms:created>
  <dcterms:modified xsi:type="dcterms:W3CDTF">2026-02-10T12:52:24Z</dcterms:modified>
</cp:coreProperties>
</file>