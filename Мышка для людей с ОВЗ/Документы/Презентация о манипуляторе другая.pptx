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5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65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 Windows" initials="ПW" lastIdx="1" clrIdx="0">
    <p:extLst>
      <p:ext uri="{19B8F6BF-5375-455C-9EA6-DF929625EA0E}">
        <p15:presenceInfo xmlns:p15="http://schemas.microsoft.com/office/powerpoint/2012/main" userId="Пользователь Window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588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09T10:34:21.973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PNG"/><Relationship Id="rId7" Type="http://schemas.openxmlformats.org/officeDocument/2006/relationships/image" Target="../media/image1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g"/><Relationship Id="rId4" Type="http://schemas.openxmlformats.org/officeDocument/2006/relationships/image" Target="../media/image10.jpg"/><Relationship Id="rId9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51F05A-A149-91D9-F06E-BE9FD1261F7A}"/>
              </a:ext>
            </a:extLst>
          </p:cNvPr>
          <p:cNvSpPr/>
          <p:nvPr/>
        </p:nvSpPr>
        <p:spPr>
          <a:xfrm>
            <a:off x="1170432" y="4251960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371600" y="46402"/>
            <a:ext cx="9485375" cy="13127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Государственное бюджетное общеобразовательное учреждение </a:t>
            </a:r>
            <a:endParaRPr lang="en-US" sz="2000" dirty="0">
              <a:latin typeface="Bookman Old Style" panose="02050604050505020204" pitchFamily="18" charset="0"/>
              <a:cs typeface="Arial" pitchFamily="34" charset="0"/>
            </a:endParaRPr>
          </a:p>
          <a:p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города Москвы «Школа № 1103 имени Героя Российской Федерации А.В. Соломатина»</a:t>
            </a: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2644139" y="2077504"/>
            <a:ext cx="6783325" cy="112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tx1"/>
                </a:solidFill>
                <a:latin typeface="Bookman Old Style" panose="02050604050505020204" pitchFamily="18" charset="0"/>
                <a:cs typeface="Arial" pitchFamily="34" charset="0"/>
              </a:rPr>
              <a:t>Манипулятор для людей с ограниченной моторикой рук</a:t>
            </a:r>
          </a:p>
          <a:p>
            <a:endParaRPr lang="ru-RU" sz="66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90829" y="3023278"/>
            <a:ext cx="4401171" cy="3271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Участник</a:t>
            </a:r>
            <a:r>
              <a:rPr lang="en-US" sz="2000" dirty="0">
                <a:latin typeface="Bookman Old Style" panose="02050604050505020204" pitchFamily="18" charset="0"/>
                <a:cs typeface="Arial" pitchFamily="34" charset="0"/>
              </a:rPr>
              <a:t>:</a:t>
            </a:r>
            <a:endParaRPr lang="ru-RU" sz="2000" dirty="0">
              <a:latin typeface="Bookman Old Style" panose="02050604050505020204" pitchFamily="18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ученик 9 «И» класса ГБОУ 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Школа № 1103  Пивоваров Андрей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Руководитель</a:t>
            </a:r>
            <a:r>
              <a:rPr lang="en-US" sz="2000" dirty="0">
                <a:latin typeface="Bookman Old Style" panose="02050604050505020204" pitchFamily="18" charset="0"/>
                <a:cs typeface="Arial" pitchFamily="34" charset="0"/>
              </a:rPr>
              <a:t>: </a:t>
            </a:r>
            <a:endParaRPr lang="ru-RU" sz="2000" dirty="0">
              <a:latin typeface="Bookman Old Style" panose="02050604050505020204" pitchFamily="18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учитель ГБОУ Школа № 1103 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Сокур Мария Евгеньевна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7980" y="6358761"/>
            <a:ext cx="2502396" cy="499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Arial" pitchFamily="34" charset="0"/>
              </a:rPr>
              <a:t>Москва, 2026</a:t>
            </a:r>
          </a:p>
        </p:txBody>
      </p:sp>
    </p:spTree>
    <p:extLst>
      <p:ext uri="{BB962C8B-B14F-4D97-AF65-F5344CB8AC3E}">
        <p14:creationId xmlns:p14="http://schemas.microsoft.com/office/powerpoint/2010/main" val="237531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730752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826763" y="186716"/>
            <a:ext cx="2081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88D54D-CE18-D886-E409-CC353FBDB53A}"/>
              </a:ext>
            </a:extLst>
          </p:cNvPr>
          <p:cNvSpPr txBox="1"/>
          <p:nvPr/>
        </p:nvSpPr>
        <p:spPr>
          <a:xfrm>
            <a:off x="4693944" y="197597"/>
            <a:ext cx="7325511" cy="60417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dirty="0">
                <a:latin typeface="Bookman Old Style" panose="02050604050505020204" pitchFamily="18" charset="0"/>
              </a:rPr>
              <a:t>Множество людей в современном мире страдают от проблем с мелкой моторикой, и все они часто имеют трудности при коммуникации с цифровой средой, которая в наше время отвечает за поток информации, учебу, работу и многое другое. Для таких людей обыкновенные средства ввода часто становятся непреодолимым барьером.</a:t>
            </a:r>
          </a:p>
          <a:p>
            <a:pPr algn="just">
              <a:lnSpc>
                <a:spcPct val="150000"/>
              </a:lnSpc>
            </a:pPr>
            <a:r>
              <a:rPr lang="ru-RU" sz="2000" dirty="0">
                <a:latin typeface="Bookman Old Style" panose="02050604050505020204" pitchFamily="18" charset="0"/>
              </a:rPr>
              <a:t>Высокая стоимость от 5 тыс. рублей, сложность настройки, необходимость в специальной подготовке пользователя, а также часто минимальная эффективность при треморе делает аналоги на рынке неподходящими для пожилых людей или людей с ограниченными возможностями.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CC642A-1BAD-F187-0319-90BEBA77461E}"/>
              </a:ext>
            </a:extLst>
          </p:cNvPr>
          <p:cNvSpPr/>
          <p:nvPr/>
        </p:nvSpPr>
        <p:spPr>
          <a:xfrm rot="16200000">
            <a:off x="4240595" y="-893004"/>
            <a:ext cx="3710809" cy="12362691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Анализ аналогов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633C90-DCB0-83B2-1834-E27909E87AD0}"/>
              </a:ext>
            </a:extLst>
          </p:cNvPr>
          <p:cNvSpPr/>
          <p:nvPr/>
        </p:nvSpPr>
        <p:spPr>
          <a:xfrm>
            <a:off x="2395728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6C620-90DC-AACF-5250-754AC97750F5}"/>
              </a:ext>
            </a:extLst>
          </p:cNvPr>
          <p:cNvSpPr txBox="1"/>
          <p:nvPr/>
        </p:nvSpPr>
        <p:spPr>
          <a:xfrm>
            <a:off x="2474557" y="159002"/>
            <a:ext cx="2081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ookman Old Style" panose="02050604050505020204" pitchFamily="18" charset="0"/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045203-6221-1B1E-6C6C-E1EE0B032D31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2" t="3256" r="9392" b="6779"/>
          <a:stretch>
            <a:fillRect/>
          </a:stretch>
        </p:blipFill>
        <p:spPr>
          <a:xfrm>
            <a:off x="723902" y="746261"/>
            <a:ext cx="3034281" cy="2452122"/>
          </a:xfrm>
          <a:prstGeom prst="rect">
            <a:avLst/>
          </a:prstGeom>
        </p:spPr>
      </p:pic>
      <p:pic>
        <p:nvPicPr>
          <p:cNvPr id="1028" name="Picture 4" descr="Logitech Marble Trackball Mouse (910-000808) | 250000072601">
            <a:extLst>
              <a:ext uri="{FF2B5EF4-FFF2-40B4-BE49-F238E27FC236}">
                <a16:creationId xmlns:a16="http://schemas.microsoft.com/office/drawing/2014/main" id="{8813296E-A5AA-7C05-2EB8-E4320A46F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920" y="862879"/>
            <a:ext cx="2573616" cy="207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044" y="320485"/>
            <a:ext cx="3034281" cy="30342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E70A8C6-8A43-E305-795D-80B804D6CEB5}"/>
              </a:ext>
            </a:extLst>
          </p:cNvPr>
          <p:cNvSpPr txBox="1"/>
          <p:nvPr/>
        </p:nvSpPr>
        <p:spPr>
          <a:xfrm>
            <a:off x="10795" y="3486459"/>
            <a:ext cx="423042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Головной указатель «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Eye Gaze</a:t>
            </a:r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b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Следит за движением глаз, не задействует руки, однако имеет сложную калибровку, высокую стоимость и сильные неточности при недостатке света.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DE38CE-892F-CE29-37E0-DB0CB6EBEDBB}"/>
              </a:ext>
            </a:extLst>
          </p:cNvPr>
          <p:cNvSpPr txBox="1"/>
          <p:nvPr/>
        </p:nvSpPr>
        <p:spPr>
          <a:xfrm>
            <a:off x="4146648" y="3481873"/>
            <a:ext cx="45502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Голосовой указатель</a:t>
            </a:r>
            <a:b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Dragon Naturally Speaking</a:t>
            </a:r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Так же не задействует рук, но  нестабилен в шумной среде, имеет высокую стоимость и не подходит людям испытывающим проблемы с речью.</a:t>
            </a: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FA5C41-551D-B803-6288-5D747657F30F}"/>
              </a:ext>
            </a:extLst>
          </p:cNvPr>
          <p:cNvSpPr txBox="1"/>
          <p:nvPr/>
        </p:nvSpPr>
        <p:spPr>
          <a:xfrm>
            <a:off x="8686076" y="3554007"/>
            <a:ext cx="349512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Trackball </a:t>
            </a:r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Logitech Marble</a:t>
            </a:r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Не задействует всю руку, однако требует точной мелкой моторики, что очень редко наблюдается у людей с тремором рук.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C1815B-F396-BA02-D269-6D3991EDF780}"/>
              </a:ext>
            </a:extLst>
          </p:cNvPr>
          <p:cNvSpPr txBox="1"/>
          <p:nvPr/>
        </p:nvSpPr>
        <p:spPr>
          <a:xfrm>
            <a:off x="297180" y="5800776"/>
            <a:ext cx="118948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Анализ показал, что ни один из существующих аналогов не решает ключевую проблему: физическая стабилизация движения руки при сохранении интуитивного, привычного интерфейса.</a:t>
            </a:r>
          </a:p>
        </p:txBody>
      </p:sp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Цели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EE563A-335C-712A-9FB5-1557574909DB}"/>
              </a:ext>
            </a:extLst>
          </p:cNvPr>
          <p:cNvSpPr/>
          <p:nvPr/>
        </p:nvSpPr>
        <p:spPr>
          <a:xfrm>
            <a:off x="2069718" y="-797450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62A24-9C7F-1118-985F-7B49F4C35241}"/>
              </a:ext>
            </a:extLst>
          </p:cNvPr>
          <p:cNvSpPr txBox="1"/>
          <p:nvPr/>
        </p:nvSpPr>
        <p:spPr>
          <a:xfrm>
            <a:off x="2190083" y="193636"/>
            <a:ext cx="2081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ookman Old Style" panose="02050604050505020204" pitchFamily="18" charset="0"/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E6AE28F-6826-E577-6D2F-42C00070F62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365413" y="732856"/>
            <a:ext cx="89044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b="1" dirty="0">
                <a:latin typeface="Bookman Old Style" panose="02050604050505020204" pitchFamily="18" charset="0"/>
              </a:rPr>
              <a:t>Целью работы </a:t>
            </a:r>
            <a:r>
              <a:rPr lang="ru-RU" sz="2000" dirty="0">
                <a:latin typeface="Bookman Old Style" panose="02050604050505020204" pitchFamily="18" charset="0"/>
              </a:rPr>
              <a:t>является</a:t>
            </a:r>
            <a:r>
              <a:rPr lang="ru-RU" sz="2000" b="1" dirty="0">
                <a:latin typeface="Bookman Old Style" panose="02050604050505020204" pitchFamily="18" charset="0"/>
              </a:rPr>
              <a:t> </a:t>
            </a:r>
            <a:r>
              <a:rPr lang="ru-RU" sz="2000" dirty="0">
                <a:latin typeface="Bookman Old Style" panose="02050604050505020204" pitchFamily="18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883384" y="1426330"/>
            <a:ext cx="650854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Стабильное и точное управление курсором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Пассивную физическую стабилизацию руки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Отсутствие сложной калибровки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Работа в любой среде, с плохим освещением или в шумных местах по типу офиса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4510583" y="3401676"/>
            <a:ext cx="547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ookman Old Style" panose="02050604050505020204" pitchFamily="18" charset="0"/>
              </a:rPr>
              <a:t>Задачи проекта: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5032499" y="3601731"/>
            <a:ext cx="681228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2000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Bookman Old Style" panose="02050604050505020204" pitchFamily="18" charset="0"/>
              </a:rPr>
              <a:t>Подобрать материалы и электрические компоненты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Bookman Old Style" panose="02050604050505020204" pitchFamily="18" charset="0"/>
              </a:rPr>
              <a:t>Разработать 3D-модель корпуса с учетом эргономики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Bookman Old Style" panose="02050604050505020204" pitchFamily="18" charset="0"/>
              </a:rPr>
              <a:t>Распечатать и запрограммировать устройство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Bookman Old Style" panose="02050604050505020204" pitchFamily="18" charset="0"/>
              </a:rPr>
              <a:t>Протестировать функциональность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17251257">
            <a:off x="8887494" y="-5332016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>
            <a:off x="11722607" y="-672235"/>
            <a:ext cx="582157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0" y="-813105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Ценообразование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615184" y="-812723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660903" y="173535"/>
            <a:ext cx="2081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ookman Old Style" panose="020506040505050202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10454637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410467"/>
              </p:ext>
            </p:extLst>
          </p:nvPr>
        </p:nvGraphicFramePr>
        <p:xfrm>
          <a:off x="354515" y="980471"/>
          <a:ext cx="3062373" cy="50171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55459">
                  <a:extLst>
                    <a:ext uri="{9D8B030D-6E8A-4147-A177-3AD203B41FA5}">
                      <a16:colId xmlns:a16="http://schemas.microsoft.com/office/drawing/2014/main" val="3099359889"/>
                    </a:ext>
                  </a:extLst>
                </a:gridCol>
                <a:gridCol w="706914">
                  <a:extLst>
                    <a:ext uri="{9D8B030D-6E8A-4147-A177-3AD203B41FA5}">
                      <a16:colId xmlns:a16="http://schemas.microsoft.com/office/drawing/2014/main" val="2146182567"/>
                    </a:ext>
                  </a:extLst>
                </a:gridCol>
              </a:tblGrid>
              <a:tr h="10792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ru-RU" sz="1200" b="0" kern="100" dirty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213522644"/>
                  </a:ext>
                </a:extLst>
              </a:tr>
              <a:tr h="120283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  <a:ea typeface="+mn-ea"/>
                          <a:cs typeface="+mn-cs"/>
                        </a:rPr>
                        <a:t>600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434116937"/>
                  </a:ext>
                </a:extLst>
              </a:tr>
              <a:tr h="221749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780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729372049"/>
                  </a:ext>
                </a:extLst>
              </a:tr>
              <a:tr h="4330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розничная себестоимость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1380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040222044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1335658"/>
              </p:ext>
            </p:extLst>
          </p:nvPr>
        </p:nvGraphicFramePr>
        <p:xfrm>
          <a:off x="4225683" y="373590"/>
          <a:ext cx="6574755" cy="57318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8983">
                  <a:extLst>
                    <a:ext uri="{9D8B030D-6E8A-4147-A177-3AD203B41FA5}">
                      <a16:colId xmlns:a16="http://schemas.microsoft.com/office/drawing/2014/main" val="1747071466"/>
                    </a:ext>
                  </a:extLst>
                </a:gridCol>
                <a:gridCol w="1153466">
                  <a:extLst>
                    <a:ext uri="{9D8B030D-6E8A-4147-A177-3AD203B41FA5}">
                      <a16:colId xmlns:a16="http://schemas.microsoft.com/office/drawing/2014/main" val="492268831"/>
                    </a:ext>
                  </a:extLst>
                </a:gridCol>
                <a:gridCol w="2932306">
                  <a:extLst>
                    <a:ext uri="{9D8B030D-6E8A-4147-A177-3AD203B41FA5}">
                      <a16:colId xmlns:a16="http://schemas.microsoft.com/office/drawing/2014/main" val="3041403376"/>
                    </a:ext>
                  </a:extLst>
                </a:gridCol>
              </a:tblGrid>
              <a:tr h="6847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Примечания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97529198"/>
                  </a:ext>
                </a:extLst>
              </a:tr>
              <a:tr h="94087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510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Оптовая закупка (600 р., Снижение цены 15% при покупке оптом &gt;10 кг пластика или &gt;500 шт. пружин)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141505239"/>
                  </a:ext>
                </a:extLst>
              </a:tr>
              <a:tr h="10344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660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(780 р.,  Снижение на 15% при покупке оптом, &gt;250 штук каждого)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769889045"/>
                  </a:ext>
                </a:extLst>
              </a:tr>
              <a:tr h="11590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Печать на 3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D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принтере и сборка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250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Использование промышленного принтера, а не домашнего(0.5 р./г вместо 1.2 р./г)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67093221"/>
                  </a:ext>
                </a:extLst>
              </a:tr>
              <a:tr h="9219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Упаковка, логистика и маржинальные расходы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Включает цену упаковки, транспортировки, хранения и т.д. 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648659560"/>
                  </a:ext>
                </a:extLst>
              </a:tr>
              <a:tr h="6847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промышленная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1620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 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23796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1631168" y="-672235"/>
            <a:ext cx="560831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616264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Выбор материалов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2720340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2875787" y="198823"/>
            <a:ext cx="220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Bookman Old Style" panose="02050604050505020204" pitchFamily="18" charset="0"/>
              </a:rPr>
              <a:t>6</a:t>
            </a:r>
            <a:endParaRPr lang="ru-RU" sz="2000" dirty="0"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922503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57897-E7DA-2F3A-8F2F-6DF556D90307}"/>
              </a:ext>
            </a:extLst>
          </p:cNvPr>
          <p:cNvSpPr txBox="1"/>
          <p:nvPr/>
        </p:nvSpPr>
        <p:spPr>
          <a:xfrm>
            <a:off x="432655" y="747009"/>
            <a:ext cx="79244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ookman Old Style" panose="02050604050505020204" pitchFamily="18" charset="0"/>
              </a:rPr>
              <a:t>Для 3</a:t>
            </a:r>
            <a:r>
              <a:rPr lang="en-US" sz="2000" dirty="0">
                <a:latin typeface="Bookman Old Style" panose="02050604050505020204" pitchFamily="18" charset="0"/>
              </a:rPr>
              <a:t>D</a:t>
            </a:r>
            <a:r>
              <a:rPr lang="ru-RU" sz="2000" dirty="0">
                <a:latin typeface="Bookman Old Style" panose="02050604050505020204" pitchFamily="18" charset="0"/>
              </a:rPr>
              <a:t>-печати рассматривались следующие термопластики: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E0792-A0D1-8CA8-F159-C2272754789A}"/>
              </a:ext>
            </a:extLst>
          </p:cNvPr>
          <p:cNvSpPr txBox="1"/>
          <p:nvPr/>
        </p:nvSpPr>
        <p:spPr>
          <a:xfrm>
            <a:off x="911550" y="1525402"/>
            <a:ext cx="7824428" cy="3650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PLA </a:t>
            </a:r>
            <a:r>
              <a:rPr lang="en-US" sz="2000" dirty="0">
                <a:latin typeface="Bookman Old Style" panose="02050604050505020204" pitchFamily="18" charset="0"/>
              </a:rPr>
              <a:t>– </a:t>
            </a:r>
            <a:r>
              <a:rPr lang="ru-RU" sz="2000" dirty="0">
                <a:latin typeface="Bookman Old Style" panose="02050604050505020204" pitchFamily="18" charset="0"/>
              </a:rPr>
              <a:t>легко печатается, биоразлагаем, но хрупок и имеет низкую температуру стеклования (~60°C), что неприемлемо для устройства, которое может остаться в автомобиле на солнце.</a:t>
            </a:r>
            <a:endParaRPr lang="en-US" sz="2000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ABS </a:t>
            </a:r>
            <a:r>
              <a:rPr lang="en-US" sz="2000" dirty="0">
                <a:latin typeface="Bookman Old Style" panose="02050604050505020204" pitchFamily="18" charset="0"/>
              </a:rPr>
              <a:t>– </a:t>
            </a:r>
            <a:r>
              <a:rPr lang="ru-RU" sz="2000" dirty="0">
                <a:latin typeface="Bookman Old Style" panose="02050604050505020204" pitchFamily="18" charset="0"/>
              </a:rPr>
              <a:t>прочнее PLA, но склонен к деформациям при печати ведь требует закрытой камеры, и выделяет опасные испарения.</a:t>
            </a:r>
            <a:endParaRPr lang="en-US" sz="2000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PETG </a:t>
            </a:r>
            <a:r>
              <a:rPr lang="en-US" sz="2000" dirty="0">
                <a:latin typeface="Bookman Old Style" panose="02050604050505020204" pitchFamily="18" charset="0"/>
              </a:rPr>
              <a:t>–</a:t>
            </a:r>
            <a:r>
              <a:rPr lang="ru-RU" sz="2000" dirty="0">
                <a:latin typeface="Bookman Old Style" panose="02050604050505020204" pitchFamily="18" charset="0"/>
              </a:rPr>
              <a:t> чуть менее прочный чем </a:t>
            </a:r>
            <a:r>
              <a:rPr lang="en-US" sz="2000" dirty="0">
                <a:latin typeface="Bookman Old Style" panose="02050604050505020204" pitchFamily="18" charset="0"/>
              </a:rPr>
              <a:t>ABS, </a:t>
            </a:r>
            <a:r>
              <a:rPr lang="ru-RU" sz="2000" dirty="0">
                <a:latin typeface="Bookman Old Style" panose="02050604050505020204" pitchFamily="18" charset="0"/>
              </a:rPr>
              <a:t>однако не выделяет опасных паров, прост в печати, имеет высокую ударную вязкость и химическую стойкость. 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48EABFF-670C-99BA-6911-B92A7CCEF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896137" y="2432327"/>
            <a:ext cx="4075367" cy="239568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70F16C-194B-FD52-3E37-442614CC597A}"/>
              </a:ext>
            </a:extLst>
          </p:cNvPr>
          <p:cNvSpPr txBox="1"/>
          <p:nvPr/>
        </p:nvSpPr>
        <p:spPr>
          <a:xfrm>
            <a:off x="480161" y="5435108"/>
            <a:ext cx="85123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ookman Old Style" panose="02050604050505020204" pitchFamily="18" charset="0"/>
              </a:rPr>
              <a:t>Был выбран </a:t>
            </a:r>
            <a:r>
              <a:rPr lang="en-US" sz="2000" dirty="0">
                <a:latin typeface="Bookman Old Style" panose="02050604050505020204" pitchFamily="18" charset="0"/>
              </a:rPr>
              <a:t>PETG </a:t>
            </a:r>
            <a:r>
              <a:rPr lang="ru-RU" sz="2000" dirty="0">
                <a:latin typeface="Bookman Old Style" panose="02050604050505020204" pitchFamily="18" charset="0"/>
              </a:rPr>
              <a:t>пластик(</a:t>
            </a:r>
            <a:r>
              <a:rPr lang="ru-RU" sz="2000" i="1" dirty="0">
                <a:latin typeface="Bookman Old Style" panose="02050604050505020204" pitchFamily="18" charset="0"/>
              </a:rPr>
              <a:t>Полиэтилентерефталат гликоль</a:t>
            </a:r>
            <a:r>
              <a:rPr lang="ru-RU" sz="2000" dirty="0">
                <a:latin typeface="Bookman Old Style" panose="02050604050505020204" pitchFamily="18" charset="0"/>
              </a:rPr>
              <a:t>), ведь он совмещает лучшие стороны своих конкурентов.</a:t>
            </a:r>
          </a:p>
        </p:txBody>
      </p:sp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0515600" y="3700905"/>
            <a:ext cx="3484514" cy="3872415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21104435">
            <a:off x="-680755" y="-501244"/>
            <a:ext cx="4963983" cy="8113974"/>
          </a:xfrm>
          <a:custGeom>
            <a:avLst/>
            <a:gdLst>
              <a:gd name="connsiteX0" fmla="*/ 4865268 w 4865268"/>
              <a:gd name="connsiteY0" fmla="*/ 0 h 8113974"/>
              <a:gd name="connsiteX1" fmla="*/ 4865268 w 4865268"/>
              <a:gd name="connsiteY1" fmla="*/ 8113974 h 8113974"/>
              <a:gd name="connsiteX2" fmla="*/ 0 w 4865268"/>
              <a:gd name="connsiteY2" fmla="*/ 8113974 h 8113974"/>
              <a:gd name="connsiteX3" fmla="*/ 0 w 4865268"/>
              <a:gd name="connsiteY3" fmla="*/ 7052045 h 8113974"/>
              <a:gd name="connsiteX4" fmla="*/ 97750 w 4865268"/>
              <a:gd name="connsiteY4" fmla="*/ 7066234 h 8113974"/>
              <a:gd name="connsiteX5" fmla="*/ 1082938 w 4865268"/>
              <a:gd name="connsiteY5" fmla="*/ 279367 h 8113974"/>
              <a:gd name="connsiteX6" fmla="*/ 0 w 4865268"/>
              <a:gd name="connsiteY6" fmla="*/ 122167 h 8113974"/>
              <a:gd name="connsiteX7" fmla="*/ 0 w 4865268"/>
              <a:gd name="connsiteY7" fmla="*/ 0 h 8113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65268" h="8113974">
                <a:moveTo>
                  <a:pt x="4865268" y="0"/>
                </a:moveTo>
                <a:lnTo>
                  <a:pt x="4865268" y="8113974"/>
                </a:lnTo>
                <a:lnTo>
                  <a:pt x="0" y="8113974"/>
                </a:lnTo>
                <a:lnTo>
                  <a:pt x="0" y="7052045"/>
                </a:lnTo>
                <a:lnTo>
                  <a:pt x="97750" y="7066234"/>
                </a:lnTo>
                <a:lnTo>
                  <a:pt x="1082938" y="279367"/>
                </a:lnTo>
                <a:lnTo>
                  <a:pt x="0" y="122167"/>
                </a:lnTo>
                <a:lnTo>
                  <a:pt x="0" y="0"/>
                </a:lnTo>
                <a:close/>
              </a:path>
            </a:pathLst>
          </a:cu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Процесс изготовления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3163685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3337698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7</a:t>
            </a:r>
            <a:endParaRPr lang="ru-RU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4183911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92" y="819820"/>
            <a:ext cx="2902706" cy="196518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7" y="2785006"/>
            <a:ext cx="2863367" cy="186588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58" b="22463"/>
          <a:stretch/>
        </p:blipFill>
        <p:spPr>
          <a:xfrm>
            <a:off x="1263198" y="4650889"/>
            <a:ext cx="2587691" cy="203951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1139157">
            <a:off x="9807594" y="4121353"/>
            <a:ext cx="3177309" cy="3820043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8654702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541470" y="3737684"/>
            <a:ext cx="1954332" cy="812405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302" b="2669"/>
          <a:stretch/>
        </p:blipFill>
        <p:spPr>
          <a:xfrm>
            <a:off x="10122408" y="3799648"/>
            <a:ext cx="1980202" cy="2833324"/>
          </a:xfrm>
          <a:custGeom>
            <a:avLst/>
            <a:gdLst>
              <a:gd name="connsiteX0" fmla="*/ 475085 w 1980202"/>
              <a:gd name="connsiteY0" fmla="*/ 0 h 2833324"/>
              <a:gd name="connsiteX1" fmla="*/ 1980202 w 1980202"/>
              <a:gd name="connsiteY1" fmla="*/ 0 h 2833324"/>
              <a:gd name="connsiteX2" fmla="*/ 1980202 w 1980202"/>
              <a:gd name="connsiteY2" fmla="*/ 2833324 h 2833324"/>
              <a:gd name="connsiteX3" fmla="*/ 0 w 1980202"/>
              <a:gd name="connsiteY3" fmla="*/ 2833324 h 2833324"/>
              <a:gd name="connsiteX4" fmla="*/ 0 w 1980202"/>
              <a:gd name="connsiteY4" fmla="*/ 1366746 h 2833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0202" h="2833324">
                <a:moveTo>
                  <a:pt x="475085" y="0"/>
                </a:moveTo>
                <a:lnTo>
                  <a:pt x="1980202" y="0"/>
                </a:lnTo>
                <a:lnTo>
                  <a:pt x="1980202" y="2833324"/>
                </a:lnTo>
                <a:lnTo>
                  <a:pt x="0" y="2833324"/>
                </a:lnTo>
                <a:lnTo>
                  <a:pt x="0" y="1366746"/>
                </a:lnTo>
                <a:close/>
              </a:path>
            </a:pathLst>
          </a:custGeom>
        </p:spPr>
      </p:pic>
      <p:sp>
        <p:nvSpPr>
          <p:cNvPr id="35" name="TextBox 34"/>
          <p:cNvSpPr txBox="1"/>
          <p:nvPr/>
        </p:nvSpPr>
        <p:spPr>
          <a:xfrm>
            <a:off x="4040451" y="35905"/>
            <a:ext cx="8455351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</a:pPr>
            <a:r>
              <a:rPr lang="ru-RU" sz="2000" dirty="0">
                <a:latin typeface="Bookman Old Style" panose="02050604050505020204" pitchFamily="18" charset="0"/>
              </a:rPr>
              <a:t>Было решено что будут использоваться следующие электрические компоненты: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9117" y="3533339"/>
            <a:ext cx="5474714" cy="264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</a:pPr>
            <a:r>
              <a:rPr lang="ru-RU" sz="2000" dirty="0">
                <a:latin typeface="Bookman Old Style" panose="02050604050505020204" pitchFamily="18" charset="0"/>
              </a:rPr>
              <a:t>После определения эл. компонентов началось моделирование деталей манипулятора. Первая версия рукоятки была недостаточно эргономичной, и была усовершенствована, получив большую площадь опоры для руки и пазы для пальцев. Потом последовала 3</a:t>
            </a:r>
            <a:r>
              <a:rPr lang="en-US" sz="2000" dirty="0">
                <a:latin typeface="Bookman Old Style" panose="02050604050505020204" pitchFamily="18" charset="0"/>
              </a:rPr>
              <a:t>D</a:t>
            </a:r>
            <a:r>
              <a:rPr lang="ru-RU" sz="2000" dirty="0">
                <a:latin typeface="Bookman Old Style" panose="02050604050505020204" pitchFamily="18" charset="0"/>
              </a:rPr>
              <a:t> печать и зачистка деталей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1548" y="725378"/>
            <a:ext cx="554701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Bookman Old Style" panose="02050604050505020204" pitchFamily="18" charset="0"/>
              </a:rPr>
              <a:t>MPU-6050 </a:t>
            </a:r>
            <a:r>
              <a:rPr lang="ru-RU" sz="2000" dirty="0">
                <a:latin typeface="Bookman Old Style" panose="02050604050505020204" pitchFamily="18" charset="0"/>
              </a:rPr>
              <a:t>для преобразования наклона манипулятора в сигнал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Bookman Old Style" panose="02050604050505020204" pitchFamily="18" charset="0"/>
              </a:rPr>
              <a:t>Arduino Pro Micro </a:t>
            </a:r>
            <a:r>
              <a:rPr lang="ru-RU" sz="2000" dirty="0">
                <a:latin typeface="Bookman Old Style" panose="02050604050505020204" pitchFamily="18" charset="0"/>
              </a:rPr>
              <a:t>для управления компьютером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Bookman Old Style" panose="02050604050505020204" pitchFamily="18" charset="0"/>
              </a:rPr>
              <a:t>Инкрементальный энкодер </a:t>
            </a:r>
            <a:r>
              <a:rPr lang="en-US" sz="2000" dirty="0">
                <a:latin typeface="Bookman Old Style" panose="02050604050505020204" pitchFamily="18" charset="0"/>
              </a:rPr>
              <a:t>EC11</a:t>
            </a:r>
            <a:r>
              <a:rPr lang="ru-RU" sz="2000" dirty="0">
                <a:latin typeface="Bookman Old Style" panose="02050604050505020204" pitchFamily="18" charset="0"/>
              </a:rPr>
              <a:t> для имитации прокрутки колесика мыши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Bookman Old Style" panose="02050604050505020204" pitchFamily="18" charset="0"/>
              </a:rPr>
              <a:t>Тактовые кнопки для выбора чувствительности и имитации левого/правого клика мыши</a:t>
            </a:r>
          </a:p>
        </p:txBody>
      </p:sp>
      <p:pic>
        <p:nvPicPr>
          <p:cNvPr id="2050" name="Picture 2" descr="Picture background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018568">
            <a:off x="10265352" y="1317884"/>
            <a:ext cx="1298663" cy="1298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0" t="24789" r="15648" b="20972"/>
          <a:stretch/>
        </p:blipFill>
        <p:spPr>
          <a:xfrm>
            <a:off x="10305881" y="599809"/>
            <a:ext cx="1090367" cy="891601"/>
          </a:xfrm>
          <a:prstGeom prst="rect">
            <a:avLst/>
          </a:prstGeom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062822">
            <a:off x="10860543" y="2270449"/>
            <a:ext cx="1195563" cy="119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avatars.mds.yandex.net/get-goods_pic/14045641/hat2c249d07c31a47bc42936a31d51ea9f8/orig"/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1830" y="2664808"/>
            <a:ext cx="684240" cy="59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6234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Взрыв - схема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186559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315062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44586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313685">
            <a:off x="7646174" y="-642333"/>
            <a:ext cx="5200789" cy="8137980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Итоги и самооценка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839700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303428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9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7260335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430" y="725378"/>
            <a:ext cx="3957955" cy="51122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2037" y="1087021"/>
            <a:ext cx="6943112" cy="1793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Создан работающий прототип, стабилизирующий мелкие движения и успешно заменяющий компьютерную мышь.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Устройство не имеет колоссальной цены.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Учтены ключевые эргономические требования.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263" y="668706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Итоги работы: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263" y="4674337"/>
            <a:ext cx="5876925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Предполагается развитие проекта в будущем: интеграция</a:t>
            </a:r>
            <a:r>
              <a:rPr lang="en-US" dirty="0">
                <a:latin typeface="Bookman Old Style" panose="02050604050505020204" pitchFamily="18" charset="0"/>
              </a:rPr>
              <a:t> c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Bluetooth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5.3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8263" y="3359528"/>
            <a:ext cx="6623592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Я считаю, что все поставленные задачи выполнены и устройство можно считать завершенным.</a:t>
            </a:r>
          </a:p>
        </p:txBody>
      </p:sp>
    </p:spTree>
    <p:extLst>
      <p:ext uri="{BB962C8B-B14F-4D97-AF65-F5344CB8AC3E}">
        <p14:creationId xmlns:p14="http://schemas.microsoft.com/office/powerpoint/2010/main" val="77519852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834</TotalTime>
  <Words>740</Words>
  <Application>Microsoft Office PowerPoint</Application>
  <PresentationFormat>Широкоэкранный</PresentationFormat>
  <Paragraphs>90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Bookman Old Style</vt:lpstr>
      <vt:lpstr>Calibri</vt:lpstr>
      <vt:lpstr>Calibri Light</vt:lpstr>
      <vt:lpstr>Ретро</vt:lpstr>
      <vt:lpstr>Презентация PowerPoint</vt:lpstr>
      <vt:lpstr>Причины создания проекта</vt:lpstr>
      <vt:lpstr>Анализ аналогов</vt:lpstr>
      <vt:lpstr>Цели и задачи</vt:lpstr>
      <vt:lpstr>Ценообразование</vt:lpstr>
      <vt:lpstr>Выбор материалов</vt:lpstr>
      <vt:lpstr>Процесс изготовления</vt:lpstr>
      <vt:lpstr>Взрыв - схема</vt:lpstr>
      <vt:lpstr>Итоги и самооценка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Манипулятор для людей с  ограниченной моторикой рук</dc:title>
  <dc:creator>Андрей Пивоваров</dc:creator>
  <cp:lastModifiedBy>Андрей Пивоваров</cp:lastModifiedBy>
  <cp:revision>27</cp:revision>
  <dcterms:created xsi:type="dcterms:W3CDTF">2026-02-08T13:02:55Z</dcterms:created>
  <dcterms:modified xsi:type="dcterms:W3CDTF">2026-02-09T20:30:22Z</dcterms:modified>
</cp:coreProperties>
</file>